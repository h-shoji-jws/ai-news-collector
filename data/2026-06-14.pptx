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cbc.ca/news/canada/new-brunswick/sue-open-ai-suicide-chat-gpt-9.7234630" TargetMode="External"/><Relationship Id="rId3" Type="http://schemas.openxmlformats.org/officeDocument/2006/relationships/hyperlink" Target="https://yinghonglan.substack.com/p/introduction-to-multimodal-llm-as" TargetMode="External"/><Relationship Id="rId4" Type="http://schemas.openxmlformats.org/officeDocument/2006/relationships/hyperlink" Target="https://news.ycombinator.com/item?id=48524387" TargetMode="External"/><Relationship Id="rId5" Type="http://schemas.openxmlformats.org/officeDocument/2006/relationships/hyperlink" Target="https://github.com/secretbuilds/loopy" TargetMode="External"/><Relationship Id="rId6" Type="http://schemas.openxmlformats.org/officeDocument/2006/relationships/hyperlink" Target="https://www.anthropic.com/research/making-claude-a-chemist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Paca-AI/paca" TargetMode="External"/><Relationship Id="rId3" Type="http://schemas.openxmlformats.org/officeDocument/2006/relationships/hyperlink" Target="https://new.roman-names.com/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zenn.dev/mofuteq/articles/4b036078c7512d" TargetMode="External"/><Relationship Id="rId3" Type="http://schemas.openxmlformats.org/officeDocument/2006/relationships/hyperlink" Target="https://zenn.dev/yamada_ai_dev/articles/claude-code-evaluator-real-catches" TargetMode="External"/><Relationship Id="rId4" Type="http://schemas.openxmlformats.org/officeDocument/2006/relationships/hyperlink" Target="https://zenn.dev/tadkud/articles/ai-agent-environment-verification-rule" TargetMode="External"/><Relationship Id="rId5" Type="http://schemas.openxmlformats.org/officeDocument/2006/relationships/hyperlink" Target="https://zenn.dev/hi_kuma79/articles/81a7ab9178d31f" TargetMode="External"/><Relationship Id="rId6" Type="http://schemas.openxmlformats.org/officeDocument/2006/relationships/hyperlink" Target="https://zenn.dev/elvisyao/articles/930a510164a798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zenn.dev/ichikawa_y/articles/audit-driven-feedback-development" TargetMode="External"/><Relationship Id="rId3" Type="http://schemas.openxmlformats.org/officeDocument/2006/relationships/hyperlink" Target="https://zenn.dev/shun_producer/articles/claude-structured-outputs-beginner" TargetMode="External"/><Relationship Id="rId4" Type="http://schemas.openxmlformats.org/officeDocument/2006/relationships/hyperlink" Target="https://zenn.dev/ssknaoya/articles/d9becba1164230" TargetMode="External"/><Relationship Id="rId5" Type="http://schemas.openxmlformats.org/officeDocument/2006/relationships/hyperlink" Target="https://zenn.dev/oyatomo/articles/6da8bc0d7900cd" TargetMode="External"/><Relationship Id="rId6" Type="http://schemas.openxmlformats.org/officeDocument/2006/relationships/hyperlink" Target="https://zenn.dev/tottoko_hamu/articles/2026-06-11-173500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zenn.dev/japan/articles/73ad921caeb0bd" TargetMode="External"/><Relationship Id="rId3" Type="http://schemas.openxmlformats.org/officeDocument/2006/relationships/hyperlink" Target="https://zenn.dev/honey_aws/articles/scale-to-zero-dual-vector-rag" TargetMode="External"/><Relationship Id="rId4" Type="http://schemas.openxmlformats.org/officeDocument/2006/relationships/hyperlink" Target="https://zenn.dev/yukika/articles/20260613_bedrock_claude_first_step" TargetMode="External"/><Relationship Id="rId5" Type="http://schemas.openxmlformats.org/officeDocument/2006/relationships/hyperlink" Target="https://zenn.dev/syoshida07/articles/baa36522c872e6" TargetMode="External"/><Relationship Id="rId6" Type="http://schemas.openxmlformats.org/officeDocument/2006/relationships/hyperlink" Target="https://zenn.dev/yoshi_katakura/articles/3b1952f0096a64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qiita.com/ktdatascience/items/eff07c425f5b871e819b" TargetMode="External"/><Relationship Id="rId3" Type="http://schemas.openxmlformats.org/officeDocument/2006/relationships/hyperlink" Target="https://qiita.com/kuririrn/items/855a1d79848194960f25" TargetMode="External"/><Relationship Id="rId4" Type="http://schemas.openxmlformats.org/officeDocument/2006/relationships/hyperlink" Target="https://qiita.com/senle1024/items/e623fc3a350bf4d5fb98" TargetMode="External"/><Relationship Id="rId5" Type="http://schemas.openxmlformats.org/officeDocument/2006/relationships/hyperlink" Target="https://qiita.com/NeoSoleil/items/a2825269147e76d70763" TargetMode="External"/><Relationship Id="rId6" Type="http://schemas.openxmlformats.org/officeDocument/2006/relationships/hyperlink" Target="https://qiita.com/NakanakaPierrot/items/d5a309c8e0c096aa1f4d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qiita.com/ennagara128/items/d4dcd97dfeca39f884cb" TargetMode="External"/><Relationship Id="rId3" Type="http://schemas.openxmlformats.org/officeDocument/2006/relationships/hyperlink" Target="https://qiita.com/manchan/items/e504bb8f5c3a32ebe5a8" TargetMode="External"/><Relationship Id="rId4" Type="http://schemas.openxmlformats.org/officeDocument/2006/relationships/hyperlink" Target="https://qiita.com/yurukusa/items/74d60654678f8915f50d" TargetMode="External"/><Relationship Id="rId5" Type="http://schemas.openxmlformats.org/officeDocument/2006/relationships/hyperlink" Target="https://qiita.com/isanakamishiro2/items/eb74a98f942e448ebbb2" TargetMode="External"/><Relationship Id="rId6" Type="http://schemas.openxmlformats.org/officeDocument/2006/relationships/hyperlink" Target="https://qiita.com/yurukusa/items/7e0b4abcdd13ae322208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qiita.com/yurukusa/items/2700b4d67f77220fa618" TargetMode="External"/><Relationship Id="rId3" Type="http://schemas.openxmlformats.org/officeDocument/2006/relationships/hyperlink" Target="https://qiita.com/Miraigent/items/371c99187f8c92aedbfe" TargetMode="External"/><Relationship Id="rId4" Type="http://schemas.openxmlformats.org/officeDocument/2006/relationships/hyperlink" Target="https://qiita.com/Marron-chan/items/9c7e6102d1eda28e39b9" TargetMode="External"/><Relationship Id="rId5" Type="http://schemas.openxmlformats.org/officeDocument/2006/relationships/hyperlink" Target="https://qiita.com/kuririrn/items/1081a10c78fc6bd47fce" TargetMode="External"/><Relationship Id="rId6" Type="http://schemas.openxmlformats.org/officeDocument/2006/relationships/hyperlink" Target="https://qiita.com/Marron-chan/items/ede825e91c740894c197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5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063240"/>
            <a:ext cx="12188952" cy="54864"/>
          </a:xfrm>
          <a:prstGeom prst="rect">
            <a:avLst/>
          </a:prstGeom>
          <a:solidFill>
            <a:srgbClr val="52B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</a:rPr>
              <a:t>AI ニュース日報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7432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AED6F1"/>
                </a:solidFill>
              </a:rPr>
              <a:t>2026-06-14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47472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85C1E9"/>
                </a:solidFill>
              </a:rPr>
              <a:t>総収集記事数：215 件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1005840"/>
          </a:xfrm>
          <a:prstGeom prst="rect">
            <a:avLst/>
          </a:prstGeom>
          <a:solidFill>
            <a:srgbClr val="52B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3716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収集概要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926080" y="1463040"/>
          <a:ext cx="6309360" cy="37490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1554480"/>
                <a:gridCol w="1828800"/>
              </a:tblGrid>
              <a:tr h="749807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収集元</a:t>
                      </a:r>
                    </a:p>
                  </a:txBody>
                  <a:tcPr>
                    <a:solidFill>
                      <a:srgbClr val="1A25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件数</a:t>
                      </a:r>
                    </a:p>
                  </a:txBody>
                  <a:tcPr>
                    <a:solidFill>
                      <a:srgbClr val="1A25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割合</a:t>
                      </a:r>
                    </a:p>
                  </a:txBody>
                  <a:tcPr>
                    <a:solidFill>
                      <a:srgbClr val="1A253E"/>
                    </a:solidFill>
                  </a:tcPr>
                </a:tc>
              </a:tr>
              <a:tr h="749807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</a:rPr>
                        <a:t>HackerNews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C3E50"/>
                          </a:solidFill>
                        </a:rPr>
                        <a:t>7 件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C3E50"/>
                          </a:solidFill>
                        </a:rPr>
                        <a:t>3.3%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749807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</a:rPr>
                        <a:t>Zenn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C3E50"/>
                          </a:solidFill>
                        </a:rPr>
                        <a:t>75 件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C3E50"/>
                          </a:solidFill>
                        </a:rPr>
                        <a:t>34.9%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49807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</a:rPr>
                        <a:t>Qiita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C3E50"/>
                          </a:solidFill>
                        </a:rPr>
                        <a:t>133 件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C3E50"/>
                          </a:solidFill>
                        </a:rPr>
                        <a:t>61.9%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749811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C3E50"/>
                          </a:solidFill>
                        </a:rPr>
                        <a:t>合計</a:t>
                      </a:r>
                    </a:p>
                  </a:txBody>
                  <a:tcPr>
                    <a:solidFill>
                      <a:srgbClr val="D5E8D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C3E50"/>
                          </a:solidFill>
                        </a:rPr>
                        <a:t>215 件</a:t>
                      </a:r>
                    </a:p>
                  </a:txBody>
                  <a:tcPr>
                    <a:solidFill>
                      <a:srgbClr val="D5E8D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C3E50"/>
                          </a:solidFill>
                        </a:rPr>
                        <a:t>100.0%</a:t>
                      </a:r>
                    </a:p>
                  </a:txBody>
                  <a:tcPr>
                    <a:solidFill>
                      <a:srgbClr val="D5E8D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96012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8872"/>
            <a:ext cx="1161288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HackerNews　記事一覧　(1 / 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24128"/>
            <a:ext cx="11430000" cy="4723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FF6600"/>
                </a:solidFill>
              </a:rPr>
              <a:t>▶ </a:t>
            </a:r>
            <a:r>
              <a:rPr sz="1200" b="1">
                <a:solidFill>
                  <a:srgbClr val="2C3E50"/>
                </a:solidFill>
              </a:rPr>
              <a:t>New Brunswick woman sues OpenAI, alleging ChatGPT led to daughter's death</a:t>
            </a:r>
            <a:r>
              <a:rPr sz="900">
                <a:solidFill>
                  <a:srgbClr val="7F8C8D"/>
                </a:solidFill>
              </a:rPr>
              <a:t>  (2026-06-14)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96507"/>
            <a:ext cx="11155680" cy="2699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216FD0"/>
                </a:solidFill>
                <a:hlinkClick r:id="rId2"/>
              </a:rPr>
              <a:t>https://www.cbc.ca/news/canada/new-brunswick/sue-open-ai-suicide-chat-gpt-9.7234630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2148840"/>
            <a:ext cx="11430000" cy="4723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FF6600"/>
                </a:solidFill>
              </a:rPr>
              <a:t>▶ </a:t>
            </a:r>
            <a:r>
              <a:rPr sz="1200" b="1">
                <a:solidFill>
                  <a:srgbClr val="2C3E50"/>
                </a:solidFill>
              </a:rPr>
              <a:t>Introduction to (Multimodal) LLM-as-a-Judge</a:t>
            </a:r>
            <a:r>
              <a:rPr sz="900">
                <a:solidFill>
                  <a:srgbClr val="7F8C8D"/>
                </a:solidFill>
              </a:rPr>
              <a:t>  (2026-06-14)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21219"/>
            <a:ext cx="11155680" cy="2699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216FD0"/>
                </a:solidFill>
                <a:hlinkClick r:id="rId3"/>
              </a:rPr>
              <a:t>https://yinghonglan.substack.com/p/introduction-to-multimodal-llm-as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3273552"/>
            <a:ext cx="11430000" cy="4723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FF6600"/>
                </a:solidFill>
              </a:rPr>
              <a:t>▶ </a:t>
            </a:r>
            <a:r>
              <a:rPr sz="1200" b="1">
                <a:solidFill>
                  <a:srgbClr val="2C3E50"/>
                </a:solidFill>
              </a:rPr>
              <a:t>Story of How Im Running an Unlimited $6/Month AI Provider on 4x RTX 3090s</a:t>
            </a:r>
            <a:r>
              <a:rPr sz="900">
                <a:solidFill>
                  <a:srgbClr val="7F8C8D"/>
                </a:solidFill>
              </a:rPr>
              <a:t>  (2026-06-14)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745931"/>
            <a:ext cx="11155680" cy="2699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216FD0"/>
                </a:solidFill>
                <a:hlinkClick r:id="rId4"/>
              </a:rPr>
              <a:t>https://news.ycombinator.com/item?id=48524387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015861"/>
            <a:ext cx="11155680" cy="3824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7F8C8D"/>
                </a:solidFill>
              </a:rPr>
              <a:t>This submission is a tale about how I launched an unlimited LLM provider to about 60 hyped people on the waitlist, then immediatel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4398264"/>
            <a:ext cx="11430000" cy="4723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FF6600"/>
                </a:solidFill>
              </a:rPr>
              <a:t>▶ </a:t>
            </a:r>
            <a:r>
              <a:rPr sz="1200" b="1">
                <a:solidFill>
                  <a:srgbClr val="2C3E50"/>
                </a:solidFill>
              </a:rPr>
              <a:t>Hi HN: Loopy agent, meta-loop engineer my Claude Code and codex sessions</a:t>
            </a:r>
            <a:r>
              <a:rPr sz="900">
                <a:solidFill>
                  <a:srgbClr val="7F8C8D"/>
                </a:solidFill>
              </a:rPr>
              <a:t>  (2026-06-14)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870643"/>
            <a:ext cx="11155680" cy="2699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216FD0"/>
                </a:solidFill>
                <a:hlinkClick r:id="rId5"/>
              </a:rPr>
              <a:t>https://github.com/secretbuilds/loopy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5522976"/>
            <a:ext cx="11430000" cy="4723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FF6600"/>
                </a:solidFill>
              </a:rPr>
              <a:t>▶ </a:t>
            </a:r>
            <a:r>
              <a:rPr sz="1200" b="1">
                <a:solidFill>
                  <a:srgbClr val="2C3E50"/>
                </a:solidFill>
              </a:rPr>
              <a:t>Making Claude a Chemist</a:t>
            </a:r>
            <a:r>
              <a:rPr sz="900">
                <a:solidFill>
                  <a:srgbClr val="7F8C8D"/>
                </a:solidFill>
              </a:rPr>
              <a:t>  (2026-06-14)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995355"/>
            <a:ext cx="11155680" cy="2699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216FD0"/>
                </a:solidFill>
                <a:hlinkClick r:id="rId6"/>
              </a:rPr>
              <a:t>https://www.anthropic.com/research/making-claude-a-chemist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96012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8872"/>
            <a:ext cx="1161288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HackerNews　記事一覧　(2 / 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24128"/>
            <a:ext cx="11430000" cy="4723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FF6600"/>
                </a:solidFill>
              </a:rPr>
              <a:t>▶ </a:t>
            </a:r>
            <a:r>
              <a:rPr sz="1200" b="1">
                <a:solidFill>
                  <a:srgbClr val="2C3E50"/>
                </a:solidFill>
              </a:rPr>
              <a:t>Show HN: Paca – Lightweight Jira alternative for human-AI collaboration</a:t>
            </a:r>
            <a:r>
              <a:rPr sz="900">
                <a:solidFill>
                  <a:srgbClr val="7F8C8D"/>
                </a:solidFill>
              </a:rPr>
              <a:t>  (2026-06-13)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96507"/>
            <a:ext cx="11155680" cy="2699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216FD0"/>
                </a:solidFill>
                <a:hlinkClick r:id="rId2"/>
              </a:rPr>
              <a:t>https://github.com/Paca-AI/paca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766437"/>
            <a:ext cx="11155680" cy="3824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7F8C8D"/>
                </a:solidFill>
              </a:rPr>
              <a:t>I built Paca out of pure passion—a free and lightweight Jira alternative written in Go where humans and AI agents work together 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148840"/>
            <a:ext cx="11430000" cy="4723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FF6600"/>
                </a:solidFill>
              </a:rPr>
              <a:t>▶ </a:t>
            </a:r>
            <a:r>
              <a:rPr sz="1200" b="1">
                <a:solidFill>
                  <a:srgbClr val="2C3E50"/>
                </a:solidFill>
              </a:rPr>
              <a:t>Show HN: I am building a map of people who lived in the Roman Empire</a:t>
            </a:r>
            <a:r>
              <a:rPr sz="900">
                <a:solidFill>
                  <a:srgbClr val="7F8C8D"/>
                </a:solidFill>
              </a:rPr>
              <a:t>  (2026-06-10)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21219"/>
            <a:ext cx="11155680" cy="2699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216FD0"/>
                </a:solidFill>
                <a:hlinkClick r:id="rId3"/>
              </a:rPr>
              <a:t>https://new.roman-names.com/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891149"/>
            <a:ext cx="11155680" cy="3824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7F8C8D"/>
                </a:solidFill>
              </a:rPr>
              <a:t>Driving home from work one day, I wanted to know how many people we knew the names of who lived during the Roman era. Searching ar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960120"/>
          </a:xfrm>
          <a:prstGeom prst="rect">
            <a:avLst/>
          </a:prstGeom>
          <a:solidFill>
            <a:srgbClr val="3D99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8872"/>
            <a:ext cx="1161288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Zenn　記事一覧　(1 / 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24128"/>
            <a:ext cx="11430000" cy="4723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3D99F6"/>
                </a:solidFill>
              </a:rPr>
              <a:t>▶ </a:t>
            </a:r>
            <a:r>
              <a:rPr sz="1200" b="1">
                <a:solidFill>
                  <a:srgbClr val="2C3E50"/>
                </a:solidFill>
              </a:rPr>
              <a:t>センスの根幹はLLMではなくRAGだった</a:t>
            </a:r>
            <a:r>
              <a:rPr sz="900">
                <a:solidFill>
                  <a:srgbClr val="7F8C8D"/>
                </a:solidFill>
              </a:rPr>
              <a:t>  (2026-06-14)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96507"/>
            <a:ext cx="11155680" cy="2699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216FD0"/>
                </a:solidFill>
                <a:hlinkClick r:id="rId2"/>
              </a:rPr>
              <a:t>https://zenn.dev/mofuteq/articles/4b036078c7512d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766437"/>
            <a:ext cx="11155680" cy="3824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7F8C8D"/>
                </a:solidFill>
              </a:rPr>
              <a:t>LLMにセンスを任せない
ファッションの相談を、AIにやらせようとすると、つい「センスのあるAI」を作りたくなります。
この服は良い。
これは微妙。
この組み合わせがおすすめ。
これが今っぽい。
そういう判定をしてくれると、アプリとしては分かりやすい。
ど典型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148840"/>
            <a:ext cx="11430000" cy="4723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3D99F6"/>
                </a:solidFill>
              </a:rPr>
              <a:t>▶ </a:t>
            </a:r>
            <a:r>
              <a:rPr sz="1200" b="1">
                <a:solidFill>
                  <a:srgbClr val="2C3E50"/>
                </a:solidFill>
              </a:rPr>
              <a:t>自分のコードを自分でレビューできない — Evaluatorが実際に何を捕まえたか</a:t>
            </a:r>
            <a:r>
              <a:rPr sz="900">
                <a:solidFill>
                  <a:srgbClr val="7F8C8D"/>
                </a:solidFill>
              </a:rPr>
              <a:t>  (2026-06-13)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21219"/>
            <a:ext cx="11155680" cy="2699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216FD0"/>
                </a:solidFill>
                <a:hlinkClick r:id="rId3"/>
              </a:rPr>
              <a:t>https://zenn.dev/yamada_ai_dev/articles/claude-code-evaluator-real-catches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891149"/>
            <a:ext cx="11155680" cy="3824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7F8C8D"/>
                </a:solidFill>
              </a:rPr>
              <a:t>自分のコードを自分でレビューできない — Evaluatorが実際に何を捕まえたか
!
この記事はClaude Codeのハーネス設計シリーズの一部です。
Claude Codeを1ヶ月使って気づいた「指示の改善では解決しない問題」 — Evaluator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3273552"/>
            <a:ext cx="11430000" cy="4723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3D99F6"/>
                </a:solidFill>
              </a:rPr>
              <a:t>▶ </a:t>
            </a:r>
            <a:r>
              <a:rPr sz="1200" b="1">
                <a:solidFill>
                  <a:srgbClr val="2C3E50"/>
                </a:solidFill>
              </a:rPr>
              <a:t>AI Agentは実装前に1コマンド打て</a:t>
            </a:r>
            <a:r>
              <a:rPr sz="900">
                <a:solidFill>
                  <a:srgbClr val="7F8C8D"/>
                </a:solidFill>
              </a:rPr>
              <a:t>  (2026-06-13)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745931"/>
            <a:ext cx="11155680" cy="2699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216FD0"/>
                </a:solidFill>
                <a:hlinkClick r:id="rId4"/>
              </a:rPr>
              <a:t>https://zenn.dev/tadkud/articles/ai-agent-environment-verification-rule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015861"/>
            <a:ext cx="11155680" cy="3824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7F8C8D"/>
                </a:solidFill>
              </a:rPr>
              <a:t>はじめに
AI Agent にコードを書かせるとき、失敗の原因は実装力よりも前提の置き方にあることが多いです。自分の環境でも、2026-05-23 に Docker の実態を見ないまま Oracle ADB 前提で話を進めてしまい、後から「今動いているのは別構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398264"/>
            <a:ext cx="11430000" cy="4723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3D99F6"/>
                </a:solidFill>
              </a:rPr>
              <a:t>▶ </a:t>
            </a:r>
            <a:r>
              <a:rPr sz="1200" b="1">
                <a:solidFill>
                  <a:srgbClr val="2C3E50"/>
                </a:solidFill>
              </a:rPr>
              <a:t>AI時代、エンジニアの脳汁駆動開発は実装から設計へ移る</a:t>
            </a:r>
            <a:r>
              <a:rPr sz="900">
                <a:solidFill>
                  <a:srgbClr val="7F8C8D"/>
                </a:solidFill>
              </a:rPr>
              <a:t>  (2026-06-13)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870643"/>
            <a:ext cx="11155680" cy="2699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216FD0"/>
                </a:solidFill>
                <a:hlinkClick r:id="rId5"/>
              </a:rPr>
              <a:t>https://zenn.dev/hi_kuma79/articles/81a7ab9178d31f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140573"/>
            <a:ext cx="11155680" cy="3824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7F8C8D"/>
                </a:solidFill>
              </a:rPr>
              <a:t>AI時代、エンジニアの脳汁は実装から設計へ移った
最近、Cursor、Claude Code、GitHub CopilotなどのAI開発ツールを使う機会が増えました。
使えば使うほど感じることがあります。
それは、
エンジニアの脳汁ポイントが実装から設計へ移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5522976"/>
            <a:ext cx="11430000" cy="4723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3D99F6"/>
                </a:solidFill>
              </a:rPr>
              <a:t>▶ </a:t>
            </a:r>
            <a:r>
              <a:rPr sz="1200" b="1">
                <a:solidFill>
                  <a:srgbClr val="2C3E50"/>
                </a:solidFill>
              </a:rPr>
              <a:t>日本語RAGに向く中国製オープンソースパーサーはどれか — クロスオーバーだった。BM25ならDeepDoc、denseならMinerU</a:t>
            </a:r>
            <a:r>
              <a:rPr sz="900">
                <a:solidFill>
                  <a:srgbClr val="7F8C8D"/>
                </a:solidFill>
              </a:rPr>
              <a:t>  (2026-06-13)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995355"/>
            <a:ext cx="11155680" cy="2699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216FD0"/>
                </a:solidFill>
                <a:hlinkClick r:id="rId6"/>
              </a:rPr>
              <a:t>https://zenn.dev/elvisyao/articles/930a510164a798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265285"/>
            <a:ext cx="11155680" cy="3824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7F8C8D"/>
                </a:solidFill>
              </a:rPr>
              <a:t>!
中国オープンソースのドキュメントパースを日本語文書で計測するシリーズの最終回です。
英語版（canonical）: https://dev.to/elvisyao007/which-chinese-open-source-parser-is-better-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960120"/>
          </a:xfrm>
          <a:prstGeom prst="rect">
            <a:avLst/>
          </a:prstGeom>
          <a:solidFill>
            <a:srgbClr val="3D99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8872"/>
            <a:ext cx="1161288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Zenn　記事一覧　(2 / 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24128"/>
            <a:ext cx="11430000" cy="4723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3D99F6"/>
                </a:solidFill>
              </a:rPr>
              <a:t>▶ </a:t>
            </a:r>
            <a:r>
              <a:rPr sz="1200" b="1">
                <a:solidFill>
                  <a:srgbClr val="2C3E50"/>
                </a:solidFill>
              </a:rPr>
              <a:t>AIエージェント時代の品質保証 ― 監査駆動フィードバック開発という考え方</a:t>
            </a:r>
            <a:r>
              <a:rPr sz="900">
                <a:solidFill>
                  <a:srgbClr val="7F8C8D"/>
                </a:solidFill>
              </a:rPr>
              <a:t>  (2026-06-13)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96507"/>
            <a:ext cx="11155680" cy="2699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216FD0"/>
                </a:solidFill>
                <a:hlinkClick r:id="rId2"/>
              </a:rPr>
              <a:t>https://zenn.dev/ichikawa_y/articles/audit-driven-feedback-development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766437"/>
            <a:ext cx="11155680" cy="3824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7F8C8D"/>
                </a:solidFill>
              </a:rPr>
              <a:t>はじめに ― AI開発で本当に怖いのは「少数の整合性崩壊」
AI エージェントに 100 件のタスクを任せたとします。おそらく 95 件は正しく実装されます。問題は残りの 5 件です。
機能は動くが、通知だけ配線されていない
レスポンスは正しいが、Open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148840"/>
            <a:ext cx="11430000" cy="4723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3D99F6"/>
                </a:solidFill>
              </a:rPr>
              <a:t>▶ </a:t>
            </a:r>
            <a:r>
              <a:rPr sz="1200" b="1">
                <a:solidFill>
                  <a:srgbClr val="2C3E50"/>
                </a:solidFill>
              </a:rPr>
              <a:t>AIの返事を「必ずJSON」にする——Claude構造化出力入門</a:t>
            </a:r>
            <a:r>
              <a:rPr sz="900">
                <a:solidFill>
                  <a:srgbClr val="7F8C8D"/>
                </a:solidFill>
              </a:rPr>
              <a:t>  (2026-06-13)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21219"/>
            <a:ext cx="11155680" cy="2699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216FD0"/>
                </a:solidFill>
                <a:hlinkClick r:id="rId3"/>
              </a:rPr>
              <a:t>https://zenn.dev/shun_producer/articles/claude-structured-outputs-beginner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891149"/>
            <a:ext cx="11155680" cy="3824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7F8C8D"/>
                </a:solidFill>
              </a:rPr>
              <a:t>はじめに——「AIの返事、プログラムで使えない問題」
AIに「この文章から名前とメールアドレスを抜き出して、JSONで返して」とお願いしたことはないだろうか。
だいたいは、ちゃんと返してくれる。でも、たまに裏切られる。
JSONの前に「はい、抽出しました！」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3273552"/>
            <a:ext cx="11430000" cy="4723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3D99F6"/>
                </a:solidFill>
              </a:rPr>
              <a:t>▶ </a:t>
            </a:r>
            <a:r>
              <a:rPr sz="1200" b="1">
                <a:solidFill>
                  <a:srgbClr val="2C3E50"/>
                </a:solidFill>
              </a:rPr>
              <a:t>GitHub Copilot 難民 ～ Cluade Code ～ Google AI Studio ～ そして Codex へ</a:t>
            </a:r>
            <a:r>
              <a:rPr sz="900">
                <a:solidFill>
                  <a:srgbClr val="7F8C8D"/>
                </a:solidFill>
              </a:rPr>
              <a:t>  (2026-06-13)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745931"/>
            <a:ext cx="11155680" cy="2699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216FD0"/>
                </a:solidFill>
                <a:hlinkClick r:id="rId4"/>
              </a:rPr>
              <a:t>https://zenn.dev/ssknaoya/articles/d9becba1164230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015861"/>
            <a:ext cx="11155680" cy="3824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7F8C8D"/>
                </a:solidFill>
              </a:rPr>
              <a:t>概要
GitHub Copilot Pro がグダっているのでその他のAIサービスを色々試してみたという話。
 結論
VS Code + Copilot のセミバイブコーディングな使用感に近いのは ChatGPT Plus で使用する Codex
Clau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398264"/>
            <a:ext cx="11430000" cy="4723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3D99F6"/>
                </a:solidFill>
              </a:rPr>
              <a:t>▶ </a:t>
            </a:r>
            <a:r>
              <a:rPr sz="1200" b="1">
                <a:solidFill>
                  <a:srgbClr val="2C3E50"/>
                </a:solidFill>
              </a:rPr>
              <a:t>Gradient Surgery for Multi-Task Learning</a:t>
            </a:r>
            <a:r>
              <a:rPr sz="900">
                <a:solidFill>
                  <a:srgbClr val="7F8C8D"/>
                </a:solidFill>
              </a:rPr>
              <a:t>  (2026-06-13)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870643"/>
            <a:ext cx="11155680" cy="2699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216FD0"/>
                </a:solidFill>
                <a:hlinkClick r:id="rId5"/>
              </a:rPr>
              <a:t>https://zenn.dev/oyatomo/articles/6da8bc0d7900cd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140573"/>
            <a:ext cx="11155680" cy="3824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7F8C8D"/>
                </a:solidFill>
              </a:rPr>
              <a:t>ご挨拶
皆さんこんにちは、一関高専 村上研究室 小山田です。
この記事は、研究室内での論文輪読会用の資料です。
今回紹介する内容は、PCGrad (Project Conflicting Gradients) という勾配衝突を防止する手法の論文とその実装方法に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5522976"/>
            <a:ext cx="11430000" cy="4723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3D99F6"/>
                </a:solidFill>
              </a:rPr>
              <a:t>▶ </a:t>
            </a:r>
            <a:r>
              <a:rPr sz="1200" b="1">
                <a:solidFill>
                  <a:srgbClr val="2C3E50"/>
                </a:solidFill>
              </a:rPr>
              <a:t>CLAUDE.mdに書いたのに守られない——その正体は「渡す場所」の設計だった（Zenn Book Vol.4「仕組みを渡すまで」）</a:t>
            </a:r>
            <a:r>
              <a:rPr sz="900">
                <a:solidFill>
                  <a:srgbClr val="7F8C8D"/>
                </a:solidFill>
              </a:rPr>
              <a:t>  (2026-06-13)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995355"/>
            <a:ext cx="11155680" cy="2699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216FD0"/>
                </a:solidFill>
                <a:hlinkClick r:id="rId6"/>
              </a:rPr>
              <a:t>https://zenn.dev/tottoko_hamu/articles/2026-06-11-173500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265285"/>
            <a:ext cx="11155680" cy="3824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7F8C8D"/>
                </a:solidFill>
              </a:rPr>
              <a:t>この記事の概要（2026年6月）: Claude Codeに「仕組み」を渡すための部品論をまとめたZenn Book Vol.4「コードを書けない私がClaude Codeに『仕組み』を渡すまで」を紹介する。「CLAUDE.mdに書いたのに守られない」「サブエ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960120"/>
          </a:xfrm>
          <a:prstGeom prst="rect">
            <a:avLst/>
          </a:prstGeom>
          <a:solidFill>
            <a:srgbClr val="3D99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8872"/>
            <a:ext cx="1161288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Zenn　記事一覧　(3 / 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10528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7F8C8D"/>
                </a:solidFill>
              </a:rPr>
              <a:t>※ 他 60 件は JSON アーカイブを参照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024128"/>
            <a:ext cx="11430000" cy="4723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3D99F6"/>
                </a:solidFill>
              </a:rPr>
              <a:t>▶ </a:t>
            </a:r>
            <a:r>
              <a:rPr sz="1200" b="1">
                <a:solidFill>
                  <a:srgbClr val="2C3E50"/>
                </a:solidFill>
              </a:rPr>
              <a:t>LLMは長文を本当に読めているのか？「Lost in the Middle」から考えるRAG設計</a:t>
            </a:r>
            <a:r>
              <a:rPr sz="900">
                <a:solidFill>
                  <a:srgbClr val="7F8C8D"/>
                </a:solidFill>
              </a:rPr>
              <a:t>  (2026-06-13)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96507"/>
            <a:ext cx="11155680" cy="2699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216FD0"/>
                </a:solidFill>
                <a:hlinkClick r:id="rId2"/>
              </a:rPr>
              <a:t>https://zenn.dev/japan/articles/73ad921caeb0bd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766437"/>
            <a:ext cx="11155680" cy="3824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7F8C8D"/>
                </a:solidFill>
              </a:rPr>
              <a:t>LLMアプリケーションを作っていると、次のような発想になりがちです。
コンテキストウィンドウが大きいモデルを使えば、とりあえず大量のドキュメントを詰め込めばよいのでは？
しかし、実際にはそう単純ではありません。
LLMには、長い入力の中に含まれる情報を均等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148840"/>
            <a:ext cx="11430000" cy="4723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3D99F6"/>
                </a:solidFill>
              </a:rPr>
              <a:t>▶ </a:t>
            </a:r>
            <a:r>
              <a:rPr sz="1200" b="1">
                <a:solidFill>
                  <a:srgbClr val="2C3E50"/>
                </a:solidFill>
              </a:rPr>
              <a:t>Scale-to-Zero は弱点じゃない——S3 Vectors × OpenSearch Serverless の二段検索 RAG</a:t>
            </a:r>
            <a:r>
              <a:rPr sz="900">
                <a:solidFill>
                  <a:srgbClr val="7F8C8D"/>
                </a:solidFill>
              </a:rPr>
              <a:t>  (2026-06-13)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621219"/>
            <a:ext cx="11155680" cy="2699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216FD0"/>
                </a:solidFill>
                <a:hlinkClick r:id="rId3"/>
              </a:rPr>
              <a:t>https://zenn.dev/honey_aws/articles/scale-to-zero-dual-vector-rag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891149"/>
            <a:ext cx="11155680" cy="3824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7F8C8D"/>
                </a:solidFill>
              </a:rPr>
              <a:t>はじめに
サーバーレスの「scale-to-zero」（使われていない間はリソースが 0 までスケールして課金が止まる）は、コストの面ではうれしい仕組みです。一方で コールドスタート——アイドル後の初回リクエストで暖機に十数秒かかる——という弱点とセットで語ら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273552"/>
            <a:ext cx="11430000" cy="4723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3D99F6"/>
                </a:solidFill>
              </a:rPr>
              <a:t>▶ </a:t>
            </a:r>
            <a:r>
              <a:rPr sz="1200" b="1">
                <a:solidFill>
                  <a:srgbClr val="2C3E50"/>
                </a:solidFill>
              </a:rPr>
              <a:t>LLMOps学習でBedrock + Claudeを動かしてみた</a:t>
            </a:r>
            <a:r>
              <a:rPr sz="900">
                <a:solidFill>
                  <a:srgbClr val="7F8C8D"/>
                </a:solidFill>
              </a:rPr>
              <a:t>  (2026-06-13)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745931"/>
            <a:ext cx="11155680" cy="2699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216FD0"/>
                </a:solidFill>
                <a:hlinkClick r:id="rId4"/>
              </a:rPr>
              <a:t>https://zenn.dev/yukika/articles/20260613_bedrock_claude_first_step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015861"/>
            <a:ext cx="11155680" cy="3824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7F8C8D"/>
                </a:solidFill>
              </a:rPr>
              <a:t>はじめに
こんにちは。
最近、LLMOpsに興味を持ち始めました。
Claude Codeはよく触っているのですが、LLMをプログラムから呼び出して使う、みたいなことはやったことがありませんでした。
Bedrockもまともに触ったことがなかったので、併せて試し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4398264"/>
            <a:ext cx="11430000" cy="4723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3D99F6"/>
                </a:solidFill>
              </a:rPr>
              <a:t>▶ </a:t>
            </a:r>
            <a:r>
              <a:rPr sz="1200" b="1">
                <a:solidFill>
                  <a:srgbClr val="2C3E50"/>
                </a:solidFill>
              </a:rPr>
              <a:t>社内ガイドラインが効かない、情報漏洩は安易な個人AI利用からはじまる</a:t>
            </a:r>
            <a:r>
              <a:rPr sz="900">
                <a:solidFill>
                  <a:srgbClr val="7F8C8D"/>
                </a:solidFill>
              </a:rPr>
              <a:t>  (2026-06-13)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870643"/>
            <a:ext cx="11155680" cy="2699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216FD0"/>
                </a:solidFill>
                <a:hlinkClick r:id="rId5"/>
              </a:rPr>
              <a:t>https://zenn.dev/syoshida07/articles/baa36522c872e6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140573"/>
            <a:ext cx="11155680" cy="3824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7F8C8D"/>
                </a:solidFill>
              </a:rPr>
              <a:t>2025〜2026年の政府・公的機関の分析では、企業の生成AIガバナンスは「整備は進んだが、遵守は追いついていない」という評価が共通している。
特にデジタル庁(2025)と経産省AI事業者ガイドライン(2026)は、ガイドラインは作っただけでは意味がないと明確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522976"/>
            <a:ext cx="11430000" cy="4723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3D99F6"/>
                </a:solidFill>
              </a:rPr>
              <a:t>▶ </a:t>
            </a:r>
            <a:r>
              <a:rPr sz="1200" b="1">
                <a:solidFill>
                  <a:srgbClr val="2C3E50"/>
                </a:solidFill>
              </a:rPr>
              <a:t>多層プロンプトスキーマ（Hierarchical Prompt Schema）</a:t>
            </a:r>
            <a:r>
              <a:rPr sz="900">
                <a:solidFill>
                  <a:srgbClr val="7F8C8D"/>
                </a:solidFill>
              </a:rPr>
              <a:t>  (2026-06-13)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995355"/>
            <a:ext cx="11155680" cy="2699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216FD0"/>
                </a:solidFill>
                <a:hlinkClick r:id="rId6"/>
              </a:rPr>
              <a:t>https://zenn.dev/yoshi_katakura/articles/3b1952f0096a64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265285"/>
            <a:ext cx="11155680" cy="3824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7F8C8D"/>
                </a:solidFill>
              </a:rPr>
              <a:t>LLMのルール矛盾を自動検出・Mermaid構造化で解消する設計
LLMのシステムプロンプトは「自然言語で書かれたルール集」です。
しかし自然言語はコンパイルエラーを出しません。
「日本語で回答する」
「英語で話すアインシュタインAI」
「必ず指名する」
「最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960120"/>
          </a:xfrm>
          <a:prstGeom prst="rect">
            <a:avLst/>
          </a:prstGeom>
          <a:solidFill>
            <a:srgbClr val="55C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8872"/>
            <a:ext cx="1161288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Qiita　記事一覧　(1 / 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24128"/>
            <a:ext cx="11430000" cy="4723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55C500"/>
                </a:solidFill>
              </a:rPr>
              <a:t>▶ </a:t>
            </a:r>
            <a:r>
              <a:rPr sz="1200" b="1">
                <a:solidFill>
                  <a:srgbClr val="2C3E50"/>
                </a:solidFill>
              </a:rPr>
              <a:t>Qiita記事7.7万件をClickHouseに入れてAIエージェントに分析させてみた</a:t>
            </a:r>
            <a:r>
              <a:rPr sz="900">
                <a:solidFill>
                  <a:srgbClr val="7F8C8D"/>
                </a:solidFill>
              </a:rPr>
              <a:t>  (2026-06-14)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96507"/>
            <a:ext cx="11155680" cy="2699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216FD0"/>
                </a:solidFill>
                <a:hlinkClick r:id="rId2"/>
              </a:rPr>
              <a:t>https://qiita.com/ktdatascience/items/eff07c425f5b871e819b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766437"/>
            <a:ext cx="11155680" cy="3824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7F8C8D"/>
                </a:solidFill>
              </a:rPr>
              <a:t>はじめに
Qiitaに記事を書いている人なら、一度はこう思ったことがないでしょうか。「自分の記事、どうしたら伸びるんだろう」と。
私はずっと、これを"なんとなくの肌感"で語るのがイヤでした。「画像は多めがいい」「タイトルは長すぎない方が」——どれも、誰か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148840"/>
            <a:ext cx="11430000" cy="4723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55C500"/>
                </a:solidFill>
              </a:rPr>
              <a:t>▶ </a:t>
            </a:r>
            <a:r>
              <a:rPr sz="1200" b="1">
                <a:solidFill>
                  <a:srgbClr val="2C3E50"/>
                </a:solidFill>
              </a:rPr>
              <a:t>LLMエージェント設計パターンのコードリーディングで気づいた品質担保の7原則</a:t>
            </a:r>
            <a:r>
              <a:rPr sz="900">
                <a:solidFill>
                  <a:srgbClr val="7F8C8D"/>
                </a:solidFill>
              </a:rPr>
              <a:t>  (2026-06-14)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21219"/>
            <a:ext cx="11155680" cy="2699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216FD0"/>
                </a:solidFill>
                <a:hlinkClick r:id="rId3"/>
              </a:rPr>
              <a:t>https://qiita.com/kuririrn/items/855a1d79848194960f25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891149"/>
            <a:ext cx="11155680" cy="3824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7F8C8D"/>
                </a:solidFill>
              </a:rPr>
              <a:t>はじめに
書籍「LangChainとLangGraphによるRAG・AIエージェント［実践］入門」のChapter 12に収録されているエージェントシステムの設計パターンのサンプルコードを読み、動作確認しながら学習しました。
各パターンのコードを追う中で気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3273552"/>
            <a:ext cx="11430000" cy="4723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55C500"/>
                </a:solidFill>
              </a:rPr>
              <a:t>▶ </a:t>
            </a:r>
            <a:r>
              <a:rPr sz="1200" b="1">
                <a:solidFill>
                  <a:srgbClr val="2C3E50"/>
                </a:solidFill>
              </a:rPr>
              <a:t>情報過多な時代に、そっと背中を押す「AIタロット」が生まれるまで</a:t>
            </a:r>
            <a:r>
              <a:rPr sz="900">
                <a:solidFill>
                  <a:srgbClr val="7F8C8D"/>
                </a:solidFill>
              </a:rPr>
              <a:t>  (2026-06-14)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745931"/>
            <a:ext cx="11155680" cy="2699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216FD0"/>
                </a:solidFill>
                <a:hlinkClick r:id="rId4"/>
              </a:rPr>
              <a:t>https://qiita.com/senle1024/items/e623fc3a350bf4d5fb98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015861"/>
            <a:ext cx="11155680" cy="3824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7F8C8D"/>
                </a:solidFill>
              </a:rPr>
              <a:t>!Izanami.png
こんにちは！🙌 
今回は、そもそも「なぜこのアプリを作ろうと思ったのか？」という開発の裏側をサクッとお話しさせてください。📝
---
1. なぜ作ろうと思ったのか？：迷える子羊だった私 🐑
スマホを開けば情報や正論が溢れ、逆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398264"/>
            <a:ext cx="11430000" cy="4723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55C500"/>
                </a:solidFill>
              </a:rPr>
              <a:t>▶ </a:t>
            </a:r>
            <a:r>
              <a:rPr sz="1200" b="1">
                <a:solidFill>
                  <a:srgbClr val="2C3E50"/>
                </a:solidFill>
              </a:rPr>
              <a:t>『バグを直して』で直った。でもコメントは古いままだった</a:t>
            </a:r>
            <a:r>
              <a:rPr sz="900">
                <a:solidFill>
                  <a:srgbClr val="7F8C8D"/>
                </a:solidFill>
              </a:rPr>
              <a:t>  (2026-06-14)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870643"/>
            <a:ext cx="11155680" cy="2699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216FD0"/>
                </a:solidFill>
                <a:hlinkClick r:id="rId5"/>
              </a:rPr>
              <a:t>https://qiita.com/NeoSoleil/items/a2825269147e76d70763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140573"/>
            <a:ext cx="11155680" cy="3824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7F8C8D"/>
                </a:solidFill>
              </a:rPr>
              <a:t>AIエージェントは賢いより忠実──だから任せる範囲は人間が決める
結論から書く。AIコーディングエージェントを使っていて最近いちばん考えているのは「どこまで任せるか」だ。AIが賢いかどうかより、こちらがどこに線を引くか。理由は単純で、AIは賢いというより忠実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5522976"/>
            <a:ext cx="11430000" cy="4723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55C500"/>
                </a:solidFill>
              </a:rPr>
              <a:t>▶ </a:t>
            </a:r>
            <a:r>
              <a:rPr sz="1200" b="1">
                <a:solidFill>
                  <a:srgbClr val="2C3E50"/>
                </a:solidFill>
              </a:rPr>
              <a:t>Claude Codeを今すぐ始めたい（インストールから初期設定方法まで）</a:t>
            </a:r>
            <a:r>
              <a:rPr sz="900">
                <a:solidFill>
                  <a:srgbClr val="7F8C8D"/>
                </a:solidFill>
              </a:rPr>
              <a:t>  (2026-06-14)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995355"/>
            <a:ext cx="11155680" cy="2699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216FD0"/>
                </a:solidFill>
                <a:hlinkClick r:id="rId6"/>
              </a:rPr>
              <a:t>https://qiita.com/NakanakaPierrot/items/d5a309c8e0c096aa1f4d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265285"/>
            <a:ext cx="11155680" cy="3824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7F8C8D"/>
                </a:solidFill>
              </a:rPr>
              <a:t>Claude Codeのインストールから初期設定方法について記述しておきます。
参考になれば幸いです。
準備
Claudeを利用するには、まずClaudeのサイトに行ってアカウント登録する必要があります。そしてClaude Codeを利用するには、Proプラ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960120"/>
          </a:xfrm>
          <a:prstGeom prst="rect">
            <a:avLst/>
          </a:prstGeom>
          <a:solidFill>
            <a:srgbClr val="55C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8872"/>
            <a:ext cx="1161288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Qiita　記事一覧　(2 / 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24128"/>
            <a:ext cx="11430000" cy="4723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55C500"/>
                </a:solidFill>
              </a:rPr>
              <a:t>▶ </a:t>
            </a:r>
            <a:r>
              <a:rPr sz="1200" b="1">
                <a:solidFill>
                  <a:srgbClr val="2C3E50"/>
                </a:solidFill>
              </a:rPr>
              <a:t>2026/06/14 今日のQiitaトレンド記事をポッドキャストで聴こう！</a:t>
            </a:r>
            <a:r>
              <a:rPr sz="900">
                <a:solidFill>
                  <a:srgbClr val="7F8C8D"/>
                </a:solidFill>
              </a:rPr>
              <a:t>  (2026-06-14)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96507"/>
            <a:ext cx="11155680" cy="2699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216FD0"/>
                </a:solidFill>
                <a:hlinkClick r:id="rId2"/>
              </a:rPr>
              <a:t>https://qiita.com/ennagara128/items/d4dcd97dfeca39f884cb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766437"/>
            <a:ext cx="11155680" cy="3824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7F8C8D"/>
                </a:solidFill>
              </a:rPr>
              <a:t>前日夜の最新トレンド記事のAIポッドキャストを毎日朝7時に更新しています。
通勤中などにながら聴きしよう！
（Qiita投稿は通勤には間に合わないと思われますが）
フィードバックとか助かりますのでください
↓こちらから
&lt;iframe width="56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148840"/>
            <a:ext cx="11430000" cy="4723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55C500"/>
                </a:solidFill>
              </a:rPr>
              <a:t>▶ </a:t>
            </a:r>
            <a:r>
              <a:rPr sz="1200" b="1">
                <a:solidFill>
                  <a:srgbClr val="2C3E50"/>
                </a:solidFill>
              </a:rPr>
              <a:t>2022年に諦めたクイズチャンネルを、Claude Code 5セッションで2026年に動かすまで</a:t>
            </a:r>
            <a:r>
              <a:rPr sz="900">
                <a:solidFill>
                  <a:srgbClr val="7F8C8D"/>
                </a:solidFill>
              </a:rPr>
              <a:t>  (2026-06-14)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21219"/>
            <a:ext cx="11155680" cy="2699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216FD0"/>
                </a:solidFill>
                <a:hlinkClick r:id="rId3"/>
              </a:rPr>
              <a:t>https://qiita.com/manchan/items/e504bb8f5c3a32ebe5a8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891149"/>
            <a:ext cx="11155680" cy="3824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7F8C8D"/>
                </a:solidFill>
              </a:rPr>
              <a:t>&gt; プロデューサー方式のマルチエージェント分業で、個人開発の動画制作を“録画ボタンを押すだけ”にした話
はじめに
個人開発の動画制作を、AIの分業体制で “録画ボタンを押すだけ” にしました。問題作成・画面開発・録画・編集・アップロード・告知——全部AIに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3273552"/>
            <a:ext cx="11430000" cy="4723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55C500"/>
                </a:solidFill>
              </a:rPr>
              <a:t>▶ </a:t>
            </a:r>
            <a:r>
              <a:rPr sz="1200" b="1">
                <a:solidFill>
                  <a:srgbClr val="2C3E50"/>
                </a:solidFill>
              </a:rPr>
              <a:t>Claude Codeが安全装置のフラグで勝手にモデルを切り替えるのを止める——未文書設定 switchModelsOnFlag（既定true）</a:t>
            </a:r>
            <a:r>
              <a:rPr sz="900">
                <a:solidFill>
                  <a:srgbClr val="7F8C8D"/>
                </a:solidFill>
              </a:rPr>
              <a:t>  (2026-06-14)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745931"/>
            <a:ext cx="11155680" cy="2699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216FD0"/>
                </a:solidFill>
                <a:hlinkClick r:id="rId4"/>
              </a:rPr>
              <a:t>https://qiita.com/yurukusa/items/74d60654678f8915f50d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015861"/>
            <a:ext cx="11155680" cy="3824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7F8C8D"/>
                </a:solidFill>
              </a:rPr>
              <a:t>会話の途中で勝手にモデルが変わる、その正体
Claude Code を使っていて、こんな経験はないでしょうか。
- セキュリティ調査やデバッグなど、正当な作業を頼んだのに、会話の途中で応答の雰囲気が急に変わった。
- 固定したつもりのモデルと違う挙動になり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398264"/>
            <a:ext cx="11430000" cy="4723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55C500"/>
                </a:solidFill>
              </a:rPr>
              <a:t>▶ </a:t>
            </a:r>
            <a:r>
              <a:rPr sz="1200" b="1">
                <a:solidFill>
                  <a:srgbClr val="2C3E50"/>
                </a:solidFill>
              </a:rPr>
              <a:t>N番煎じでOmnigentをWindows(WSL2)から使ってみる</a:t>
            </a:r>
            <a:r>
              <a:rPr sz="900">
                <a:solidFill>
                  <a:srgbClr val="7F8C8D"/>
                </a:solidFill>
              </a:rPr>
              <a:t>  (2026-06-14)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870643"/>
            <a:ext cx="11155680" cy="2699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216FD0"/>
                </a:solidFill>
                <a:hlinkClick r:id="rId5"/>
              </a:rPr>
              <a:t>https://qiita.com/isanakamishiro2/items/eb74a98f942e448ebbb2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140573"/>
            <a:ext cx="11155680" cy="3824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7F8C8D"/>
                </a:solidFill>
              </a:rPr>
              <a:t>久しぶりのN番煎じ記事。
はじめに
Databricks社がOSSとしてomnigentを発表しました。
https://omnigent.ai/
Databricks社公式のblogでも案内されています。
https://www.databrick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5522976"/>
            <a:ext cx="11430000" cy="4723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55C500"/>
                </a:solidFill>
              </a:rPr>
              <a:t>▶ </a:t>
            </a:r>
            <a:r>
              <a:rPr sz="1200" b="1">
                <a:solidFill>
                  <a:srgbClr val="2C3E50"/>
                </a:solidFill>
              </a:rPr>
              <a:t>Claude Codeのセッション再開で$342消えた——トークン爆発を防ぐ2つのhook</a:t>
            </a:r>
            <a:r>
              <a:rPr sz="900">
                <a:solidFill>
                  <a:srgbClr val="7F8C8D"/>
                </a:solidFill>
              </a:rPr>
              <a:t>  (2026-06-14)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995355"/>
            <a:ext cx="11155680" cy="2699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216FD0"/>
                </a:solidFill>
                <a:hlinkClick r:id="rId6"/>
              </a:rPr>
              <a:t>https://qiita.com/yurukusa/items/7e0b4abcdd13ae322208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265285"/>
            <a:ext cx="11155680" cy="3824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7F8C8D"/>
                </a:solidFill>
              </a:rPr>
              <a:t>セッション再開しただけで$342
GitHub Issueに衝撃的な報告が上がった。
38029——ユーザーがセッションを再開しただけで、65万出力トークンが一瞬で消えた。$342。ユーザーは何も入力していない。再開しただけだ。
「resume my 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960120"/>
          </a:xfrm>
          <a:prstGeom prst="rect">
            <a:avLst/>
          </a:prstGeom>
          <a:solidFill>
            <a:srgbClr val="55C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8872"/>
            <a:ext cx="1161288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Qiita　記事一覧　(3 / 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10528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7F8C8D"/>
                </a:solidFill>
              </a:rPr>
              <a:t>※ 他 118 件は JSON アーカイブを参照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024128"/>
            <a:ext cx="11430000" cy="4723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55C500"/>
                </a:solidFill>
              </a:rPr>
              <a:t>▶ </a:t>
            </a:r>
            <a:r>
              <a:rPr sz="1200" b="1">
                <a:solidFill>
                  <a:srgbClr val="2C3E50"/>
                </a:solidFill>
              </a:rPr>
              <a:t>Claude Codeのスキルが自動で発火しない本当の理由——未文書設定 skillListingMaxDescChars(既定1536字)を実機で確かめた</a:t>
            </a:r>
            <a:r>
              <a:rPr sz="900">
                <a:solidFill>
                  <a:srgbClr val="7F8C8D"/>
                </a:solidFill>
              </a:rPr>
              <a:t>  (2026-06-14)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96507"/>
            <a:ext cx="11155680" cy="2699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216FD0"/>
                </a:solidFill>
                <a:hlinkClick r:id="rId2"/>
              </a:rPr>
              <a:t>https://qiita.com/yurukusa/items/2700b4d67f77220fa618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766437"/>
            <a:ext cx="11155680" cy="3824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7F8C8D"/>
                </a:solidFill>
              </a:rPr>
              <a:t>「スキルを作ったのに自動で起動しない」の本当の原因
Claude Code でスキル(Skills)を自作したのに、いざ会話で関連する作業を頼んでも自動で発火しない。とくに日本語で話しかけると起動しない。こういう経験はないでしょうか。
私(ゆるくさ)も同じ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148840"/>
            <a:ext cx="11430000" cy="4723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55C500"/>
                </a:solidFill>
              </a:rPr>
              <a:t>▶ </a:t>
            </a:r>
            <a:r>
              <a:rPr sz="1200" b="1">
                <a:solidFill>
                  <a:srgbClr val="2C3E50"/>
                </a:solidFill>
              </a:rPr>
              <a:t>AIで対応速度を上げる前に、問い合わせ対応品質を測るシートをGASで作る</a:t>
            </a:r>
            <a:r>
              <a:rPr sz="900">
                <a:solidFill>
                  <a:srgbClr val="7F8C8D"/>
                </a:solidFill>
              </a:rPr>
              <a:t>  (2026-06-14)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621219"/>
            <a:ext cx="11155680" cy="2699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216FD0"/>
                </a:solidFill>
                <a:hlinkClick r:id="rId3"/>
              </a:rPr>
              <a:t>https://qiita.com/Miraigent/items/371c99187f8c92aedbfe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891149"/>
            <a:ext cx="11155680" cy="3824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7F8C8D"/>
                </a:solidFill>
              </a:rPr>
              <a:t>この記事は、問い合わせ対応にAI要約や返信下書きを入れる前に、対応品質を測るための小さな集計シートをGoogleスプレッドシートとGASで作る実装メモです。
AI APIの呼び出しは扱いません。最初に、返信速度だけでなく、解決率、差し戻し、例外対応、FAQ改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273552"/>
            <a:ext cx="11430000" cy="4723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55C500"/>
                </a:solidFill>
              </a:rPr>
              <a:t>▶ </a:t>
            </a:r>
            <a:r>
              <a:rPr sz="1200" b="1">
                <a:solidFill>
                  <a:srgbClr val="2C3E50"/>
                </a:solidFill>
              </a:rPr>
              <a:t>RTX 4070 (12GB) で vLLM / SGLang をOOMさせず動かす設定</a:t>
            </a:r>
            <a:r>
              <a:rPr sz="900">
                <a:solidFill>
                  <a:srgbClr val="7F8C8D"/>
                </a:solidFill>
              </a:rPr>
              <a:t>  (2026-06-14)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745931"/>
            <a:ext cx="11155680" cy="2699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216FD0"/>
                </a:solidFill>
                <a:hlinkClick r:id="rId4"/>
              </a:rPr>
              <a:t>https://qiita.com/Marron-chan/items/9c7e6102d1eda28e39b9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015861"/>
            <a:ext cx="11155680" cy="3824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7F8C8D"/>
                </a:solidFill>
              </a:rPr>
              <a:t>この記事の使い方
前回（Ollamaが遅い？ 1人なら最速、詰まるのは複数人・RAGから ― vLLM / SGLangを見る判断基準）で「複数人・RAG・低レイテンシで詰まったら vLLM / SGLang を見る」と書きました。
今回はその続き。12GB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4398264"/>
            <a:ext cx="11430000" cy="4723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55C500"/>
                </a:solidFill>
              </a:rPr>
              <a:t>▶ </a:t>
            </a:r>
            <a:r>
              <a:rPr sz="1200" b="1">
                <a:solidFill>
                  <a:srgbClr val="2C3E50"/>
                </a:solidFill>
              </a:rPr>
              <a:t>チーム開発でのAPIキー管理、どうしてる？ pydantic-settingsによる型安全・セキュアな一元管理</a:t>
            </a:r>
            <a:r>
              <a:rPr sz="900">
                <a:solidFill>
                  <a:srgbClr val="7F8C8D"/>
                </a:solidFill>
              </a:rPr>
              <a:t>  (2026-06-14)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870643"/>
            <a:ext cx="11155680" cy="2699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216FD0"/>
                </a:solidFill>
                <a:hlinkClick r:id="rId5"/>
              </a:rPr>
              <a:t>https://qiita.com/kuririrn/items/1081a10c78fc6bd47fce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140573"/>
            <a:ext cx="11155680" cy="3824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7F8C8D"/>
                </a:solidFill>
              </a:rPr>
              <a:t>はじめに
LLMを活用したエージェントシステムをチームで開発していると、OpenAI・Anthropic・Tavilyなど複数サービスのAPIキーを扱う場面が増えてきます。
このとき、以下のような課題に直面しました。
- メンバーごとに異なるAPIキーを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522976"/>
            <a:ext cx="11430000" cy="4723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55C500"/>
                </a:solidFill>
              </a:rPr>
              <a:t>▶ </a:t>
            </a:r>
            <a:r>
              <a:rPr sz="1200" b="1">
                <a:solidFill>
                  <a:srgbClr val="2C3E50"/>
                </a:solidFill>
              </a:rPr>
              <a:t>Ollamaが遅い？ 1人なら最速、詰まるのは複数人・RAGから ― vLLM / SGLangを見る判断基準</a:t>
            </a:r>
            <a:r>
              <a:rPr sz="900">
                <a:solidFill>
                  <a:srgbClr val="7F8C8D"/>
                </a:solidFill>
              </a:rPr>
              <a:t>  (2026-06-14)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995355"/>
            <a:ext cx="11155680" cy="2699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216FD0"/>
                </a:solidFill>
                <a:hlinkClick r:id="rId6"/>
              </a:rPr>
              <a:t>https://qiita.com/Marron-chan/items/ede825e91c740894c197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265285"/>
            <a:ext cx="11155680" cy="3824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7F8C8D"/>
                </a:solidFill>
              </a:rPr>
              <a:t>はじめに
ローカルLLMを始めるとき、最初に触るのはたいてい Ollama だと思います。
これだけでモデルが落ちてきて、すぐチャットできる。GPUの設定も、量子化の知識も、サーバの起動オプションもいりません。「とりあえずローカルでLLMを動かす」には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