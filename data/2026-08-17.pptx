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qiita.com/engchina/items/561b8d0141d86eeb9374" TargetMode="External"/><Relationship Id="rId3" Type="http://schemas.openxmlformats.org/officeDocument/2006/relationships/hyperlink" Target="https://zenn.dev/reskilling/articles/3104e660205dba" TargetMode="External"/><Relationship Id="rId4" Type="http://schemas.openxmlformats.org/officeDocument/2006/relationships/hyperlink" Target="https://qiita.com/pugiemonn/items/2a330e7775da873b25c8"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qiita.com/kz2021019/items/0bea917078b430ef107a" TargetMode="External"/><Relationship Id="rId3" Type="http://schemas.openxmlformats.org/officeDocument/2006/relationships/hyperlink" Target="https://qiita.com/katukoga/items/f5a74262e91c5b0077da" TargetMode="External"/><Relationship Id="rId4" Type="http://schemas.openxmlformats.org/officeDocument/2006/relationships/hyperlink" Target="https://qiita.com/haystacker/items/853234c38ae36adbca1f"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qiita.com/jqit_suwa/items/fe5975104ffefa49f632" TargetMode="External"/><Relationship Id="rId3" Type="http://schemas.openxmlformats.org/officeDocument/2006/relationships/hyperlink" Target="https://qiita.com/jqit_suwa/items/b919d0b4cdc0a26ec988" TargetMode="External"/><Relationship Id="rId4" Type="http://schemas.openxmlformats.org/officeDocument/2006/relationships/hyperlink" Target="https://qiita.com/TaichiYamasaki/items/959378ebb76eda594807"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qiita.com/Reotech/items/be25d4724ce4a79dc390" TargetMode="External"/><Relationship Id="rId3" Type="http://schemas.openxmlformats.org/officeDocument/2006/relationships/hyperlink" Target="https://qiita.com/sescore/items/00093c39cb6629c43d8f" TargetMode="External"/><Relationship Id="rId4" Type="http://schemas.openxmlformats.org/officeDocument/2006/relationships/hyperlink" Target="https://qiita.com/caymezon/items/05e1fa07882834d76d1c"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qiita.com/mrrclb48z/items/2e631760e14a212b396f" TargetMode="External"/><Relationship Id="rId3" Type="http://schemas.openxmlformats.org/officeDocument/2006/relationships/hyperlink" Target="https://qiita.com/Maruhoppe8/items/70b9777bac0159c840ab" TargetMode="External"/><Relationship Id="rId4" Type="http://schemas.openxmlformats.org/officeDocument/2006/relationships/hyperlink" Target="https://qiita.com/kenichiyoshioka/items/cbfb1028473fda15ace6" TargetMode="Externa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qiita.com/engchina/items/561b8d0141d86eeb9374" TargetMode="External"/><Relationship Id="rId3" Type="http://schemas.openxmlformats.org/officeDocument/2006/relationships/hyperlink" Target="https://zenn.dev/reskilling/articles/3104e660205dba" TargetMode="External"/><Relationship Id="rId4" Type="http://schemas.openxmlformats.org/officeDocument/2006/relationships/hyperlink" Target="https://qiita.com/pugiemonn/items/2a330e7775da873b25c8" TargetMode="External"/><Relationship Id="rId5" Type="http://schemas.openxmlformats.org/officeDocument/2006/relationships/hyperlink" Target="https://zenn.dev/keisuke1306/articles/03-chatgpt-claude-codex-roles"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qiita.com/DaokFrontier/items/cdf17de4f9a14efd8423" TargetMode="External"/><Relationship Id="rId3" Type="http://schemas.openxmlformats.org/officeDocument/2006/relationships/hyperlink" Target="https://zenn.dev/acntechjp/articles/f0715ee2fd9b3d" TargetMode="External"/><Relationship Id="rId4" Type="http://schemas.openxmlformats.org/officeDocument/2006/relationships/hyperlink" Target="https://zenn.dev/dktech/articles/83ffb33388fd3f" TargetMode="External"/><Relationship Id="rId5" Type="http://schemas.openxmlformats.org/officeDocument/2006/relationships/hyperlink" Target="https://zenn.dev/keisuke1306/articles/02-ticket-driven-development" TargetMode="Externa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qiita.com/kz2021019/items/0bea917078b430ef107a" TargetMode="External"/><Relationship Id="rId3" Type="http://schemas.openxmlformats.org/officeDocument/2006/relationships/hyperlink" Target="https://qiita.com/katukoga/items/f5a74262e91c5b0077da" TargetMode="External"/><Relationship Id="rId4" Type="http://schemas.openxmlformats.org/officeDocument/2006/relationships/hyperlink" Target="https://qiita.com/haystacker/items/853234c38ae36adbca1f" TargetMode="External"/><Relationship Id="rId5" Type="http://schemas.openxmlformats.org/officeDocument/2006/relationships/hyperlink" Target="https://qiita.com/mrrclb48z/items/98c6408c45825445d6a4" TargetMode="Externa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qiita.com/kitfactory/items/7193777e8bd7113102dc" TargetMode="External"/><Relationship Id="rId3" Type="http://schemas.openxmlformats.org/officeDocument/2006/relationships/hyperlink" Target="https://qiita.com/ShinguAkira/items/3d42335a7a54f5107f34" TargetMode="External"/><Relationship Id="rId4" Type="http://schemas.openxmlformats.org/officeDocument/2006/relationships/hyperlink" Target="https://qiita.com/incho9/items/8b0f377efd243997f6da" TargetMode="External"/><Relationship Id="rId5" Type="http://schemas.openxmlformats.org/officeDocument/2006/relationships/hyperlink" Target="https://zenn.dev/bathtimefish/articles/eb089fbe8434b0" TargetMode="Externa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qiita.com/jqit_suwa/items/fe5975104ffefa49f632" TargetMode="External"/><Relationship Id="rId3" Type="http://schemas.openxmlformats.org/officeDocument/2006/relationships/hyperlink" Target="https://qiita.com/jqit_suwa/items/b919d0b4cdc0a26ec988" TargetMode="External"/><Relationship Id="rId4" Type="http://schemas.openxmlformats.org/officeDocument/2006/relationships/hyperlink" Target="https://qiita.com/TaichiYamasaki/items/959378ebb76eda594807" TargetMode="External"/><Relationship Id="rId5" Type="http://schemas.openxmlformats.org/officeDocument/2006/relationships/hyperlink" Target="https://qiita.com/Tadataka_Takahashi/items/5ab03ce9b1d8c98dcc61" TargetMode="Externa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qiita.com/josezuma/items/4c10a1c7e0b2404a8b57" TargetMode="External"/><Relationship Id="rId3" Type="http://schemas.openxmlformats.org/officeDocument/2006/relationships/hyperlink" Target="https://www.contextforclaude.com/" TargetMode="External"/><Relationship Id="rId4" Type="http://schemas.openxmlformats.org/officeDocument/2006/relationships/hyperlink" Target="https://qiita.com/Hideki-T/items/9c9cb9777e39c047d8d7" TargetMode="External"/><Relationship Id="rId5" Type="http://schemas.openxmlformats.org/officeDocument/2006/relationships/hyperlink" Target="https://qiita.com/Hideki-T/items/d8235a417efa2e4cc457" TargetMode="Externa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qiita.com/Reotech/items/be25d4724ce4a79dc390" TargetMode="External"/><Relationship Id="rId3" Type="http://schemas.openxmlformats.org/officeDocument/2006/relationships/hyperlink" Target="https://qiita.com/sescore/items/00093c39cb6629c43d8f" TargetMode="External"/><Relationship Id="rId4" Type="http://schemas.openxmlformats.org/officeDocument/2006/relationships/hyperlink" Target="https://qiita.com/caymezon/items/05e1fa07882834d76d1c" TargetMode="External"/><Relationship Id="rId5" Type="http://schemas.openxmlformats.org/officeDocument/2006/relationships/hyperlink" Target="https://qiita.com/HarmonicModeler/items/16ee10081ec4b058c929" TargetMode="Externa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qiita.com/kankigyo2/items/1df1d5f75c3d576bc576" TargetMode="External"/><Relationship Id="rId3" Type="http://schemas.openxmlformats.org/officeDocument/2006/relationships/hyperlink" Target="https://qiita.com/kankigyo2/items/9ec8bf2cff82e58fac43" TargetMode="External"/><Relationship Id="rId4" Type="http://schemas.openxmlformats.org/officeDocument/2006/relationships/hyperlink" Target="https://qiita.com/kankigyo2/items/2898555e55aea6a0e61f" TargetMode="External"/><Relationship Id="rId5" Type="http://schemas.openxmlformats.org/officeDocument/2006/relationships/hyperlink" Target="https://zenn.dev/tk_notes/articles/genai-adoption-establishment-design" TargetMode="Externa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qiita.com/mrrclb48z/items/2e631760e14a212b396f" TargetMode="External"/><Relationship Id="rId3" Type="http://schemas.openxmlformats.org/officeDocument/2006/relationships/hyperlink" Target="https://qiita.com/Maruhoppe8/items/70b9777bac0159c840ab" TargetMode="External"/><Relationship Id="rId4" Type="http://schemas.openxmlformats.org/officeDocument/2006/relationships/hyperlink" Target="https://qiita.com/kenichiyoshioka/items/cbfb1028473fda15ace6" TargetMode="External"/><Relationship Id="rId5" Type="http://schemas.openxmlformats.org/officeDocument/2006/relationships/hyperlink" Target="https://qiita.com/koukyo/items/efaef9b1be47da766551" TargetMode="Externa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qiita.com/xniconicox009/items/003643f7814ef33e84b0" TargetMode="Externa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qiita.com/DnD-inc/items/2b18532d97be97fd85d4" TargetMode="External"/><Relationship Id="rId3" Type="http://schemas.openxmlformats.org/officeDocument/2006/relationships/hyperlink" Target="https://qiita.com/Reotech/items/8df27c15430b35b97cad" TargetMode="External"/><Relationship Id="rId4" Type="http://schemas.openxmlformats.org/officeDocument/2006/relationships/hyperlink" Target="https://qiita.com/moharamo/items/407c057bb315d59da8af" TargetMode="External"/><Relationship Id="rId5" Type="http://schemas.openxmlformats.org/officeDocument/2006/relationships/hyperlink" Target="https://qiita.com/kazuharu2022/items/9b6f2c5b00627ea64af9" TargetMode="External"/><Relationship Id="rId6" Type="http://schemas.openxmlformats.org/officeDocument/2006/relationships/hyperlink" Target="https://qiita.com/miyoki_labs/items/f5e1689bd41c87ff9855" TargetMode="External"/><Relationship Id="rId7" Type="http://schemas.openxmlformats.org/officeDocument/2006/relationships/hyperlink" Target="https://qiita.com/kuis/items/69f71d014be33d82cac4" TargetMode="External"/><Relationship Id="rId8" Type="http://schemas.openxmlformats.org/officeDocument/2006/relationships/hyperlink" Target="https://qiita.com/masafy/items/93f699c349d48b4f27b2" TargetMode="External"/><Relationship Id="rId9" Type="http://schemas.openxmlformats.org/officeDocument/2006/relationships/hyperlink" Target="https://qiita.com/kentawata/items/9d050dafe72f4d371b1f" TargetMode="External"/><Relationship Id="rId10" Type="http://schemas.openxmlformats.org/officeDocument/2006/relationships/hyperlink" Target="https://qiita.com/ynakayama/items/6b74c7012f665172520f" TargetMode="External"/><Relationship Id="rId11" Type="http://schemas.openxmlformats.org/officeDocument/2006/relationships/hyperlink" Target="https://qiita.com/mushroom-it-engineer/items/c1ce0f6b34c00e272032" TargetMode="External"/><Relationship Id="rId12" Type="http://schemas.openxmlformats.org/officeDocument/2006/relationships/hyperlink" Target="https://qiita.com/girigiri-se/items/09d91e0d3b7d9554e8dc" TargetMode="External"/><Relationship Id="rId13" Type="http://schemas.openxmlformats.org/officeDocument/2006/relationships/hyperlink" Target="https://www.vinaa.ai/tools/ai-chat-history-browser/" TargetMode="Externa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daringfireball.net/2026/08/anthropics_watermark_text_adulteration_in_claude_is_a_perversion_of_writing" TargetMode="External"/><Relationship Id="rId3" Type="http://schemas.openxmlformats.org/officeDocument/2006/relationships/hyperlink" Target="https://qiita.com/papi_tokei/items/1e15ecbe1e46acc10d05" TargetMode="External"/><Relationship Id="rId4" Type="http://schemas.openxmlformats.org/officeDocument/2006/relationships/hyperlink" Target="https://qiita.com/macchan_ai_dev/items/eb8c584aa9b10f81ccd8" TargetMode="External"/><Relationship Id="rId5" Type="http://schemas.openxmlformats.org/officeDocument/2006/relationships/hyperlink" Target="https://qiita.com/mrrclb48z/items/7f6c8bc6d69f63a20fb4" TargetMode="External"/><Relationship Id="rId6" Type="http://schemas.openxmlformats.org/officeDocument/2006/relationships/hyperlink" Target="https://qiita.com/hase-k0x01/items/1980764fe9c694b6fd77" TargetMode="External"/><Relationship Id="rId7" Type="http://schemas.openxmlformats.org/officeDocument/2006/relationships/hyperlink" Target="https://qiita.com/777atsushi/items/e14e46b3cc7e48422a80" TargetMode="External"/><Relationship Id="rId8" Type="http://schemas.openxmlformats.org/officeDocument/2006/relationships/hyperlink" Target="https://qiita.com/0903osa/items/053eb1bcbca9ad1b5b55" TargetMode="External"/><Relationship Id="rId9" Type="http://schemas.openxmlformats.org/officeDocument/2006/relationships/hyperlink" Target="https://qiita.com/lyr/items/dac4ab97548c31da0245" TargetMode="External"/><Relationship Id="rId10" Type="http://schemas.openxmlformats.org/officeDocument/2006/relationships/hyperlink" Target="https://qiita.com/inonedimention/items/7ab5799cece4743f82b2" TargetMode="External"/><Relationship Id="rId11" Type="http://schemas.openxmlformats.org/officeDocument/2006/relationships/hyperlink" Target="https://qiita.com/lyr/items/febeabe6315263b07d1c" TargetMode="External"/><Relationship Id="rId12" Type="http://schemas.openxmlformats.org/officeDocument/2006/relationships/hyperlink" Target="https://qiita.com/lyr/items/d1d64f5411ddab4f7c53" TargetMode="External"/><Relationship Id="rId13" Type="http://schemas.openxmlformats.org/officeDocument/2006/relationships/hyperlink" Target="https://zenn.dev/shige111111324/articles/c27df84f5fff95" TargetMode="Externa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zenn.dev/omohikane/articles/qwen38-test-my-rx6800" TargetMode="External"/><Relationship Id="rId3" Type="http://schemas.openxmlformats.org/officeDocument/2006/relationships/hyperlink" Target="https://zenn.dev/shogo_h/articles/valuesim-llm-value-simulation" TargetMode="External"/><Relationship Id="rId4" Type="http://schemas.openxmlformats.org/officeDocument/2006/relationships/hyperlink" Target="https://zenn.dev/kiraki/articles/video-ai-comparison" TargetMode="External"/><Relationship Id="rId5" Type="http://schemas.openxmlformats.org/officeDocument/2006/relationships/hyperlink" Target="https://zenn.dev/ainewsdaily/articles/20260816_general_t1" TargetMode="External"/><Relationship Id="rId6" Type="http://schemas.openxmlformats.org/officeDocument/2006/relationships/hyperlink" Target="https://platform.claude.com/docs/en/release-notes/system-prompts" TargetMode="External"/><Relationship Id="rId7" Type="http://schemas.openxmlformats.org/officeDocument/2006/relationships/hyperlink" Target="https://zenn.dev/okssusucha/articles/20260709-llm-d-predicted-latency-scheduling" TargetMode="External"/><Relationship Id="rId8" Type="http://schemas.openxmlformats.org/officeDocument/2006/relationships/hyperlink" Target="https://zenn.dev/nerisakana/articles/11017ca5cf7511" TargetMode="External"/><Relationship Id="rId9" Type="http://schemas.openxmlformats.org/officeDocument/2006/relationships/hyperlink" Target="https://zenn.dev/polargiver/articles/kamiscan-local-llm-ocr" TargetMode="External"/><Relationship Id="rId10" Type="http://schemas.openxmlformats.org/officeDocument/2006/relationships/hyperlink" Target="https://qiita.com/s_horikoshi/items/22804dfa955e2ce46255" TargetMode="External"/><Relationship Id="rId11" Type="http://schemas.openxmlformats.org/officeDocument/2006/relationships/hyperlink" Target="https://zenn.dev/hai08320/articles/def4326c4cf293" TargetMode="External"/><Relationship Id="rId12" Type="http://schemas.openxmlformats.org/officeDocument/2006/relationships/hyperlink" Target="https://zenn.dev/nakanishitf/articles/1fb37c945cf663" TargetMode="External"/><Relationship Id="rId13" Type="http://schemas.openxmlformats.org/officeDocument/2006/relationships/hyperlink" Target="https://qiita.com/kazuharu2022/items/ceb01f303fa8ac1acccd" TargetMode="Externa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zenn.dev/yusamore/articles/zenn-2026-08-16-safe-publish" TargetMode="External"/><Relationship Id="rId3" Type="http://schemas.openxmlformats.org/officeDocument/2006/relationships/hyperlink" Target="https://zenn.dev/tanishi_z/articles/11-jin-local-model-selection-ux-design" TargetMode="External"/><Relationship Id="rId4" Type="http://schemas.openxmlformats.org/officeDocument/2006/relationships/hyperlink" Target="https://zenn.dev/yusamore/articles/zenn-2026-08-16-ai-agent-frontier-3-news" TargetMode="External"/><Relationship Id="rId5" Type="http://schemas.openxmlformats.org/officeDocument/2006/relationships/hyperlink" Target="https://zenn.dev/koki_n22/articles/493f85b9f875ca" TargetMode="External"/><Relationship Id="rId6" Type="http://schemas.openxmlformats.org/officeDocument/2006/relationships/hyperlink" Target="https://zenn.dev/todesking/articles/d23fd40b319388" TargetMode="External"/><Relationship Id="rId7" Type="http://schemas.openxmlformats.org/officeDocument/2006/relationships/hyperlink" Target="https://zenn.dev/50s_zerotohero/articles/e5198b07a3c9f0" TargetMode="External"/><Relationship Id="rId8" Type="http://schemas.openxmlformats.org/officeDocument/2006/relationships/hyperlink" Target="https://zenn.dev/nishimo/articles/m365-apps-excel-chatgpt-addin" TargetMode="External"/><Relationship Id="rId9" Type="http://schemas.openxmlformats.org/officeDocument/2006/relationships/hyperlink" Target="https://qiita.com/masykot582/items/50842233a34211a81b4c" TargetMode="External"/><Relationship Id="rId10" Type="http://schemas.openxmlformats.org/officeDocument/2006/relationships/hyperlink" Target="https://qiita.com/kinamocchi_tech/items/9246f34a3577db6485ff" TargetMode="External"/><Relationship Id="rId11" Type="http://schemas.openxmlformats.org/officeDocument/2006/relationships/hyperlink" Target="https://zenn.dev/libercraft/articles/20260816-tabpfn-v2-5-vs-gbdt" TargetMode="External"/><Relationship Id="rId12" Type="http://schemas.openxmlformats.org/officeDocument/2006/relationships/hyperlink" Target="https://qiita.com/maskot1977/items/896983eb88aff4efcd08" TargetMode="External"/><Relationship Id="rId13" Type="http://schemas.openxmlformats.org/officeDocument/2006/relationships/hyperlink" Target="https://qiita.com/io0323/items/13ed440ae2282311f49f" TargetMode="Externa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qiita.com/mrrclb48z/items/eb9d50fab4421249a927" TargetMode="External"/><Relationship Id="rId3" Type="http://schemas.openxmlformats.org/officeDocument/2006/relationships/hyperlink" Target="https://qiita.com/mrrclb48z/items/da90844a7876409858e4" TargetMode="External"/><Relationship Id="rId4" Type="http://schemas.openxmlformats.org/officeDocument/2006/relationships/hyperlink" Target="https://qiita.com/mrrclb48z/items/7d7f880494536ee7cf06" TargetMode="External"/><Relationship Id="rId5" Type="http://schemas.openxmlformats.org/officeDocument/2006/relationships/hyperlink" Target="https://qiita.com/YuukiYoshida/items/a36aef013f2b486642fb" TargetMode="External"/><Relationship Id="rId6" Type="http://schemas.openxmlformats.org/officeDocument/2006/relationships/hyperlink" Target="https://qiita.com/YuukiYoshida/items/68aa14df457be0eea1c6" TargetMode="External"/><Relationship Id="rId7" Type="http://schemas.openxmlformats.org/officeDocument/2006/relationships/hyperlink" Target="https://qiita.com/equeko99/items/a2161450968135f7066b" TargetMode="External"/><Relationship Id="rId8" Type="http://schemas.openxmlformats.org/officeDocument/2006/relationships/hyperlink" Target="https://qiita.com/mnoda/items/63dec7a4b38d7abf414a" TargetMode="External"/><Relationship Id="rId9" Type="http://schemas.openxmlformats.org/officeDocument/2006/relationships/hyperlink" Target="https://qiita.com/GeneLab_999/items/f2456b1657e2ac94003d" TargetMode="External"/><Relationship Id="rId10" Type="http://schemas.openxmlformats.org/officeDocument/2006/relationships/hyperlink" Target="https://qiita.com/sutaminajing40/items/4aca440dfaf01cc989a6" TargetMode="External"/><Relationship Id="rId11" Type="http://schemas.openxmlformats.org/officeDocument/2006/relationships/hyperlink" Target="https://qiita.com/Hibs/items/a98acd52ce0a4642b67e" TargetMode="External"/><Relationship Id="rId12" Type="http://schemas.openxmlformats.org/officeDocument/2006/relationships/hyperlink" Target="https://qiita.com/Ruria1024/items/6e4df2d763f22d77157e" TargetMode="External"/><Relationship Id="rId13" Type="http://schemas.openxmlformats.org/officeDocument/2006/relationships/hyperlink" Target="https://zenn.dev/wasurenamemo/articles/b56c8c73b44add" TargetMode="Externa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zenn.dev/m2yagyu/articles/llm-hallucination-confidence" TargetMode="External"/><Relationship Id="rId3" Type="http://schemas.openxmlformats.org/officeDocument/2006/relationships/hyperlink" Target="https://zenn.dev/efta1989/articles/cleansing-order-bdl-for-materials" TargetMode="External"/><Relationship Id="rId4" Type="http://schemas.openxmlformats.org/officeDocument/2006/relationships/hyperlink" Target="https://qiita.com/YushiYamamoto/items/b07e4fffc72a6b8a8f7f" TargetMode="External"/><Relationship Id="rId5" Type="http://schemas.openxmlformats.org/officeDocument/2006/relationships/hyperlink" Target="https://qiita.com/picnic/items/e30e0b288d37719cbcd2" TargetMode="External"/><Relationship Id="rId6" Type="http://schemas.openxmlformats.org/officeDocument/2006/relationships/hyperlink" Target="https://zenn.dev/kairosai/articles/9bd3f257e61640" TargetMode="External"/><Relationship Id="rId7" Type="http://schemas.openxmlformats.org/officeDocument/2006/relationships/hyperlink" Target="https://qiita.com/kinamocchi_tech/items/018633eb53f8b2bb4125" TargetMode="External"/><Relationship Id="rId8" Type="http://schemas.openxmlformats.org/officeDocument/2006/relationships/hyperlink" Target="https://qiita.com/masykot582/items/2cf35beb2c917a513d93" TargetMode="External"/><Relationship Id="rId9" Type="http://schemas.openxmlformats.org/officeDocument/2006/relationships/hyperlink" Target="https://qiita.com/maskot1977/items/309d01d1e9d6ce527152" TargetMode="External"/><Relationship Id="rId10" Type="http://schemas.openxmlformats.org/officeDocument/2006/relationships/hyperlink" Target="https://qiita.com/sotaro-matsushita/items/088a5c9f770ee98de97b" TargetMode="External"/><Relationship Id="rId11" Type="http://schemas.openxmlformats.org/officeDocument/2006/relationships/hyperlink" Target="https://qiita.com/io0323/items/cf840c2857c8df39ec99" TargetMode="External"/><Relationship Id="rId12" Type="http://schemas.openxmlformats.org/officeDocument/2006/relationships/hyperlink" Target="https://qiita.com/kazuneet/items/8b890ba7903326209729" TargetMode="External"/><Relationship Id="rId13" Type="http://schemas.openxmlformats.org/officeDocument/2006/relationships/hyperlink" Target="https://zenn.dev/every_ai_recipe/articles/ai-memory-work-mode-settings" TargetMode="Externa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zenn.dev/chalcedony/articles/892dd57656c2b4" TargetMode="External"/><Relationship Id="rId3" Type="http://schemas.openxmlformats.org/officeDocument/2006/relationships/hyperlink" Target="https://qiita.com/nakahashi-naoto/items/597e06b90a8f10e2947e" TargetMode="External"/><Relationship Id="rId4" Type="http://schemas.openxmlformats.org/officeDocument/2006/relationships/hyperlink" Target="https://qiita.com/ennagara128/items/ac5346391df3f0dabd54" TargetMode="External"/><Relationship Id="rId5" Type="http://schemas.openxmlformats.org/officeDocument/2006/relationships/hyperlink" Target="https://zenn.dev/id774/articles/ec528731c19d05" TargetMode="External"/><Relationship Id="rId6" Type="http://schemas.openxmlformats.org/officeDocument/2006/relationships/hyperlink" Target="https://zenn.dev/suwash/articles/x-algorithm_20260814" TargetMode="External"/><Relationship Id="rId7" Type="http://schemas.openxmlformats.org/officeDocument/2006/relationships/hyperlink" Target="https://zenn.dev/takeshi_teshima/articles/d9cca55dcd7119" TargetMode="External"/><Relationship Id="rId8" Type="http://schemas.openxmlformats.org/officeDocument/2006/relationships/hyperlink" Target="https://qiita.com/okssusucha/items/7f6571fe3910ee3e8835" TargetMode="External"/><Relationship Id="rId9" Type="http://schemas.openxmlformats.org/officeDocument/2006/relationships/hyperlink" Target="https://qiita.com/Skillsheet-Port/items/0ea38eeebb9b94dc708e" TargetMode="External"/><Relationship Id="rId10" Type="http://schemas.openxmlformats.org/officeDocument/2006/relationships/hyperlink" Target="https://zenn.dev/rindokulab/articles/0c583944dfb480" TargetMode="External"/><Relationship Id="rId11" Type="http://schemas.openxmlformats.org/officeDocument/2006/relationships/hyperlink" Target="https://zenn.dev/every_ai_recipe/articles/ai-five-role-roundtable" TargetMode="External"/><Relationship Id="rId12" Type="http://schemas.openxmlformats.org/officeDocument/2006/relationships/hyperlink" Target="https://zenn.dev/every_ai_recipe/articles/ai-char-count-two-step-fix" TargetMode="External"/><Relationship Id="rId13" Type="http://schemas.openxmlformats.org/officeDocument/2006/relationships/hyperlink" Target="https://qiita.com/ramutarafarm/items/3625867c29a869e9f94d" TargetMode="Externa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qiita.com/bacbac/items/b8b6ce31be3b4d4ae9fb" TargetMode="External"/><Relationship Id="rId3" Type="http://schemas.openxmlformats.org/officeDocument/2006/relationships/hyperlink" Target="https://zenn.dev/takumi_machino/articles/gpt-work-teck-news" TargetMode="External"/><Relationship Id="rId4" Type="http://schemas.openxmlformats.org/officeDocument/2006/relationships/hyperlink" Target="https://qiita.com/Rapls/items/8acc4aa395b04c184e96" TargetMode="External"/><Relationship Id="rId5" Type="http://schemas.openxmlformats.org/officeDocument/2006/relationships/hyperlink" Target="https://zenn.dev/team_nishika/articles/783eb697ef415e" TargetMode="External"/><Relationship Id="rId6" Type="http://schemas.openxmlformats.org/officeDocument/2006/relationships/hyperlink" Target="https://zenn.dev/kmdkmd/articles/chrome-extension-trademark-rename" TargetMode="External"/><Relationship Id="rId7" Type="http://schemas.openxmlformats.org/officeDocument/2006/relationships/hyperlink" Target="https://qiita.com/Skillsheet-Port/items/4cd692961ed03421b794" TargetMode="External"/><Relationship Id="rId8" Type="http://schemas.openxmlformats.org/officeDocument/2006/relationships/hyperlink" Target="https://zenn.dev/neotechpark/articles/3f87eacadce833" TargetMode="External"/><Relationship Id="rId9" Type="http://schemas.openxmlformats.org/officeDocument/2006/relationships/hyperlink" Target="https://zenn.dev/jinfuroi/articles/b2e3c2c66f7d74" TargetMode="External"/><Relationship Id="rId10" Type="http://schemas.openxmlformats.org/officeDocument/2006/relationships/hyperlink" Target="https://qiita.com/masa1113/items/a5093e0c5cd81ff56e10" TargetMode="External"/><Relationship Id="rId11" Type="http://schemas.openxmlformats.org/officeDocument/2006/relationships/hyperlink" Target="https://qiita.com/emuyn/items/4379a56943d36d20ef02" TargetMode="External"/><Relationship Id="rId12" Type="http://schemas.openxmlformats.org/officeDocument/2006/relationships/hyperlink" Target="https://zenn.dev/hajimeteradio3/articles/c710f3020097ae" TargetMode="External"/><Relationship Id="rId13" Type="http://schemas.openxmlformats.org/officeDocument/2006/relationships/hyperlink" Target="https://zenn.dev/jinfuroi/articles/f5ee4abc096810" TargetMode="Externa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qiita.com/AlexAlex/items/553b864dd25c0ce81adb" TargetMode="External"/><Relationship Id="rId3" Type="http://schemas.openxmlformats.org/officeDocument/2006/relationships/hyperlink" Target="https://qiita.com/Yukidarusan/items/334a22d80a482e70e914" TargetMode="External"/><Relationship Id="rId4" Type="http://schemas.openxmlformats.org/officeDocument/2006/relationships/hyperlink" Target="https://qiita.com/moname_ai/items/b665e51fb6f754bc768b" TargetMode="External"/><Relationship Id="rId5" Type="http://schemas.openxmlformats.org/officeDocument/2006/relationships/hyperlink" Target="https://qiita.com/ha-te/items/0b0bd40a8806572743c8" TargetMode="External"/><Relationship Id="rId6" Type="http://schemas.openxmlformats.org/officeDocument/2006/relationships/hyperlink" Target="https://qiita.com/ha-te/items/a477099b8255f58c12be" TargetMode="External"/><Relationship Id="rId7" Type="http://schemas.openxmlformats.org/officeDocument/2006/relationships/hyperlink" Target="https://qiita.com/tingpromax/items/dd1d19ce3cf8263ecb35" TargetMode="External"/><Relationship Id="rId8" Type="http://schemas.openxmlformats.org/officeDocument/2006/relationships/hyperlink" Target="https://qiita.com/tingpromax/items/35c9b6bd9f8b8732f7b7" TargetMode="External"/><Relationship Id="rId9" Type="http://schemas.openxmlformats.org/officeDocument/2006/relationships/hyperlink" Target="https://zenn.dev/sapolas/articles/7e36aca3347e06" TargetMode="External"/><Relationship Id="rId10" Type="http://schemas.openxmlformats.org/officeDocument/2006/relationships/hyperlink" Target="https://zenn.dev/kenta_kadowaki/articles/56d3a502356202"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1A25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3063240"/>
            <a:ext cx="12188952" cy="54864"/>
          </a:xfrm>
          <a:prstGeom prst="rect">
            <a:avLst/>
          </a:prstGeom>
          <a:solidFill>
            <a:srgbClr val="52BE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463040"/>
            <a:ext cx="10698480" cy="1371600"/>
          </a:xfrm>
          <a:prstGeom prst="rect">
            <a:avLst/>
          </a:prstGeom>
          <a:noFill/>
        </p:spPr>
        <p:txBody>
          <a:bodyPr wrap="square">
            <a:spAutoFit/>
          </a:bodyPr>
          <a:lstStyle/>
          <a:p>
            <a:pPr algn="ctr"/>
            <a:r>
              <a:rPr sz="4400" b="1">
                <a:solidFill>
                  <a:srgbClr val="FFFFFF"/>
                </a:solidFill>
              </a:rPr>
              <a:t>AI ニュース日報</a:t>
            </a:r>
          </a:p>
        </p:txBody>
      </p:sp>
      <p:sp>
        <p:nvSpPr>
          <p:cNvPr id="5" name="TextBox 4"/>
          <p:cNvSpPr txBox="1"/>
          <p:nvPr/>
        </p:nvSpPr>
        <p:spPr>
          <a:xfrm>
            <a:off x="731520" y="2743200"/>
            <a:ext cx="10698480" cy="640080"/>
          </a:xfrm>
          <a:prstGeom prst="rect">
            <a:avLst/>
          </a:prstGeom>
          <a:noFill/>
        </p:spPr>
        <p:txBody>
          <a:bodyPr wrap="square">
            <a:spAutoFit/>
          </a:bodyPr>
          <a:lstStyle/>
          <a:p>
            <a:pPr algn="ctr"/>
            <a:r>
              <a:rPr sz="2200" b="0">
                <a:solidFill>
                  <a:srgbClr val="AED6F1"/>
                </a:solidFill>
              </a:rPr>
              <a:t>2026-08-17</a:t>
            </a:r>
          </a:p>
        </p:txBody>
      </p:sp>
      <p:sp>
        <p:nvSpPr>
          <p:cNvPr id="6" name="TextBox 5"/>
          <p:cNvSpPr txBox="1"/>
          <p:nvPr/>
        </p:nvSpPr>
        <p:spPr>
          <a:xfrm>
            <a:off x="731520" y="3474720"/>
            <a:ext cx="10698480" cy="548640"/>
          </a:xfrm>
          <a:prstGeom prst="rect">
            <a:avLst/>
          </a:prstGeom>
          <a:noFill/>
        </p:spPr>
        <p:txBody>
          <a:bodyPr wrap="square">
            <a:spAutoFit/>
          </a:bodyPr>
          <a:lstStyle/>
          <a:p>
            <a:pPr algn="ctr"/>
            <a:r>
              <a:rPr sz="1800" b="0">
                <a:solidFill>
                  <a:srgbClr val="85C1E9"/>
                </a:solidFill>
              </a:rPr>
              <a:t>総収集記事数：220 件</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1A25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005840"/>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37160" cy="1005840"/>
          </a:xfrm>
          <a:prstGeom prst="rect">
            <a:avLst/>
          </a:prstGeom>
          <a:solidFill>
            <a:srgbClr val="52BE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137160"/>
            <a:ext cx="11430000" cy="777240"/>
          </a:xfrm>
          <a:prstGeom prst="rect">
            <a:avLst/>
          </a:prstGeom>
          <a:noFill/>
        </p:spPr>
        <p:txBody>
          <a:bodyPr wrap="square">
            <a:spAutoFit/>
          </a:bodyPr>
          <a:lstStyle/>
          <a:p>
            <a:pPr algn="l"/>
            <a:r>
              <a:rPr sz="2600" b="1">
                <a:solidFill>
                  <a:srgbClr val="FFFFFF"/>
                </a:solidFill>
              </a:rPr>
              <a:t>本日のテーマ別サマリー</a:t>
            </a:r>
          </a:p>
        </p:txBody>
      </p:sp>
      <p:graphicFrame>
        <p:nvGraphicFramePr>
          <p:cNvPr id="6" name="Table 5"/>
          <p:cNvGraphicFramePr>
            <a:graphicFrameLocks noGrp="1"/>
          </p:cNvGraphicFramePr>
          <p:nvPr/>
        </p:nvGraphicFramePr>
        <p:xfrm>
          <a:off x="1371600" y="1554480"/>
          <a:ext cx="9418320" cy="4754880"/>
        </p:xfrm>
        <a:graphic>
          <a:graphicData uri="http://schemas.openxmlformats.org/drawingml/2006/table">
            <a:tbl>
              <a:tblPr firstRow="1" bandRow="1">
                <a:tableStyleId>{5C22544A-7EE6-4342-B048-85BDC9FD1C3A}</a:tableStyleId>
              </a:tblPr>
              <a:tblGrid>
                <a:gridCol w="5760720"/>
                <a:gridCol w="1737360"/>
                <a:gridCol w="1920240"/>
              </a:tblGrid>
              <a:tr h="594360">
                <a:tc>
                  <a:txBody>
                    <a:bodyPr/>
                    <a:lstStyle/>
                    <a:p>
                      <a:pPr algn="l"/>
                      <a:r>
                        <a:rPr sz="1100" b="1">
                          <a:solidFill>
                            <a:srgbClr val="FFFFFF"/>
                          </a:solidFill>
                        </a:rPr>
                        <a:t>テーマ</a:t>
                      </a:r>
                    </a:p>
                  </a:txBody>
                  <a:tcPr>
                    <a:solidFill>
                      <a:srgbClr val="233C5F"/>
                    </a:solidFill>
                  </a:tcPr>
                </a:tc>
                <a:tc>
                  <a:txBody>
                    <a:bodyPr/>
                    <a:lstStyle/>
                    <a:p>
                      <a:pPr algn="ctr"/>
                      <a:r>
                        <a:rPr sz="1100" b="1">
                          <a:solidFill>
                            <a:srgbClr val="FFFFFF"/>
                          </a:solidFill>
                        </a:rPr>
                        <a:t>件数</a:t>
                      </a:r>
                    </a:p>
                  </a:txBody>
                  <a:tcPr>
                    <a:solidFill>
                      <a:srgbClr val="233C5F"/>
                    </a:solidFill>
                  </a:tcPr>
                </a:tc>
                <a:tc>
                  <a:txBody>
                    <a:bodyPr/>
                    <a:lstStyle/>
                    <a:p>
                      <a:pPr algn="ctr"/>
                      <a:r>
                        <a:rPr sz="1100" b="1">
                          <a:solidFill>
                            <a:srgbClr val="FFFFFF"/>
                          </a:solidFill>
                        </a:rPr>
                        <a:t>割合</a:t>
                      </a:r>
                    </a:p>
                  </a:txBody>
                  <a:tcPr>
                    <a:solidFill>
                      <a:srgbClr val="233C5F"/>
                    </a:solidFill>
                  </a:tcPr>
                </a:tc>
              </a:tr>
              <a:tr h="594360">
                <a:tc>
                  <a:txBody>
                    <a:bodyPr/>
                    <a:lstStyle/>
                    <a:p>
                      <a:pPr algn="l"/>
                      <a:r>
                        <a:rPr sz="1200" b="0">
                          <a:solidFill>
                            <a:srgbClr val="D0E4F7"/>
                          </a:solidFill>
                        </a:rPr>
                        <a:t>● IT運用・自動化</a:t>
                      </a:r>
                    </a:p>
                  </a:txBody>
                  <a:tcPr>
                    <a:solidFill>
                      <a:srgbClr val="1E2D47"/>
                    </a:solidFill>
                  </a:tcPr>
                </a:tc>
                <a:tc>
                  <a:txBody>
                    <a:bodyPr/>
                    <a:lstStyle/>
                    <a:p>
                      <a:pPr algn="ctr"/>
                      <a:r>
                        <a:rPr sz="1200" b="0">
                          <a:solidFill>
                            <a:srgbClr val="E74C3C"/>
                          </a:solidFill>
                        </a:rPr>
                        <a:t>9 件</a:t>
                      </a:r>
                    </a:p>
                  </a:txBody>
                  <a:tcPr>
                    <a:solidFill>
                      <a:srgbClr val="1E2D47"/>
                    </a:solidFill>
                  </a:tcPr>
                </a:tc>
                <a:tc>
                  <a:txBody>
                    <a:bodyPr/>
                    <a:lstStyle/>
                    <a:p>
                      <a:pPr algn="ctr"/>
                      <a:r>
                        <a:rPr sz="1200" b="0">
                          <a:solidFill>
                            <a:srgbClr val="D0E4F7"/>
                          </a:solidFill>
                        </a:rPr>
                        <a:t>3.5%</a:t>
                      </a:r>
                    </a:p>
                  </a:txBody>
                  <a:tcPr>
                    <a:solidFill>
                      <a:srgbClr val="1E2D47"/>
                    </a:solidFill>
                  </a:tcPr>
                </a:tc>
              </a:tr>
              <a:tr h="594360">
                <a:tc>
                  <a:txBody>
                    <a:bodyPr/>
                    <a:lstStyle/>
                    <a:p>
                      <a:pPr algn="l"/>
                      <a:r>
                        <a:rPr sz="1200" b="0">
                          <a:solidFill>
                            <a:srgbClr val="D0E4F7"/>
                          </a:solidFill>
                        </a:rPr>
                        <a:t>● RAG・検索基盤設計</a:t>
                      </a:r>
                    </a:p>
                  </a:txBody>
                  <a:tcPr>
                    <a:solidFill>
                      <a:srgbClr val="162238"/>
                    </a:solidFill>
                  </a:tcPr>
                </a:tc>
                <a:tc>
                  <a:txBody>
                    <a:bodyPr/>
                    <a:lstStyle/>
                    <a:p>
                      <a:pPr algn="ctr"/>
                      <a:r>
                        <a:rPr sz="1200" b="0">
                          <a:solidFill>
                            <a:srgbClr val="2980B9"/>
                          </a:solidFill>
                        </a:rPr>
                        <a:t>39 件</a:t>
                      </a:r>
                    </a:p>
                  </a:txBody>
                  <a:tcPr>
                    <a:solidFill>
                      <a:srgbClr val="162238"/>
                    </a:solidFill>
                  </a:tcPr>
                </a:tc>
                <a:tc>
                  <a:txBody>
                    <a:bodyPr/>
                    <a:lstStyle/>
                    <a:p>
                      <a:pPr algn="ctr"/>
                      <a:r>
                        <a:rPr sz="1200" b="0">
                          <a:solidFill>
                            <a:srgbClr val="D0E4F7"/>
                          </a:solidFill>
                        </a:rPr>
                        <a:t>15.1%</a:t>
                      </a:r>
                    </a:p>
                  </a:txBody>
                  <a:tcPr>
                    <a:solidFill>
                      <a:srgbClr val="162238"/>
                    </a:solidFill>
                  </a:tcPr>
                </a:tc>
              </a:tr>
              <a:tr h="594360">
                <a:tc>
                  <a:txBody>
                    <a:bodyPr/>
                    <a:lstStyle/>
                    <a:p>
                      <a:pPr algn="l"/>
                      <a:r>
                        <a:rPr sz="1200" b="0">
                          <a:solidFill>
                            <a:srgbClr val="D0E4F7"/>
                          </a:solidFill>
                        </a:rPr>
                        <a:t>● AIエージェント開発・運用</a:t>
                      </a:r>
                    </a:p>
                  </a:txBody>
                  <a:tcPr>
                    <a:solidFill>
                      <a:srgbClr val="1E2D47"/>
                    </a:solidFill>
                  </a:tcPr>
                </a:tc>
                <a:tc>
                  <a:txBody>
                    <a:bodyPr/>
                    <a:lstStyle/>
                    <a:p>
                      <a:pPr algn="ctr"/>
                      <a:r>
                        <a:rPr sz="1200" b="0">
                          <a:solidFill>
                            <a:srgbClr val="8439AD"/>
                          </a:solidFill>
                        </a:rPr>
                        <a:t>65 件</a:t>
                      </a:r>
                    </a:p>
                  </a:txBody>
                  <a:tcPr>
                    <a:solidFill>
                      <a:srgbClr val="1E2D47"/>
                    </a:solidFill>
                  </a:tcPr>
                </a:tc>
                <a:tc>
                  <a:txBody>
                    <a:bodyPr/>
                    <a:lstStyle/>
                    <a:p>
                      <a:pPr algn="ctr"/>
                      <a:r>
                        <a:rPr sz="1200" b="0">
                          <a:solidFill>
                            <a:srgbClr val="D0E4F7"/>
                          </a:solidFill>
                        </a:rPr>
                        <a:t>25.2%</a:t>
                      </a:r>
                    </a:p>
                  </a:txBody>
                  <a:tcPr>
                    <a:solidFill>
                      <a:srgbClr val="1E2D47"/>
                    </a:solidFill>
                  </a:tcPr>
                </a:tc>
              </a:tr>
              <a:tr h="594360">
                <a:tc>
                  <a:txBody>
                    <a:bodyPr/>
                    <a:lstStyle/>
                    <a:p>
                      <a:pPr algn="l"/>
                      <a:r>
                        <a:rPr sz="1200" b="0">
                          <a:solidFill>
                            <a:srgbClr val="D0E4F7"/>
                          </a:solidFill>
                        </a:rPr>
                        <a:t>● 生成AI活用の現場実践・他社事例</a:t>
                      </a:r>
                    </a:p>
                  </a:txBody>
                  <a:tcPr>
                    <a:solidFill>
                      <a:srgbClr val="162238"/>
                    </a:solidFill>
                  </a:tcPr>
                </a:tc>
                <a:tc>
                  <a:txBody>
                    <a:bodyPr/>
                    <a:lstStyle/>
                    <a:p>
                      <a:pPr algn="ctr"/>
                      <a:r>
                        <a:rPr sz="1200" b="0">
                          <a:solidFill>
                            <a:srgbClr val="27AE60"/>
                          </a:solidFill>
                        </a:rPr>
                        <a:t>33 件</a:t>
                      </a:r>
                    </a:p>
                  </a:txBody>
                  <a:tcPr>
                    <a:solidFill>
                      <a:srgbClr val="162238"/>
                    </a:solidFill>
                  </a:tcPr>
                </a:tc>
                <a:tc>
                  <a:txBody>
                    <a:bodyPr/>
                    <a:lstStyle/>
                    <a:p>
                      <a:pPr algn="ctr"/>
                      <a:r>
                        <a:rPr sz="1200" b="0">
                          <a:solidFill>
                            <a:srgbClr val="D0E4F7"/>
                          </a:solidFill>
                        </a:rPr>
                        <a:t>12.8%</a:t>
                      </a:r>
                    </a:p>
                  </a:txBody>
                  <a:tcPr>
                    <a:solidFill>
                      <a:srgbClr val="162238"/>
                    </a:solidFill>
                  </a:tcPr>
                </a:tc>
              </a:tr>
              <a:tr h="594360">
                <a:tc>
                  <a:txBody>
                    <a:bodyPr/>
                    <a:lstStyle/>
                    <a:p>
                      <a:pPr algn="l"/>
                      <a:r>
                        <a:rPr sz="1200" b="0">
                          <a:solidFill>
                            <a:srgbClr val="D0E4F7"/>
                          </a:solidFill>
                        </a:rPr>
                        <a:t>● AIガバナンス・セキュリティ・社内ルール</a:t>
                      </a:r>
                    </a:p>
                  </a:txBody>
                  <a:tcPr>
                    <a:solidFill>
                      <a:srgbClr val="1E2D47"/>
                    </a:solidFill>
                  </a:tcPr>
                </a:tc>
                <a:tc>
                  <a:txBody>
                    <a:bodyPr/>
                    <a:lstStyle/>
                    <a:p>
                      <a:pPr algn="ctr"/>
                      <a:r>
                        <a:rPr sz="1200" b="0">
                          <a:solidFill>
                            <a:srgbClr val="E67E22"/>
                          </a:solidFill>
                        </a:rPr>
                        <a:t>7 件</a:t>
                      </a:r>
                    </a:p>
                  </a:txBody>
                  <a:tcPr>
                    <a:solidFill>
                      <a:srgbClr val="1E2D47"/>
                    </a:solidFill>
                  </a:tcPr>
                </a:tc>
                <a:tc>
                  <a:txBody>
                    <a:bodyPr/>
                    <a:lstStyle/>
                    <a:p>
                      <a:pPr algn="ctr"/>
                      <a:r>
                        <a:rPr sz="1200" b="0">
                          <a:solidFill>
                            <a:srgbClr val="D0E4F7"/>
                          </a:solidFill>
                        </a:rPr>
                        <a:t>2.7%</a:t>
                      </a:r>
                    </a:p>
                  </a:txBody>
                  <a:tcPr>
                    <a:solidFill>
                      <a:srgbClr val="1E2D47"/>
                    </a:solidFill>
                  </a:tcPr>
                </a:tc>
              </a:tr>
              <a:tr h="594360">
                <a:tc>
                  <a:txBody>
                    <a:bodyPr/>
                    <a:lstStyle/>
                    <a:p>
                      <a:pPr algn="l"/>
                      <a:r>
                        <a:rPr sz="1200" b="0">
                          <a:solidFill>
                            <a:srgbClr val="D0E4F7"/>
                          </a:solidFill>
                        </a:rPr>
                        <a:t>● その他</a:t>
                      </a:r>
                    </a:p>
                  </a:txBody>
                  <a:tcPr>
                    <a:solidFill>
                      <a:srgbClr val="162238"/>
                    </a:solidFill>
                  </a:tcPr>
                </a:tc>
                <a:tc>
                  <a:txBody>
                    <a:bodyPr/>
                    <a:lstStyle/>
                    <a:p>
                      <a:pPr algn="ctr"/>
                      <a:r>
                        <a:rPr sz="1200" b="0">
                          <a:solidFill>
                            <a:srgbClr val="7F8C8D"/>
                          </a:solidFill>
                        </a:rPr>
                        <a:t>105 件</a:t>
                      </a:r>
                    </a:p>
                  </a:txBody>
                  <a:tcPr>
                    <a:solidFill>
                      <a:srgbClr val="162238"/>
                    </a:solidFill>
                  </a:tcPr>
                </a:tc>
                <a:tc>
                  <a:txBody>
                    <a:bodyPr/>
                    <a:lstStyle/>
                    <a:p>
                      <a:pPr algn="ctr"/>
                      <a:r>
                        <a:rPr sz="1200" b="0">
                          <a:solidFill>
                            <a:srgbClr val="D0E4F7"/>
                          </a:solidFill>
                        </a:rPr>
                        <a:t>40.7%</a:t>
                      </a:r>
                    </a:p>
                  </a:txBody>
                  <a:tcPr>
                    <a:solidFill>
                      <a:srgbClr val="162238"/>
                    </a:solidFill>
                  </a:tcPr>
                </a:tc>
              </a:tr>
              <a:tr h="594360">
                <a:tc>
                  <a:txBody>
                    <a:bodyPr/>
                    <a:lstStyle/>
                    <a:p>
                      <a:pPr algn="l"/>
                      <a:r>
                        <a:rPr sz="1200" b="1">
                          <a:solidFill>
                            <a:srgbClr val="FFFFFF"/>
                          </a:solidFill>
                        </a:rPr>
                        <a:t>合計</a:t>
                      </a:r>
                    </a:p>
                  </a:txBody>
                  <a:tcPr>
                    <a:solidFill>
                      <a:srgbClr val="2D405C"/>
                    </a:solidFill>
                  </a:tcPr>
                </a:tc>
                <a:tc>
                  <a:txBody>
                    <a:bodyPr/>
                    <a:lstStyle/>
                    <a:p>
                      <a:pPr algn="ctr"/>
                      <a:r>
                        <a:rPr sz="1200" b="1">
                          <a:solidFill>
                            <a:srgbClr val="FFFFFF"/>
                          </a:solidFill>
                        </a:rPr>
                        <a:t>258 件</a:t>
                      </a:r>
                    </a:p>
                  </a:txBody>
                  <a:tcPr>
                    <a:solidFill>
                      <a:srgbClr val="2D405C"/>
                    </a:solidFill>
                  </a:tcPr>
                </a:tc>
                <a:tc>
                  <a:txBody>
                    <a:bodyPr/>
                    <a:lstStyle/>
                    <a:p>
                      <a:pPr algn="ctr"/>
                      <a:r>
                        <a:rPr sz="1200" b="1">
                          <a:solidFill>
                            <a:srgbClr val="FFFFFF"/>
                          </a:solidFill>
                        </a:rPr>
                        <a:t>100.0%</a:t>
                      </a:r>
                    </a:p>
                  </a:txBody>
                  <a:tcPr>
                    <a:solidFill>
                      <a:srgbClr val="2D405C"/>
                    </a:solidFill>
                  </a:tcPr>
                </a:tc>
              </a:tr>
            </a:tbl>
          </a:graphicData>
        </a:graphic>
      </p:graphicFrame>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1A25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960120"/>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64592" cy="960120"/>
          </a:xfrm>
          <a:prstGeom prst="rect">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91440"/>
            <a:ext cx="11521440" cy="502920"/>
          </a:xfrm>
          <a:prstGeom prst="rect">
            <a:avLst/>
          </a:prstGeom>
          <a:noFill/>
        </p:spPr>
        <p:txBody>
          <a:bodyPr wrap="square">
            <a:spAutoFit/>
          </a:bodyPr>
          <a:lstStyle/>
          <a:p>
            <a:pPr algn="l"/>
            <a:r>
              <a:rPr sz="2200" b="1">
                <a:solidFill>
                  <a:srgbClr val="FFFFFF"/>
                </a:solidFill>
              </a:rPr>
              <a:t>IT運用・自動化　ピックアップ</a:t>
            </a:r>
          </a:p>
        </p:txBody>
      </p:sp>
      <p:sp>
        <p:nvSpPr>
          <p:cNvPr id="6" name="TextBox 5"/>
          <p:cNvSpPr txBox="1"/>
          <p:nvPr/>
        </p:nvSpPr>
        <p:spPr>
          <a:xfrm>
            <a:off x="365760" y="594360"/>
            <a:ext cx="11521440" cy="320040"/>
          </a:xfrm>
          <a:prstGeom prst="rect">
            <a:avLst/>
          </a:prstGeom>
          <a:noFill/>
        </p:spPr>
        <p:txBody>
          <a:bodyPr wrap="square">
            <a:spAutoFit/>
          </a:bodyPr>
          <a:lstStyle/>
          <a:p>
            <a:pPr algn="l"/>
            <a:r>
              <a:rPr sz="1000" b="0">
                <a:solidFill>
                  <a:srgbClr val="BED9F5"/>
                </a:solidFill>
              </a:rPr>
              <a:t>TOP PICKS</a:t>
            </a:r>
          </a:p>
        </p:txBody>
      </p:sp>
      <p:sp>
        <p:nvSpPr>
          <p:cNvPr id="7" name="Rectangle 6"/>
          <p:cNvSpPr/>
          <p:nvPr/>
        </p:nvSpPr>
        <p:spPr>
          <a:xfrm>
            <a:off x="274320" y="1106424"/>
            <a:ext cx="11640312" cy="1795272"/>
          </a:xfrm>
          <a:prstGeom prst="rect">
            <a:avLst/>
          </a:prstGeom>
          <a:solidFill>
            <a:srgbClr val="1E2D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274320" y="1106424"/>
            <a:ext cx="64008" cy="1795272"/>
          </a:xfrm>
          <a:prstGeom prst="rect">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1161288"/>
            <a:ext cx="11247120" cy="590550"/>
          </a:xfrm>
          <a:prstGeom prst="rect">
            <a:avLst/>
          </a:prstGeom>
          <a:noFill/>
        </p:spPr>
        <p:txBody>
          <a:bodyPr wrap="square">
            <a:spAutoFit/>
          </a:bodyPr>
          <a:lstStyle/>
          <a:p>
            <a:r>
              <a:rPr sz="900" b="1">
                <a:solidFill>
                  <a:srgbClr val="E74C3C"/>
                </a:solidFill>
              </a:rPr>
              <a:t>[Qiita]  </a:t>
            </a:r>
            <a:r>
              <a:rPr sz="1200" b="1">
                <a:solidFill>
                  <a:srgbClr val="FFFFFF"/>
                </a:solidFill>
              </a:rPr>
              <a:t>最小限のターミナルCoding Agent「pi」を動かす — インストールからローカルvLLM連携、プラグインと学習経路まで</a:t>
            </a:r>
            <a:r>
              <a:rPr sz="900">
                <a:solidFill>
                  <a:srgbClr val="7F8C8D"/>
                </a:solidFill>
              </a:rPr>
              <a:t>  (2026-08-16)</a:t>
            </a:r>
          </a:p>
        </p:txBody>
      </p:sp>
      <p:sp>
        <p:nvSpPr>
          <p:cNvPr id="10" name="TextBox 9"/>
          <p:cNvSpPr txBox="1"/>
          <p:nvPr/>
        </p:nvSpPr>
        <p:spPr>
          <a:xfrm>
            <a:off x="502920" y="1751838"/>
            <a:ext cx="11247120" cy="400050"/>
          </a:xfrm>
          <a:prstGeom prst="rect">
            <a:avLst/>
          </a:prstGeom>
          <a:noFill/>
        </p:spPr>
        <p:txBody>
          <a:bodyPr wrap="none">
            <a:spAutoFit/>
          </a:bodyPr>
          <a:lstStyle/>
          <a:p>
            <a:r>
              <a:rPr sz="800">
                <a:solidFill>
                  <a:srgbClr val="5DADE8"/>
                </a:solidFill>
                <a:hlinkClick r:id="rId2"/>
              </a:rPr>
              <a:t>https://qiita.com/engchina/items/561b8d0141d86eeb9374</a:t>
            </a:r>
          </a:p>
        </p:txBody>
      </p:sp>
      <p:sp>
        <p:nvSpPr>
          <p:cNvPr id="11" name="TextBox 10"/>
          <p:cNvSpPr txBox="1"/>
          <p:nvPr/>
        </p:nvSpPr>
        <p:spPr>
          <a:xfrm>
            <a:off x="502920" y="2151888"/>
            <a:ext cx="11247120" cy="762000"/>
          </a:xfrm>
          <a:prstGeom prst="rect">
            <a:avLst/>
          </a:prstGeom>
          <a:noFill/>
        </p:spPr>
        <p:txBody>
          <a:bodyPr wrap="square">
            <a:spAutoFit/>
          </a:bodyPr>
          <a:lstStyle/>
          <a:p>
            <a:r>
              <a:rPr sz="900">
                <a:solidFill>
                  <a:srgbClr val="C0D8F0"/>
                </a:solidFill>
              </a:rPr>
              <a:t>はじめに
ターミナル上のCoding Agent（Claude Code、Codex、opencodeなど）は、すでに日常の作業に組み込まれています。一方で、そうしたツールは機能の量が多い分、自分のワークフローに合わない部分が出ても、内側を触れずに我慢せざるを得ないことがあります。
別のアプロー</a:t>
            </a:r>
          </a:p>
        </p:txBody>
      </p:sp>
      <p:sp>
        <p:nvSpPr>
          <p:cNvPr id="12" name="Rectangle 11"/>
          <p:cNvSpPr/>
          <p:nvPr/>
        </p:nvSpPr>
        <p:spPr>
          <a:xfrm>
            <a:off x="274320" y="3011424"/>
            <a:ext cx="11640312" cy="1795272"/>
          </a:xfrm>
          <a:prstGeom prst="rect">
            <a:avLst/>
          </a:prstGeom>
          <a:solidFill>
            <a:srgbClr val="1622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74320" y="3011424"/>
            <a:ext cx="64008" cy="1795272"/>
          </a:xfrm>
          <a:prstGeom prst="rect">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02920" y="3066288"/>
            <a:ext cx="11247120" cy="590550"/>
          </a:xfrm>
          <a:prstGeom prst="rect">
            <a:avLst/>
          </a:prstGeom>
          <a:noFill/>
        </p:spPr>
        <p:txBody>
          <a:bodyPr wrap="square">
            <a:spAutoFit/>
          </a:bodyPr>
          <a:lstStyle/>
          <a:p>
            <a:r>
              <a:rPr sz="900" b="1">
                <a:solidFill>
                  <a:srgbClr val="E74C3C"/>
                </a:solidFill>
              </a:rPr>
              <a:t>[Zenn]  </a:t>
            </a:r>
            <a:r>
              <a:rPr sz="1200" b="1">
                <a:solidFill>
                  <a:srgbClr val="FFFFFF"/>
                </a:solidFill>
              </a:rPr>
              <a:t>140サービスの料金ページを15日間監視して、発効前の変更予告を5件拾った</a:t>
            </a:r>
            <a:r>
              <a:rPr sz="900">
                <a:solidFill>
                  <a:srgbClr val="7F8C8D"/>
                </a:solidFill>
              </a:rPr>
              <a:t>  (2026-08-16)</a:t>
            </a:r>
          </a:p>
        </p:txBody>
      </p:sp>
      <p:sp>
        <p:nvSpPr>
          <p:cNvPr id="15" name="TextBox 14"/>
          <p:cNvSpPr txBox="1"/>
          <p:nvPr/>
        </p:nvSpPr>
        <p:spPr>
          <a:xfrm>
            <a:off x="502920" y="3656838"/>
            <a:ext cx="11247120" cy="400050"/>
          </a:xfrm>
          <a:prstGeom prst="rect">
            <a:avLst/>
          </a:prstGeom>
          <a:noFill/>
        </p:spPr>
        <p:txBody>
          <a:bodyPr wrap="none">
            <a:spAutoFit/>
          </a:bodyPr>
          <a:lstStyle/>
          <a:p>
            <a:r>
              <a:rPr sz="800">
                <a:solidFill>
                  <a:srgbClr val="5DADE8"/>
                </a:solidFill>
                <a:hlinkClick r:id="rId3"/>
              </a:rPr>
              <a:t>https://zenn.dev/reskilling/articles/3104e660205dba</a:t>
            </a:r>
          </a:p>
        </p:txBody>
      </p:sp>
      <p:sp>
        <p:nvSpPr>
          <p:cNvPr id="16" name="TextBox 15"/>
          <p:cNvSpPr txBox="1"/>
          <p:nvPr/>
        </p:nvSpPr>
        <p:spPr>
          <a:xfrm>
            <a:off x="502920" y="4056888"/>
            <a:ext cx="11247120" cy="762000"/>
          </a:xfrm>
          <a:prstGeom prst="rect">
            <a:avLst/>
          </a:prstGeom>
          <a:noFill/>
        </p:spPr>
        <p:txBody>
          <a:bodyPr wrap="square">
            <a:spAutoFit/>
          </a:bodyPr>
          <a:lstStyle/>
          <a:p>
            <a:r>
              <a:rPr sz="900">
                <a:solidFill>
                  <a:srgbClr val="C0D8F0"/>
                </a:solidFill>
              </a:rPr>
              <a:t>料金体系変更1件（実質値上げ）、値上げ2件、モデル非推奨化予定1件、サポート変更1件。看板にしようとした数字は4回捨てました。
2026年8月から、LLM API と SaaS 合わせて140サービスの料金ページを、毎朝7時に取得しています。ページ本文を LLM で構造化し、前日との差分を残す仕組み</a:t>
            </a:r>
          </a:p>
        </p:txBody>
      </p:sp>
      <p:sp>
        <p:nvSpPr>
          <p:cNvPr id="17" name="Rectangle 16"/>
          <p:cNvSpPr/>
          <p:nvPr/>
        </p:nvSpPr>
        <p:spPr>
          <a:xfrm>
            <a:off x="274320" y="4916423"/>
            <a:ext cx="11640312" cy="1795272"/>
          </a:xfrm>
          <a:prstGeom prst="rect">
            <a:avLst/>
          </a:prstGeom>
          <a:solidFill>
            <a:srgbClr val="1E2D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274320" y="4916423"/>
            <a:ext cx="64008" cy="1795272"/>
          </a:xfrm>
          <a:prstGeom prst="rect">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02920" y="4971288"/>
            <a:ext cx="11247120" cy="590550"/>
          </a:xfrm>
          <a:prstGeom prst="rect">
            <a:avLst/>
          </a:prstGeom>
          <a:noFill/>
        </p:spPr>
        <p:txBody>
          <a:bodyPr wrap="square">
            <a:spAutoFit/>
          </a:bodyPr>
          <a:lstStyle/>
          <a:p>
            <a:r>
              <a:rPr sz="900" b="1">
                <a:solidFill>
                  <a:srgbClr val="E74C3C"/>
                </a:solidFill>
              </a:rPr>
              <a:t>[Qiita]  </a:t>
            </a:r>
            <a:r>
              <a:rPr sz="1200" b="1">
                <a:solidFill>
                  <a:srgbClr val="FFFFFF"/>
                </a:solidFill>
              </a:rPr>
              <a:t>自分のAI活用ワークフローを整理してみた</a:t>
            </a:r>
            <a:r>
              <a:rPr sz="900">
                <a:solidFill>
                  <a:srgbClr val="7F8C8D"/>
                </a:solidFill>
              </a:rPr>
              <a:t>  (2026-08-16)</a:t>
            </a:r>
          </a:p>
        </p:txBody>
      </p:sp>
      <p:sp>
        <p:nvSpPr>
          <p:cNvPr id="20" name="TextBox 19"/>
          <p:cNvSpPr txBox="1"/>
          <p:nvPr/>
        </p:nvSpPr>
        <p:spPr>
          <a:xfrm>
            <a:off x="502920" y="5561838"/>
            <a:ext cx="11247120" cy="400050"/>
          </a:xfrm>
          <a:prstGeom prst="rect">
            <a:avLst/>
          </a:prstGeom>
          <a:noFill/>
        </p:spPr>
        <p:txBody>
          <a:bodyPr wrap="none">
            <a:spAutoFit/>
          </a:bodyPr>
          <a:lstStyle/>
          <a:p>
            <a:r>
              <a:rPr sz="800">
                <a:solidFill>
                  <a:srgbClr val="5DADE8"/>
                </a:solidFill>
                <a:hlinkClick r:id="rId4"/>
              </a:rPr>
              <a:t>https://qiita.com/pugiemonn/items/2a330e7775da873b25c8</a:t>
            </a:r>
          </a:p>
        </p:txBody>
      </p:sp>
      <p:sp>
        <p:nvSpPr>
          <p:cNvPr id="21" name="TextBox 20"/>
          <p:cNvSpPr txBox="1"/>
          <p:nvPr/>
        </p:nvSpPr>
        <p:spPr>
          <a:xfrm>
            <a:off x="502920" y="5961888"/>
            <a:ext cx="11247120" cy="762000"/>
          </a:xfrm>
          <a:prstGeom prst="rect">
            <a:avLst/>
          </a:prstGeom>
          <a:noFill/>
        </p:spPr>
        <p:txBody>
          <a:bodyPr wrap="square">
            <a:spAutoFit/>
          </a:bodyPr>
          <a:lstStyle/>
          <a:p>
            <a:r>
              <a:rPr sz="900">
                <a:solidFill>
                  <a:srgbClr val="C0D8F0"/>
                </a:solidFill>
              </a:rPr>
              <a:t>最近、AIをどう使っているかを整理してみました。  
最初から「上流・中流・下流」と分けようとしていたわけではなく、使っていくうちに自然とこうなっていただけです。これが良い構成なのかどうかは正直わかりませんが、現状のスナップショットとして投稿します。
全体像
上流：企画・アーキテクチャ・ナ</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1A25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960120"/>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64592" cy="960120"/>
          </a:xfrm>
          <a:prstGeom prst="rect">
            <a:avLst/>
          </a:prstGeom>
          <a:solidFill>
            <a:srgbClr val="2980B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91440"/>
            <a:ext cx="11521440" cy="502920"/>
          </a:xfrm>
          <a:prstGeom prst="rect">
            <a:avLst/>
          </a:prstGeom>
          <a:noFill/>
        </p:spPr>
        <p:txBody>
          <a:bodyPr wrap="square">
            <a:spAutoFit/>
          </a:bodyPr>
          <a:lstStyle/>
          <a:p>
            <a:pPr algn="l"/>
            <a:r>
              <a:rPr sz="2200" b="1">
                <a:solidFill>
                  <a:srgbClr val="FFFFFF"/>
                </a:solidFill>
              </a:rPr>
              <a:t>RAG・検索基盤設計　ピックアップ</a:t>
            </a:r>
          </a:p>
        </p:txBody>
      </p:sp>
      <p:sp>
        <p:nvSpPr>
          <p:cNvPr id="6" name="TextBox 5"/>
          <p:cNvSpPr txBox="1"/>
          <p:nvPr/>
        </p:nvSpPr>
        <p:spPr>
          <a:xfrm>
            <a:off x="365760" y="594360"/>
            <a:ext cx="11521440" cy="320040"/>
          </a:xfrm>
          <a:prstGeom prst="rect">
            <a:avLst/>
          </a:prstGeom>
          <a:noFill/>
        </p:spPr>
        <p:txBody>
          <a:bodyPr wrap="square">
            <a:spAutoFit/>
          </a:bodyPr>
          <a:lstStyle/>
          <a:p>
            <a:pPr algn="l"/>
            <a:r>
              <a:rPr sz="1000" b="0">
                <a:solidFill>
                  <a:srgbClr val="BED9F5"/>
                </a:solidFill>
              </a:rPr>
              <a:t>TOP PICKS</a:t>
            </a:r>
          </a:p>
        </p:txBody>
      </p:sp>
      <p:sp>
        <p:nvSpPr>
          <p:cNvPr id="7" name="Rectangle 6"/>
          <p:cNvSpPr/>
          <p:nvPr/>
        </p:nvSpPr>
        <p:spPr>
          <a:xfrm>
            <a:off x="274320" y="1106424"/>
            <a:ext cx="11640312" cy="1795272"/>
          </a:xfrm>
          <a:prstGeom prst="rect">
            <a:avLst/>
          </a:prstGeom>
          <a:solidFill>
            <a:srgbClr val="1E2D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274320" y="1106424"/>
            <a:ext cx="64008" cy="1795272"/>
          </a:xfrm>
          <a:prstGeom prst="rect">
            <a:avLst/>
          </a:prstGeom>
          <a:solidFill>
            <a:srgbClr val="2980B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1161288"/>
            <a:ext cx="11247120" cy="590550"/>
          </a:xfrm>
          <a:prstGeom prst="rect">
            <a:avLst/>
          </a:prstGeom>
          <a:noFill/>
        </p:spPr>
        <p:txBody>
          <a:bodyPr wrap="square">
            <a:spAutoFit/>
          </a:bodyPr>
          <a:lstStyle/>
          <a:p>
            <a:r>
              <a:rPr sz="900" b="1">
                <a:solidFill>
                  <a:srgbClr val="2980B9"/>
                </a:solidFill>
              </a:rPr>
              <a:t>[Qiita]  </a:t>
            </a:r>
            <a:r>
              <a:rPr sz="1200" b="1">
                <a:solidFill>
                  <a:srgbClr val="FFFFFF"/>
                </a:solidFill>
              </a:rPr>
              <a:t>「RAGなら安全・正確」は本当？社内検索AIを守るプロンプトインジェクション入門</a:t>
            </a:r>
            <a:r>
              <a:rPr sz="900">
                <a:solidFill>
                  <a:srgbClr val="7F8C8D"/>
                </a:solidFill>
              </a:rPr>
              <a:t>  (2026-08-17)</a:t>
            </a:r>
          </a:p>
        </p:txBody>
      </p:sp>
      <p:sp>
        <p:nvSpPr>
          <p:cNvPr id="10" name="TextBox 9"/>
          <p:cNvSpPr txBox="1"/>
          <p:nvPr/>
        </p:nvSpPr>
        <p:spPr>
          <a:xfrm>
            <a:off x="502920" y="1751838"/>
            <a:ext cx="11247120" cy="400050"/>
          </a:xfrm>
          <a:prstGeom prst="rect">
            <a:avLst/>
          </a:prstGeom>
          <a:noFill/>
        </p:spPr>
        <p:txBody>
          <a:bodyPr wrap="none">
            <a:spAutoFit/>
          </a:bodyPr>
          <a:lstStyle/>
          <a:p>
            <a:r>
              <a:rPr sz="800">
                <a:solidFill>
                  <a:srgbClr val="5DADE8"/>
                </a:solidFill>
                <a:hlinkClick r:id="rId2"/>
              </a:rPr>
              <a:t>https://qiita.com/kz2021019/items/0bea917078b430ef107a</a:t>
            </a:r>
          </a:p>
        </p:txBody>
      </p:sp>
      <p:sp>
        <p:nvSpPr>
          <p:cNvPr id="11" name="TextBox 10"/>
          <p:cNvSpPr txBox="1"/>
          <p:nvPr/>
        </p:nvSpPr>
        <p:spPr>
          <a:xfrm>
            <a:off x="502920" y="2151888"/>
            <a:ext cx="11247120" cy="762000"/>
          </a:xfrm>
          <a:prstGeom prst="rect">
            <a:avLst/>
          </a:prstGeom>
          <a:noFill/>
        </p:spPr>
        <p:txBody>
          <a:bodyPr wrap="square">
            <a:spAutoFit/>
          </a:bodyPr>
          <a:lstStyle/>
          <a:p>
            <a:r>
              <a:rPr sz="900">
                <a:solidFill>
                  <a:srgbClr val="C0D8F0"/>
                </a:solidFill>
              </a:rPr>
              <a:t>社内規程やマニュアルを検索して回答するRAG（検索拡張生成）なら、生成AIの誤回答も情報漏えいも解決できる。そう期待されがちですが、RAGは安全性や正確性を自動的に保証する仕組みではありません。
検索元が古い、閲覧権限が混ざる、悪意ある指示を文書から読み込む。こうした問題を、生成モデルだけでは直せ</a:t>
            </a:r>
          </a:p>
        </p:txBody>
      </p:sp>
      <p:sp>
        <p:nvSpPr>
          <p:cNvPr id="12" name="Rectangle 11"/>
          <p:cNvSpPr/>
          <p:nvPr/>
        </p:nvSpPr>
        <p:spPr>
          <a:xfrm>
            <a:off x="274320" y="3011424"/>
            <a:ext cx="11640312" cy="1795272"/>
          </a:xfrm>
          <a:prstGeom prst="rect">
            <a:avLst/>
          </a:prstGeom>
          <a:solidFill>
            <a:srgbClr val="1622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74320" y="3011424"/>
            <a:ext cx="64008" cy="1795272"/>
          </a:xfrm>
          <a:prstGeom prst="rect">
            <a:avLst/>
          </a:prstGeom>
          <a:solidFill>
            <a:srgbClr val="2980B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02920" y="3066288"/>
            <a:ext cx="11247120" cy="590550"/>
          </a:xfrm>
          <a:prstGeom prst="rect">
            <a:avLst/>
          </a:prstGeom>
          <a:noFill/>
        </p:spPr>
        <p:txBody>
          <a:bodyPr wrap="square">
            <a:spAutoFit/>
          </a:bodyPr>
          <a:lstStyle/>
          <a:p>
            <a:r>
              <a:rPr sz="900" b="1">
                <a:solidFill>
                  <a:srgbClr val="2980B9"/>
                </a:solidFill>
              </a:rPr>
              <a:t>[Qiita]  </a:t>
            </a:r>
            <a:r>
              <a:rPr sz="1200" b="1">
                <a:solidFill>
                  <a:srgbClr val="FFFFFF"/>
                </a:solidFill>
              </a:rPr>
              <a:t>【初心者向け】サーバ屋が生成AIのAPIを初めて触る ④まとめ編 〜スマホで使える「ボイスメモ整理アプリ」をGASで作って完結〜</a:t>
            </a:r>
            <a:r>
              <a:rPr sz="900">
                <a:solidFill>
                  <a:srgbClr val="7F8C8D"/>
                </a:solidFill>
              </a:rPr>
              <a:t>  (2026-08-16)</a:t>
            </a:r>
          </a:p>
        </p:txBody>
      </p:sp>
      <p:sp>
        <p:nvSpPr>
          <p:cNvPr id="15" name="TextBox 14"/>
          <p:cNvSpPr txBox="1"/>
          <p:nvPr/>
        </p:nvSpPr>
        <p:spPr>
          <a:xfrm>
            <a:off x="502920" y="3656838"/>
            <a:ext cx="11247120" cy="400050"/>
          </a:xfrm>
          <a:prstGeom prst="rect">
            <a:avLst/>
          </a:prstGeom>
          <a:noFill/>
        </p:spPr>
        <p:txBody>
          <a:bodyPr wrap="none">
            <a:spAutoFit/>
          </a:bodyPr>
          <a:lstStyle/>
          <a:p>
            <a:r>
              <a:rPr sz="800">
                <a:solidFill>
                  <a:srgbClr val="5DADE8"/>
                </a:solidFill>
                <a:hlinkClick r:id="rId3"/>
              </a:rPr>
              <a:t>https://qiita.com/katukoga/items/f5a74262e91c5b0077da</a:t>
            </a:r>
          </a:p>
        </p:txBody>
      </p:sp>
      <p:sp>
        <p:nvSpPr>
          <p:cNvPr id="16" name="TextBox 15"/>
          <p:cNvSpPr txBox="1"/>
          <p:nvPr/>
        </p:nvSpPr>
        <p:spPr>
          <a:xfrm>
            <a:off x="502920" y="4056888"/>
            <a:ext cx="11247120" cy="762000"/>
          </a:xfrm>
          <a:prstGeom prst="rect">
            <a:avLst/>
          </a:prstGeom>
          <a:noFill/>
        </p:spPr>
        <p:txBody>
          <a:bodyPr wrap="square">
            <a:spAutoFit/>
          </a:bodyPr>
          <a:lstStyle/>
          <a:p>
            <a:r>
              <a:rPr sz="900">
                <a:solidFill>
                  <a:srgbClr val="C0D8F0"/>
                </a:solidFill>
              </a:rPr>
              <a:t>はじめに
シリーズ最終回です。①セットアップ編、②全機能ためす編、③つまずき解決編と順を追って進めてきました。最終回はこの学びを全部使って、スマホで使える実用ミニアプリを構築します。
| 各回のタイトル | 内容 |
|---|---|
| ①セットアップ編 | 契約〜アカウントトークン発行〜最</a:t>
            </a:r>
          </a:p>
        </p:txBody>
      </p:sp>
      <p:sp>
        <p:nvSpPr>
          <p:cNvPr id="17" name="Rectangle 16"/>
          <p:cNvSpPr/>
          <p:nvPr/>
        </p:nvSpPr>
        <p:spPr>
          <a:xfrm>
            <a:off x="274320" y="4916423"/>
            <a:ext cx="11640312" cy="1795272"/>
          </a:xfrm>
          <a:prstGeom prst="rect">
            <a:avLst/>
          </a:prstGeom>
          <a:solidFill>
            <a:srgbClr val="1E2D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274320" y="4916423"/>
            <a:ext cx="64008" cy="1795272"/>
          </a:xfrm>
          <a:prstGeom prst="rect">
            <a:avLst/>
          </a:prstGeom>
          <a:solidFill>
            <a:srgbClr val="2980B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02920" y="4971288"/>
            <a:ext cx="11247120" cy="590550"/>
          </a:xfrm>
          <a:prstGeom prst="rect">
            <a:avLst/>
          </a:prstGeom>
          <a:noFill/>
        </p:spPr>
        <p:txBody>
          <a:bodyPr wrap="square">
            <a:spAutoFit/>
          </a:bodyPr>
          <a:lstStyle/>
          <a:p>
            <a:r>
              <a:rPr sz="900" b="1">
                <a:solidFill>
                  <a:srgbClr val="2980B9"/>
                </a:solidFill>
              </a:rPr>
              <a:t>[Qiita]  </a:t>
            </a:r>
            <a:r>
              <a:rPr sz="1200" b="1">
                <a:solidFill>
                  <a:srgbClr val="FFFFFF"/>
                </a:solidFill>
              </a:rPr>
              <a:t>オントロジー × グラフ × LLM の実装と評価（基礎編）</a:t>
            </a:r>
            <a:r>
              <a:rPr sz="900">
                <a:solidFill>
                  <a:srgbClr val="7F8C8D"/>
                </a:solidFill>
              </a:rPr>
              <a:t>  (2026-08-16)</a:t>
            </a:r>
          </a:p>
        </p:txBody>
      </p:sp>
      <p:sp>
        <p:nvSpPr>
          <p:cNvPr id="20" name="TextBox 19"/>
          <p:cNvSpPr txBox="1"/>
          <p:nvPr/>
        </p:nvSpPr>
        <p:spPr>
          <a:xfrm>
            <a:off x="502920" y="5561838"/>
            <a:ext cx="11247120" cy="400050"/>
          </a:xfrm>
          <a:prstGeom prst="rect">
            <a:avLst/>
          </a:prstGeom>
          <a:noFill/>
        </p:spPr>
        <p:txBody>
          <a:bodyPr wrap="none">
            <a:spAutoFit/>
          </a:bodyPr>
          <a:lstStyle/>
          <a:p>
            <a:r>
              <a:rPr sz="800">
                <a:solidFill>
                  <a:srgbClr val="5DADE8"/>
                </a:solidFill>
                <a:hlinkClick r:id="rId4"/>
              </a:rPr>
              <a:t>https://qiita.com/haystacker/items/853234c38ae36adbca1f</a:t>
            </a:r>
          </a:p>
        </p:txBody>
      </p:sp>
      <p:sp>
        <p:nvSpPr>
          <p:cNvPr id="21" name="TextBox 20"/>
          <p:cNvSpPr txBox="1"/>
          <p:nvPr/>
        </p:nvSpPr>
        <p:spPr>
          <a:xfrm>
            <a:off x="502920" y="5961888"/>
            <a:ext cx="11247120" cy="762000"/>
          </a:xfrm>
          <a:prstGeom prst="rect">
            <a:avLst/>
          </a:prstGeom>
          <a:noFill/>
        </p:spPr>
        <p:txBody>
          <a:bodyPr wrap="square">
            <a:spAutoFit/>
          </a:bodyPr>
          <a:lstStyle/>
          <a:p>
            <a:r>
              <a:rPr sz="900">
                <a:solidFill>
                  <a:srgbClr val="C0D8F0"/>
                </a:solidFill>
              </a:rPr>
              <a:t>このチュートリアルでは、プレーン RAG とオントロジー併用 RAG を同じ評価セットで比較し、精度差がどこから生じるのか（特に、正解情報の被覆範囲の違い）を確認します。そのうえで、質問の種類に応じて RAG 方式を切り替えるルーターを構築します。
LLM は OpenAI 互換エンドポイント（O</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1A25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960120"/>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64592" cy="960120"/>
          </a:xfrm>
          <a:prstGeom prst="rect">
            <a:avLst/>
          </a:prstGeom>
          <a:solidFill>
            <a:srgbClr val="8439A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91440"/>
            <a:ext cx="11521440" cy="502920"/>
          </a:xfrm>
          <a:prstGeom prst="rect">
            <a:avLst/>
          </a:prstGeom>
          <a:noFill/>
        </p:spPr>
        <p:txBody>
          <a:bodyPr wrap="square">
            <a:spAutoFit/>
          </a:bodyPr>
          <a:lstStyle/>
          <a:p>
            <a:pPr algn="l"/>
            <a:r>
              <a:rPr sz="2200" b="1">
                <a:solidFill>
                  <a:srgbClr val="FFFFFF"/>
                </a:solidFill>
              </a:rPr>
              <a:t>AIエージェント開発・運用　ピックアップ</a:t>
            </a:r>
          </a:p>
        </p:txBody>
      </p:sp>
      <p:sp>
        <p:nvSpPr>
          <p:cNvPr id="6" name="TextBox 5"/>
          <p:cNvSpPr txBox="1"/>
          <p:nvPr/>
        </p:nvSpPr>
        <p:spPr>
          <a:xfrm>
            <a:off x="365760" y="594360"/>
            <a:ext cx="11521440" cy="320040"/>
          </a:xfrm>
          <a:prstGeom prst="rect">
            <a:avLst/>
          </a:prstGeom>
          <a:noFill/>
        </p:spPr>
        <p:txBody>
          <a:bodyPr wrap="square">
            <a:spAutoFit/>
          </a:bodyPr>
          <a:lstStyle/>
          <a:p>
            <a:pPr algn="l"/>
            <a:r>
              <a:rPr sz="1000" b="0">
                <a:solidFill>
                  <a:srgbClr val="BED9F5"/>
                </a:solidFill>
              </a:rPr>
              <a:t>TOP PICKS</a:t>
            </a:r>
          </a:p>
        </p:txBody>
      </p:sp>
      <p:sp>
        <p:nvSpPr>
          <p:cNvPr id="7" name="Rectangle 6"/>
          <p:cNvSpPr/>
          <p:nvPr/>
        </p:nvSpPr>
        <p:spPr>
          <a:xfrm>
            <a:off x="274320" y="1106424"/>
            <a:ext cx="11640312" cy="1795272"/>
          </a:xfrm>
          <a:prstGeom prst="rect">
            <a:avLst/>
          </a:prstGeom>
          <a:solidFill>
            <a:srgbClr val="1E2D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274320" y="1106424"/>
            <a:ext cx="64008" cy="1795272"/>
          </a:xfrm>
          <a:prstGeom prst="rect">
            <a:avLst/>
          </a:prstGeom>
          <a:solidFill>
            <a:srgbClr val="8439A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1161288"/>
            <a:ext cx="11247120" cy="590550"/>
          </a:xfrm>
          <a:prstGeom prst="rect">
            <a:avLst/>
          </a:prstGeom>
          <a:noFill/>
        </p:spPr>
        <p:txBody>
          <a:bodyPr wrap="square">
            <a:spAutoFit/>
          </a:bodyPr>
          <a:lstStyle/>
          <a:p>
            <a:r>
              <a:rPr sz="900" b="1">
                <a:solidFill>
                  <a:srgbClr val="8439AD"/>
                </a:solidFill>
              </a:rPr>
              <a:t>[Qiita]  </a:t>
            </a:r>
            <a:r>
              <a:rPr sz="1200" b="1">
                <a:solidFill>
                  <a:srgbClr val="FFFFFF"/>
                </a:solidFill>
              </a:rPr>
              <a:t>Claude Codeに動画を見せる /watch-video、実は「渡すだけ」じゃなかった — 3つの深さを使い分ける</a:t>
            </a:r>
            <a:r>
              <a:rPr sz="900">
                <a:solidFill>
                  <a:srgbClr val="7F8C8D"/>
                </a:solidFill>
              </a:rPr>
              <a:t>  (2026-08-17)</a:t>
            </a:r>
          </a:p>
        </p:txBody>
      </p:sp>
      <p:sp>
        <p:nvSpPr>
          <p:cNvPr id="10" name="TextBox 9"/>
          <p:cNvSpPr txBox="1"/>
          <p:nvPr/>
        </p:nvSpPr>
        <p:spPr>
          <a:xfrm>
            <a:off x="502920" y="1751838"/>
            <a:ext cx="11247120" cy="400050"/>
          </a:xfrm>
          <a:prstGeom prst="rect">
            <a:avLst/>
          </a:prstGeom>
          <a:noFill/>
        </p:spPr>
        <p:txBody>
          <a:bodyPr wrap="none">
            <a:spAutoFit/>
          </a:bodyPr>
          <a:lstStyle/>
          <a:p>
            <a:r>
              <a:rPr sz="800">
                <a:solidFill>
                  <a:srgbClr val="5DADE8"/>
                </a:solidFill>
                <a:hlinkClick r:id="rId2"/>
              </a:rPr>
              <a:t>https://qiita.com/jqit_suwa/items/fe5975104ffefa49f632</a:t>
            </a:r>
          </a:p>
        </p:txBody>
      </p:sp>
      <p:sp>
        <p:nvSpPr>
          <p:cNvPr id="11" name="TextBox 10"/>
          <p:cNvSpPr txBox="1"/>
          <p:nvPr/>
        </p:nvSpPr>
        <p:spPr>
          <a:xfrm>
            <a:off x="502920" y="2151888"/>
            <a:ext cx="11247120" cy="762000"/>
          </a:xfrm>
          <a:prstGeom prst="rect">
            <a:avLst/>
          </a:prstGeom>
          <a:noFill/>
        </p:spPr>
        <p:txBody>
          <a:bodyPr wrap="square">
            <a:spAutoFit/>
          </a:bodyPr>
          <a:lstStyle/>
          <a:p>
            <a:r>
              <a:rPr sz="900">
                <a:solidFill>
                  <a:srgbClr val="C0D8F0"/>
                </a:solidFill>
              </a:rPr>
              <a:t>Claude Code に動画を見せて、内容を整理させる Skill が話題になっています。 というやつです。
紹介ではこう書かれていることが多いです。
&gt; 動画を渡すだけで、文字起こし・重要フレーム抽出・画像解析・構造化ノート作成まで自動で実行
便利そうなので中身を読んだんですが、「渡すだけ</a:t>
            </a:r>
          </a:p>
        </p:txBody>
      </p:sp>
      <p:sp>
        <p:nvSpPr>
          <p:cNvPr id="12" name="Rectangle 11"/>
          <p:cNvSpPr/>
          <p:nvPr/>
        </p:nvSpPr>
        <p:spPr>
          <a:xfrm>
            <a:off x="274320" y="3011424"/>
            <a:ext cx="11640312" cy="1795272"/>
          </a:xfrm>
          <a:prstGeom prst="rect">
            <a:avLst/>
          </a:prstGeom>
          <a:solidFill>
            <a:srgbClr val="1622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74320" y="3011424"/>
            <a:ext cx="64008" cy="1795272"/>
          </a:xfrm>
          <a:prstGeom prst="rect">
            <a:avLst/>
          </a:prstGeom>
          <a:solidFill>
            <a:srgbClr val="8439A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02920" y="3066288"/>
            <a:ext cx="11247120" cy="590550"/>
          </a:xfrm>
          <a:prstGeom prst="rect">
            <a:avLst/>
          </a:prstGeom>
          <a:noFill/>
        </p:spPr>
        <p:txBody>
          <a:bodyPr wrap="square">
            <a:spAutoFit/>
          </a:bodyPr>
          <a:lstStyle/>
          <a:p>
            <a:r>
              <a:rPr sz="900" b="1">
                <a:solidFill>
                  <a:srgbClr val="8439AD"/>
                </a:solidFill>
              </a:rPr>
              <a:t>[Qiita]  </a:t>
            </a:r>
            <a:r>
              <a:rPr sz="1200" b="1">
                <a:solidFill>
                  <a:srgbClr val="FFFFFF"/>
                </a:solidFill>
              </a:rPr>
              <a:t>Claude Codeの新機能、"仕事の引き継ぎ"じゃありません — 公式ドキュメントで確認した3つのズレ</a:t>
            </a:r>
            <a:r>
              <a:rPr sz="900">
                <a:solidFill>
                  <a:srgbClr val="7F8C8D"/>
                </a:solidFill>
              </a:rPr>
              <a:t>  (2026-08-17)</a:t>
            </a:r>
          </a:p>
        </p:txBody>
      </p:sp>
      <p:sp>
        <p:nvSpPr>
          <p:cNvPr id="15" name="TextBox 14"/>
          <p:cNvSpPr txBox="1"/>
          <p:nvPr/>
        </p:nvSpPr>
        <p:spPr>
          <a:xfrm>
            <a:off x="502920" y="3656838"/>
            <a:ext cx="11247120" cy="400050"/>
          </a:xfrm>
          <a:prstGeom prst="rect">
            <a:avLst/>
          </a:prstGeom>
          <a:noFill/>
        </p:spPr>
        <p:txBody>
          <a:bodyPr wrap="none">
            <a:spAutoFit/>
          </a:bodyPr>
          <a:lstStyle/>
          <a:p>
            <a:r>
              <a:rPr sz="800">
                <a:solidFill>
                  <a:srgbClr val="5DADE8"/>
                </a:solidFill>
                <a:hlinkClick r:id="rId3"/>
              </a:rPr>
              <a:t>https://qiita.com/jqit_suwa/items/b919d0b4cdc0a26ec988</a:t>
            </a:r>
          </a:p>
        </p:txBody>
      </p:sp>
      <p:sp>
        <p:nvSpPr>
          <p:cNvPr id="16" name="TextBox 15"/>
          <p:cNvSpPr txBox="1"/>
          <p:nvPr/>
        </p:nvSpPr>
        <p:spPr>
          <a:xfrm>
            <a:off x="502920" y="4056888"/>
            <a:ext cx="11247120" cy="762000"/>
          </a:xfrm>
          <a:prstGeom prst="rect">
            <a:avLst/>
          </a:prstGeom>
          <a:noFill/>
        </p:spPr>
        <p:txBody>
          <a:bodyPr wrap="square">
            <a:spAutoFit/>
          </a:bodyPr>
          <a:lstStyle/>
          <a:p>
            <a:r>
              <a:rPr sz="900">
                <a:solidFill>
                  <a:srgbClr val="C0D8F0"/>
                </a:solidFill>
              </a:rPr>
              <a:t>ここ最近、Claude Code の新機能としてこういう話が流れてきます。
&gt; 「この作業、別セッションに引き継いで」と伝えるだけ。
&gt; 調査担当のClaude → 実装担当のClaude → レビュー担当のClaude、とリレーできる。
たしかに新機能は実在します。Claude Code v2</a:t>
            </a:r>
          </a:p>
        </p:txBody>
      </p:sp>
      <p:sp>
        <p:nvSpPr>
          <p:cNvPr id="17" name="Rectangle 16"/>
          <p:cNvSpPr/>
          <p:nvPr/>
        </p:nvSpPr>
        <p:spPr>
          <a:xfrm>
            <a:off x="274320" y="4916423"/>
            <a:ext cx="11640312" cy="1795272"/>
          </a:xfrm>
          <a:prstGeom prst="rect">
            <a:avLst/>
          </a:prstGeom>
          <a:solidFill>
            <a:srgbClr val="1E2D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274320" y="4916423"/>
            <a:ext cx="64008" cy="1795272"/>
          </a:xfrm>
          <a:prstGeom prst="rect">
            <a:avLst/>
          </a:prstGeom>
          <a:solidFill>
            <a:srgbClr val="8439A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02920" y="4971288"/>
            <a:ext cx="11247120" cy="590550"/>
          </a:xfrm>
          <a:prstGeom prst="rect">
            <a:avLst/>
          </a:prstGeom>
          <a:noFill/>
        </p:spPr>
        <p:txBody>
          <a:bodyPr wrap="square">
            <a:spAutoFit/>
          </a:bodyPr>
          <a:lstStyle/>
          <a:p>
            <a:r>
              <a:rPr sz="900" b="1">
                <a:solidFill>
                  <a:srgbClr val="8439AD"/>
                </a:solidFill>
              </a:rPr>
              <a:t>[Qiita]  </a:t>
            </a:r>
            <a:r>
              <a:rPr sz="1200" b="1">
                <a:solidFill>
                  <a:srgbClr val="FFFFFF"/>
                </a:solidFill>
              </a:rPr>
              <a:t>OpenAI/Anthropic 向けに書いたコードを、さくらのAI Engine に差し替えだけで載せてみた</a:t>
            </a:r>
            <a:r>
              <a:rPr sz="900">
                <a:solidFill>
                  <a:srgbClr val="7F8C8D"/>
                </a:solidFill>
              </a:rPr>
              <a:t>  (2026-08-17)</a:t>
            </a:r>
          </a:p>
        </p:txBody>
      </p:sp>
      <p:sp>
        <p:nvSpPr>
          <p:cNvPr id="20" name="TextBox 19"/>
          <p:cNvSpPr txBox="1"/>
          <p:nvPr/>
        </p:nvSpPr>
        <p:spPr>
          <a:xfrm>
            <a:off x="502920" y="5561838"/>
            <a:ext cx="11247120" cy="400050"/>
          </a:xfrm>
          <a:prstGeom prst="rect">
            <a:avLst/>
          </a:prstGeom>
          <a:noFill/>
        </p:spPr>
        <p:txBody>
          <a:bodyPr wrap="none">
            <a:spAutoFit/>
          </a:bodyPr>
          <a:lstStyle/>
          <a:p>
            <a:r>
              <a:rPr sz="800">
                <a:solidFill>
                  <a:srgbClr val="5DADE8"/>
                </a:solidFill>
                <a:hlinkClick r:id="rId4"/>
              </a:rPr>
              <a:t>https://qiita.com/TaichiYamasaki/items/959378ebb76eda594807</a:t>
            </a:r>
          </a:p>
        </p:txBody>
      </p:sp>
      <p:sp>
        <p:nvSpPr>
          <p:cNvPr id="21" name="TextBox 20"/>
          <p:cNvSpPr txBox="1"/>
          <p:nvPr/>
        </p:nvSpPr>
        <p:spPr>
          <a:xfrm>
            <a:off x="502920" y="5961888"/>
            <a:ext cx="11247120" cy="762000"/>
          </a:xfrm>
          <a:prstGeom prst="rect">
            <a:avLst/>
          </a:prstGeom>
          <a:noFill/>
        </p:spPr>
        <p:txBody>
          <a:bodyPr wrap="square">
            <a:spAutoFit/>
          </a:bodyPr>
          <a:lstStyle/>
          <a:p>
            <a:r>
              <a:rPr sz="900">
                <a:solidFill>
                  <a:srgbClr val="C0D8F0"/>
                </a:solidFill>
              </a:rPr>
              <a:t>この記事でやること
OpenAI や Anthropic の API 向けに書いたコードが手元にあるとき、それを別の基盤に載せ替えるのはどれくらい大変なのか。
さくらのAI Engine は OpenAI/Anthropic 互換をうたっています。ただ「互換」と書かれていても、実際にどこまで動く</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1A25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960120"/>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64592" cy="960120"/>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91440"/>
            <a:ext cx="11521440" cy="502920"/>
          </a:xfrm>
          <a:prstGeom prst="rect">
            <a:avLst/>
          </a:prstGeom>
          <a:noFill/>
        </p:spPr>
        <p:txBody>
          <a:bodyPr wrap="square">
            <a:spAutoFit/>
          </a:bodyPr>
          <a:lstStyle/>
          <a:p>
            <a:pPr algn="l"/>
            <a:r>
              <a:rPr sz="2200" b="1">
                <a:solidFill>
                  <a:srgbClr val="FFFFFF"/>
                </a:solidFill>
              </a:rPr>
              <a:t>生成AI活用の現場実践・他社事例　ピックアップ</a:t>
            </a:r>
          </a:p>
        </p:txBody>
      </p:sp>
      <p:sp>
        <p:nvSpPr>
          <p:cNvPr id="6" name="TextBox 5"/>
          <p:cNvSpPr txBox="1"/>
          <p:nvPr/>
        </p:nvSpPr>
        <p:spPr>
          <a:xfrm>
            <a:off x="365760" y="594360"/>
            <a:ext cx="11521440" cy="320040"/>
          </a:xfrm>
          <a:prstGeom prst="rect">
            <a:avLst/>
          </a:prstGeom>
          <a:noFill/>
        </p:spPr>
        <p:txBody>
          <a:bodyPr wrap="square">
            <a:spAutoFit/>
          </a:bodyPr>
          <a:lstStyle/>
          <a:p>
            <a:pPr algn="l"/>
            <a:r>
              <a:rPr sz="1000" b="0">
                <a:solidFill>
                  <a:srgbClr val="BED9F5"/>
                </a:solidFill>
              </a:rPr>
              <a:t>TOP PICKS</a:t>
            </a:r>
          </a:p>
        </p:txBody>
      </p:sp>
      <p:sp>
        <p:nvSpPr>
          <p:cNvPr id="7" name="Rectangle 6"/>
          <p:cNvSpPr/>
          <p:nvPr/>
        </p:nvSpPr>
        <p:spPr>
          <a:xfrm>
            <a:off x="274320" y="1106424"/>
            <a:ext cx="11640312" cy="1795272"/>
          </a:xfrm>
          <a:prstGeom prst="rect">
            <a:avLst/>
          </a:prstGeom>
          <a:solidFill>
            <a:srgbClr val="1E2D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274320" y="1106424"/>
            <a:ext cx="64008" cy="1795272"/>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1161288"/>
            <a:ext cx="11247120" cy="590550"/>
          </a:xfrm>
          <a:prstGeom prst="rect">
            <a:avLst/>
          </a:prstGeom>
          <a:noFill/>
        </p:spPr>
        <p:txBody>
          <a:bodyPr wrap="square">
            <a:spAutoFit/>
          </a:bodyPr>
          <a:lstStyle/>
          <a:p>
            <a:r>
              <a:rPr sz="900" b="1">
                <a:solidFill>
                  <a:srgbClr val="27AE60"/>
                </a:solidFill>
              </a:rPr>
              <a:t>[Qiita]  </a:t>
            </a:r>
            <a:r>
              <a:rPr sz="1200" b="1">
                <a:solidFill>
                  <a:srgbClr val="FFFFFF"/>
                </a:solidFill>
              </a:rPr>
              <a:t>YOLO26のモデル規模・入力解像度による性能差を比較した</a:t>
            </a:r>
            <a:r>
              <a:rPr sz="900">
                <a:solidFill>
                  <a:srgbClr val="7F8C8D"/>
                </a:solidFill>
              </a:rPr>
              <a:t>  (2026-08-17)</a:t>
            </a:r>
          </a:p>
        </p:txBody>
      </p:sp>
      <p:sp>
        <p:nvSpPr>
          <p:cNvPr id="10" name="TextBox 9"/>
          <p:cNvSpPr txBox="1"/>
          <p:nvPr/>
        </p:nvSpPr>
        <p:spPr>
          <a:xfrm>
            <a:off x="502920" y="1751838"/>
            <a:ext cx="11247120" cy="400050"/>
          </a:xfrm>
          <a:prstGeom prst="rect">
            <a:avLst/>
          </a:prstGeom>
          <a:noFill/>
        </p:spPr>
        <p:txBody>
          <a:bodyPr wrap="none">
            <a:spAutoFit/>
          </a:bodyPr>
          <a:lstStyle/>
          <a:p>
            <a:r>
              <a:rPr sz="800">
                <a:solidFill>
                  <a:srgbClr val="5DADE8"/>
                </a:solidFill>
                <a:hlinkClick r:id="rId2"/>
              </a:rPr>
              <a:t>https://qiita.com/Reotech/items/be25d4724ce4a79dc390</a:t>
            </a:r>
          </a:p>
        </p:txBody>
      </p:sp>
      <p:sp>
        <p:nvSpPr>
          <p:cNvPr id="11" name="TextBox 10"/>
          <p:cNvSpPr txBox="1"/>
          <p:nvPr/>
        </p:nvSpPr>
        <p:spPr>
          <a:xfrm>
            <a:off x="502920" y="2151888"/>
            <a:ext cx="11247120" cy="762000"/>
          </a:xfrm>
          <a:prstGeom prst="rect">
            <a:avLst/>
          </a:prstGeom>
          <a:noFill/>
        </p:spPr>
        <p:txBody>
          <a:bodyPr wrap="square">
            <a:spAutoFit/>
          </a:bodyPr>
          <a:lstStyle/>
          <a:p>
            <a:r>
              <a:rPr sz="900">
                <a:solidFill>
                  <a:srgbClr val="C0D8F0"/>
                </a:solidFill>
              </a:rPr>
              <a:t>YOLO26n・s・mを320pxと640pxで組み合わせ、6条件の検出品質、PC処理時間、ONNXサイズ、実行時メモリを比較します。Android実機性能はまだ未検証です。
比較結果を先に
前回の記事では3候補を320pxで比べ、YOLO26nを基準にしました。今回はYOLO26系列に絞り、モ</a:t>
            </a:r>
          </a:p>
        </p:txBody>
      </p:sp>
      <p:sp>
        <p:nvSpPr>
          <p:cNvPr id="12" name="Rectangle 11"/>
          <p:cNvSpPr/>
          <p:nvPr/>
        </p:nvSpPr>
        <p:spPr>
          <a:xfrm>
            <a:off x="274320" y="3011424"/>
            <a:ext cx="11640312" cy="1795272"/>
          </a:xfrm>
          <a:prstGeom prst="rect">
            <a:avLst/>
          </a:prstGeom>
          <a:solidFill>
            <a:srgbClr val="1622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74320" y="3011424"/>
            <a:ext cx="64008" cy="1795272"/>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02920" y="3066288"/>
            <a:ext cx="11247120" cy="590550"/>
          </a:xfrm>
          <a:prstGeom prst="rect">
            <a:avLst/>
          </a:prstGeom>
          <a:noFill/>
        </p:spPr>
        <p:txBody>
          <a:bodyPr wrap="square">
            <a:spAutoFit/>
          </a:bodyPr>
          <a:lstStyle/>
          <a:p>
            <a:r>
              <a:rPr sz="900" b="1">
                <a:solidFill>
                  <a:srgbClr val="27AE60"/>
                </a:solidFill>
              </a:rPr>
              <a:t>[Qiita]  </a:t>
            </a:r>
            <a:r>
              <a:rPr sz="1200" b="1">
                <a:solidFill>
                  <a:srgbClr val="FFFFFF"/>
                </a:solidFill>
              </a:rPr>
              <a:t>SES脱出を目指すエンジニアのためのAI開発ツール実践ガイド2026</a:t>
            </a:r>
            <a:r>
              <a:rPr sz="900">
                <a:solidFill>
                  <a:srgbClr val="7F8C8D"/>
                </a:solidFill>
              </a:rPr>
              <a:t>  (2026-08-17)</a:t>
            </a:r>
          </a:p>
        </p:txBody>
      </p:sp>
      <p:sp>
        <p:nvSpPr>
          <p:cNvPr id="15" name="TextBox 14"/>
          <p:cNvSpPr txBox="1"/>
          <p:nvPr/>
        </p:nvSpPr>
        <p:spPr>
          <a:xfrm>
            <a:off x="502920" y="3656838"/>
            <a:ext cx="11247120" cy="400050"/>
          </a:xfrm>
          <a:prstGeom prst="rect">
            <a:avLst/>
          </a:prstGeom>
          <a:noFill/>
        </p:spPr>
        <p:txBody>
          <a:bodyPr wrap="none">
            <a:spAutoFit/>
          </a:bodyPr>
          <a:lstStyle/>
          <a:p>
            <a:r>
              <a:rPr sz="800">
                <a:solidFill>
                  <a:srgbClr val="5DADE8"/>
                </a:solidFill>
                <a:hlinkClick r:id="rId3"/>
              </a:rPr>
              <a:t>https://qiita.com/sescore/items/00093c39cb6629c43d8f</a:t>
            </a:r>
          </a:p>
        </p:txBody>
      </p:sp>
      <p:sp>
        <p:nvSpPr>
          <p:cNvPr id="16" name="TextBox 15"/>
          <p:cNvSpPr txBox="1"/>
          <p:nvPr/>
        </p:nvSpPr>
        <p:spPr>
          <a:xfrm>
            <a:off x="502920" y="4056888"/>
            <a:ext cx="11247120" cy="762000"/>
          </a:xfrm>
          <a:prstGeom prst="rect">
            <a:avLst/>
          </a:prstGeom>
          <a:noFill/>
        </p:spPr>
        <p:txBody>
          <a:bodyPr wrap="square">
            <a:spAutoFit/>
          </a:bodyPr>
          <a:lstStyle/>
          <a:p>
            <a:r>
              <a:rPr sz="900">
                <a:solidFill>
                  <a:srgbClr val="C0D8F0"/>
                </a:solidFill>
              </a:rPr>
              <a:t>はじめに：SES常駐で感じた「単価が上がらない」という壁
SES(システムエンジニアリングサービス)契約で客先常駐をしていると、スキルが伸びている実感はあるのに単価には反映されない、という壁にぶつかることがあります。契約更新のたびに単価交渉はするものの、上げ幅は数万円単位。同じ現場に長くいるほど「</a:t>
            </a:r>
          </a:p>
        </p:txBody>
      </p:sp>
      <p:sp>
        <p:nvSpPr>
          <p:cNvPr id="17" name="Rectangle 16"/>
          <p:cNvSpPr/>
          <p:nvPr/>
        </p:nvSpPr>
        <p:spPr>
          <a:xfrm>
            <a:off x="274320" y="4916423"/>
            <a:ext cx="11640312" cy="1795272"/>
          </a:xfrm>
          <a:prstGeom prst="rect">
            <a:avLst/>
          </a:prstGeom>
          <a:solidFill>
            <a:srgbClr val="1E2D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274320" y="4916423"/>
            <a:ext cx="64008" cy="1795272"/>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02920" y="4971288"/>
            <a:ext cx="11247120" cy="590550"/>
          </a:xfrm>
          <a:prstGeom prst="rect">
            <a:avLst/>
          </a:prstGeom>
          <a:noFill/>
        </p:spPr>
        <p:txBody>
          <a:bodyPr wrap="square">
            <a:spAutoFit/>
          </a:bodyPr>
          <a:lstStyle/>
          <a:p>
            <a:r>
              <a:rPr sz="900" b="1">
                <a:solidFill>
                  <a:srgbClr val="27AE60"/>
                </a:solidFill>
              </a:rPr>
              <a:t>[Qiita]  </a:t>
            </a:r>
            <a:r>
              <a:rPr sz="1200" b="1">
                <a:solidFill>
                  <a:srgbClr val="FFFFFF"/>
                </a:solidFill>
              </a:rPr>
              <a:t>ClaudeのエクスポートJSONをMarkdownに整形するPythonスクリプト</a:t>
            </a:r>
            <a:r>
              <a:rPr sz="900">
                <a:solidFill>
                  <a:srgbClr val="7F8C8D"/>
                </a:solidFill>
              </a:rPr>
              <a:t>  (2026-08-16)</a:t>
            </a:r>
          </a:p>
        </p:txBody>
      </p:sp>
      <p:sp>
        <p:nvSpPr>
          <p:cNvPr id="20" name="TextBox 19"/>
          <p:cNvSpPr txBox="1"/>
          <p:nvPr/>
        </p:nvSpPr>
        <p:spPr>
          <a:xfrm>
            <a:off x="502920" y="5561838"/>
            <a:ext cx="11247120" cy="400050"/>
          </a:xfrm>
          <a:prstGeom prst="rect">
            <a:avLst/>
          </a:prstGeom>
          <a:noFill/>
        </p:spPr>
        <p:txBody>
          <a:bodyPr wrap="none">
            <a:spAutoFit/>
          </a:bodyPr>
          <a:lstStyle/>
          <a:p>
            <a:r>
              <a:rPr sz="800">
                <a:solidFill>
                  <a:srgbClr val="5DADE8"/>
                </a:solidFill>
                <a:hlinkClick r:id="rId4"/>
              </a:rPr>
              <a:t>https://qiita.com/caymezon/items/05e1fa07882834d76d1c</a:t>
            </a:r>
          </a:p>
        </p:txBody>
      </p:sp>
      <p:sp>
        <p:nvSpPr>
          <p:cNvPr id="21" name="TextBox 20"/>
          <p:cNvSpPr txBox="1"/>
          <p:nvPr/>
        </p:nvSpPr>
        <p:spPr>
          <a:xfrm>
            <a:off x="502920" y="5961888"/>
            <a:ext cx="11247120" cy="762000"/>
          </a:xfrm>
          <a:prstGeom prst="rect">
            <a:avLst/>
          </a:prstGeom>
          <a:noFill/>
        </p:spPr>
        <p:txBody>
          <a:bodyPr wrap="square">
            <a:spAutoFit/>
          </a:bodyPr>
          <a:lstStyle/>
          <a:p>
            <a:r>
              <a:rPr sz="900">
                <a:solidFill>
                  <a:srgbClr val="C0D8F0"/>
                </a:solidFill>
              </a:rPr>
              <a:t>背景
Claudeのチャット履歴はJSONでエクスポートできますが、そのままでは読みにくく活用しづらいです。チャットごとに分割してMarkdown化するPythonツールを作りました。
1. ファイル選択はtkinterのダイアログで十分
GUIを作り込まなくても、を使えばファイル選択だけは簡</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1A25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960120"/>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64592" cy="960120"/>
          </a:xfrm>
          <a:prstGeom prst="rect">
            <a:avLst/>
          </a:prstGeom>
          <a:solidFill>
            <a:srgbClr val="E67E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91440"/>
            <a:ext cx="11521440" cy="502920"/>
          </a:xfrm>
          <a:prstGeom prst="rect">
            <a:avLst/>
          </a:prstGeom>
          <a:noFill/>
        </p:spPr>
        <p:txBody>
          <a:bodyPr wrap="square">
            <a:spAutoFit/>
          </a:bodyPr>
          <a:lstStyle/>
          <a:p>
            <a:pPr algn="l"/>
            <a:r>
              <a:rPr sz="2200" b="1">
                <a:solidFill>
                  <a:srgbClr val="FFFFFF"/>
                </a:solidFill>
              </a:rPr>
              <a:t>AIガバナンス・セキュリティ・社内ルール　ピックアップ</a:t>
            </a:r>
          </a:p>
        </p:txBody>
      </p:sp>
      <p:sp>
        <p:nvSpPr>
          <p:cNvPr id="6" name="TextBox 5"/>
          <p:cNvSpPr txBox="1"/>
          <p:nvPr/>
        </p:nvSpPr>
        <p:spPr>
          <a:xfrm>
            <a:off x="365760" y="594360"/>
            <a:ext cx="11521440" cy="320040"/>
          </a:xfrm>
          <a:prstGeom prst="rect">
            <a:avLst/>
          </a:prstGeom>
          <a:noFill/>
        </p:spPr>
        <p:txBody>
          <a:bodyPr wrap="square">
            <a:spAutoFit/>
          </a:bodyPr>
          <a:lstStyle/>
          <a:p>
            <a:pPr algn="l"/>
            <a:r>
              <a:rPr sz="1000" b="0">
                <a:solidFill>
                  <a:srgbClr val="BED9F5"/>
                </a:solidFill>
              </a:rPr>
              <a:t>TOP PICKS</a:t>
            </a:r>
          </a:p>
        </p:txBody>
      </p:sp>
      <p:sp>
        <p:nvSpPr>
          <p:cNvPr id="7" name="Rectangle 6"/>
          <p:cNvSpPr/>
          <p:nvPr/>
        </p:nvSpPr>
        <p:spPr>
          <a:xfrm>
            <a:off x="274320" y="1106424"/>
            <a:ext cx="11640312" cy="1795272"/>
          </a:xfrm>
          <a:prstGeom prst="rect">
            <a:avLst/>
          </a:prstGeom>
          <a:solidFill>
            <a:srgbClr val="1E2D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274320" y="1106424"/>
            <a:ext cx="64008" cy="1795272"/>
          </a:xfrm>
          <a:prstGeom prst="rect">
            <a:avLst/>
          </a:prstGeom>
          <a:solidFill>
            <a:srgbClr val="E67E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1161288"/>
            <a:ext cx="11247120" cy="590550"/>
          </a:xfrm>
          <a:prstGeom prst="rect">
            <a:avLst/>
          </a:prstGeom>
          <a:noFill/>
        </p:spPr>
        <p:txBody>
          <a:bodyPr wrap="square">
            <a:spAutoFit/>
          </a:bodyPr>
          <a:lstStyle/>
          <a:p>
            <a:r>
              <a:rPr sz="900" b="1">
                <a:solidFill>
                  <a:srgbClr val="E67E22"/>
                </a:solidFill>
              </a:rPr>
              <a:t>[Qiita]  </a:t>
            </a:r>
            <a:r>
              <a:rPr sz="1200" b="1">
                <a:solidFill>
                  <a:srgbClr val="FFFFFF"/>
                </a:solidFill>
              </a:rPr>
              <a:t>算数オリンピックの動画解説(許可済み)をベースにして、私のブログのための 記事について、著作権違反になりませんか。</a:t>
            </a:r>
            <a:r>
              <a:rPr sz="900">
                <a:solidFill>
                  <a:srgbClr val="7F8C8D"/>
                </a:solidFill>
              </a:rPr>
              <a:t>  (2026-08-16)</a:t>
            </a:r>
          </a:p>
        </p:txBody>
      </p:sp>
      <p:sp>
        <p:nvSpPr>
          <p:cNvPr id="10" name="TextBox 9"/>
          <p:cNvSpPr txBox="1"/>
          <p:nvPr/>
        </p:nvSpPr>
        <p:spPr>
          <a:xfrm>
            <a:off x="502920" y="1751838"/>
            <a:ext cx="11247120" cy="400050"/>
          </a:xfrm>
          <a:prstGeom prst="rect">
            <a:avLst/>
          </a:prstGeom>
          <a:noFill/>
        </p:spPr>
        <p:txBody>
          <a:bodyPr wrap="none">
            <a:spAutoFit/>
          </a:bodyPr>
          <a:lstStyle/>
          <a:p>
            <a:r>
              <a:rPr sz="800">
                <a:solidFill>
                  <a:srgbClr val="5DADE8"/>
                </a:solidFill>
                <a:hlinkClick r:id="rId2"/>
              </a:rPr>
              <a:t>https://qiita.com/mrrclb48z/items/2e631760e14a212b396f</a:t>
            </a:r>
          </a:p>
        </p:txBody>
      </p:sp>
      <p:sp>
        <p:nvSpPr>
          <p:cNvPr id="11" name="TextBox 10"/>
          <p:cNvSpPr txBox="1"/>
          <p:nvPr/>
        </p:nvSpPr>
        <p:spPr>
          <a:xfrm>
            <a:off x="502920" y="2151888"/>
            <a:ext cx="11247120" cy="762000"/>
          </a:xfrm>
          <a:prstGeom prst="rect">
            <a:avLst/>
          </a:prstGeom>
          <a:noFill/>
        </p:spPr>
        <p:txBody>
          <a:bodyPr wrap="square">
            <a:spAutoFit/>
          </a:bodyPr>
          <a:lstStyle/>
          <a:p>
            <a:r>
              <a:rPr sz="900">
                <a:solidFill>
                  <a:srgbClr val="C0D8F0"/>
                </a:solidFill>
              </a:rPr>
              <a:t>&gt;GeminiはAIであり、不正確な情報を表示することがあります。
だそうです。
履歴。Gemini先生へ。
回答抜粋
(都合の良さそうなところだけ抜粋)
&gt;結論から申し上げますと、解法や解答のロジックをSymPy（Python）のソースコードとして記述・公開すること自体は、原則とし</a:t>
            </a:r>
          </a:p>
        </p:txBody>
      </p:sp>
      <p:sp>
        <p:nvSpPr>
          <p:cNvPr id="12" name="Rectangle 11"/>
          <p:cNvSpPr/>
          <p:nvPr/>
        </p:nvSpPr>
        <p:spPr>
          <a:xfrm>
            <a:off x="274320" y="3011424"/>
            <a:ext cx="11640312" cy="1795272"/>
          </a:xfrm>
          <a:prstGeom prst="rect">
            <a:avLst/>
          </a:prstGeom>
          <a:solidFill>
            <a:srgbClr val="1622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74320" y="3011424"/>
            <a:ext cx="64008" cy="1795272"/>
          </a:xfrm>
          <a:prstGeom prst="rect">
            <a:avLst/>
          </a:prstGeom>
          <a:solidFill>
            <a:srgbClr val="E67E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02920" y="3066288"/>
            <a:ext cx="11247120" cy="590550"/>
          </a:xfrm>
          <a:prstGeom prst="rect">
            <a:avLst/>
          </a:prstGeom>
          <a:noFill/>
        </p:spPr>
        <p:txBody>
          <a:bodyPr wrap="square">
            <a:spAutoFit/>
          </a:bodyPr>
          <a:lstStyle/>
          <a:p>
            <a:r>
              <a:rPr sz="900" b="1">
                <a:solidFill>
                  <a:srgbClr val="E67E22"/>
                </a:solidFill>
              </a:rPr>
              <a:t>[Qiita]  </a:t>
            </a:r>
            <a:r>
              <a:rPr sz="1200" b="1">
                <a:solidFill>
                  <a:srgbClr val="FFFFFF"/>
                </a:solidFill>
              </a:rPr>
              <a:t>さくらのAIと話したかっただけなのに。。。人生初APIで、会話履歴をJSON保存し始めたセキュリティエンジニアの話</a:t>
            </a:r>
            <a:r>
              <a:rPr sz="900">
                <a:solidFill>
                  <a:srgbClr val="7F8C8D"/>
                </a:solidFill>
              </a:rPr>
              <a:t>  (2026-08-16)</a:t>
            </a:r>
          </a:p>
        </p:txBody>
      </p:sp>
      <p:sp>
        <p:nvSpPr>
          <p:cNvPr id="15" name="TextBox 14"/>
          <p:cNvSpPr txBox="1"/>
          <p:nvPr/>
        </p:nvSpPr>
        <p:spPr>
          <a:xfrm>
            <a:off x="502920" y="3656838"/>
            <a:ext cx="11247120" cy="400050"/>
          </a:xfrm>
          <a:prstGeom prst="rect">
            <a:avLst/>
          </a:prstGeom>
          <a:noFill/>
        </p:spPr>
        <p:txBody>
          <a:bodyPr wrap="none">
            <a:spAutoFit/>
          </a:bodyPr>
          <a:lstStyle/>
          <a:p>
            <a:r>
              <a:rPr sz="800">
                <a:solidFill>
                  <a:srgbClr val="5DADE8"/>
                </a:solidFill>
                <a:hlinkClick r:id="rId3"/>
              </a:rPr>
              <a:t>https://qiita.com/Maruhoppe8/items/70b9777bac0159c840ab</a:t>
            </a:r>
          </a:p>
        </p:txBody>
      </p:sp>
      <p:sp>
        <p:nvSpPr>
          <p:cNvPr id="16" name="TextBox 15"/>
          <p:cNvSpPr txBox="1"/>
          <p:nvPr/>
        </p:nvSpPr>
        <p:spPr>
          <a:xfrm>
            <a:off x="502920" y="4056888"/>
            <a:ext cx="11247120" cy="762000"/>
          </a:xfrm>
          <a:prstGeom prst="rect">
            <a:avLst/>
          </a:prstGeom>
          <a:noFill/>
        </p:spPr>
        <p:txBody>
          <a:bodyPr wrap="square">
            <a:spAutoFit/>
          </a:bodyPr>
          <a:lstStyle/>
          <a:p>
            <a:r>
              <a:rPr sz="900">
                <a:solidFill>
                  <a:srgbClr val="C0D8F0"/>
                </a:solidFill>
              </a:rPr>
              <a:t>１．はじめに
１－１．今回のポイント
APIの実装経験がほぼない状態から、さくらのAI Engine APIを使って、会話履歴を保持できる自分用チャット環境を作ってみました。
きっかけは、Playgroundで生成AIとやりとりしていたところ、ログインし直したタイミングで会話履歴が消えてしまった</a:t>
            </a:r>
          </a:p>
        </p:txBody>
      </p:sp>
      <p:sp>
        <p:nvSpPr>
          <p:cNvPr id="17" name="Rectangle 16"/>
          <p:cNvSpPr/>
          <p:nvPr/>
        </p:nvSpPr>
        <p:spPr>
          <a:xfrm>
            <a:off x="274320" y="4916423"/>
            <a:ext cx="11640312" cy="1795272"/>
          </a:xfrm>
          <a:prstGeom prst="rect">
            <a:avLst/>
          </a:prstGeom>
          <a:solidFill>
            <a:srgbClr val="1E2D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274320" y="4916423"/>
            <a:ext cx="64008" cy="1795272"/>
          </a:xfrm>
          <a:prstGeom prst="rect">
            <a:avLst/>
          </a:prstGeom>
          <a:solidFill>
            <a:srgbClr val="E67E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02920" y="4971288"/>
            <a:ext cx="11247120" cy="590550"/>
          </a:xfrm>
          <a:prstGeom prst="rect">
            <a:avLst/>
          </a:prstGeom>
          <a:noFill/>
        </p:spPr>
        <p:txBody>
          <a:bodyPr wrap="square">
            <a:spAutoFit/>
          </a:bodyPr>
          <a:lstStyle/>
          <a:p>
            <a:r>
              <a:rPr sz="900" b="1">
                <a:solidFill>
                  <a:srgbClr val="E67E22"/>
                </a:solidFill>
              </a:rPr>
              <a:t>[Qiita]  </a:t>
            </a:r>
            <a:r>
              <a:rPr sz="1200" b="1">
                <a:solidFill>
                  <a:srgbClr val="FFFFFF"/>
                </a:solidFill>
              </a:rPr>
              <a:t>VertexAIを利用しようとして速度改善（経歴書解析を280秒→24秒にした）結果、結局VertexAIを止める羽目になった話</a:t>
            </a:r>
            <a:r>
              <a:rPr sz="900">
                <a:solidFill>
                  <a:srgbClr val="7F8C8D"/>
                </a:solidFill>
              </a:rPr>
              <a:t>  (2026-08-15)</a:t>
            </a:r>
          </a:p>
        </p:txBody>
      </p:sp>
      <p:sp>
        <p:nvSpPr>
          <p:cNvPr id="20" name="TextBox 19"/>
          <p:cNvSpPr txBox="1"/>
          <p:nvPr/>
        </p:nvSpPr>
        <p:spPr>
          <a:xfrm>
            <a:off x="502920" y="5561838"/>
            <a:ext cx="11247120" cy="400050"/>
          </a:xfrm>
          <a:prstGeom prst="rect">
            <a:avLst/>
          </a:prstGeom>
          <a:noFill/>
        </p:spPr>
        <p:txBody>
          <a:bodyPr wrap="none">
            <a:spAutoFit/>
          </a:bodyPr>
          <a:lstStyle/>
          <a:p>
            <a:r>
              <a:rPr sz="800">
                <a:solidFill>
                  <a:srgbClr val="5DADE8"/>
                </a:solidFill>
                <a:hlinkClick r:id="rId4"/>
              </a:rPr>
              <a:t>https://qiita.com/kenichiyoshioka/items/cbfb1028473fda15ace6</a:t>
            </a:r>
          </a:p>
        </p:txBody>
      </p:sp>
      <p:sp>
        <p:nvSpPr>
          <p:cNvPr id="21" name="TextBox 20"/>
          <p:cNvSpPr txBox="1"/>
          <p:nvPr/>
        </p:nvSpPr>
        <p:spPr>
          <a:xfrm>
            <a:off x="502920" y="5961888"/>
            <a:ext cx="11247120" cy="762000"/>
          </a:xfrm>
          <a:prstGeom prst="rect">
            <a:avLst/>
          </a:prstGeom>
          <a:noFill/>
        </p:spPr>
        <p:txBody>
          <a:bodyPr wrap="square">
            <a:spAutoFit/>
          </a:bodyPr>
          <a:lstStyle/>
          <a:p>
            <a:r>
              <a:rPr sz="900">
                <a:solidFill>
                  <a:srgbClr val="C0D8F0"/>
                </a:solidFill>
              </a:rPr>
              <a:t>&gt; 📚 スキルシートと市場価値 シリーズ ②：AI解析の高速化と、VertexAIの顛末
---
はじめに
元々Gemini Developer APIを利用して前プロダクトを作成していたので今回を利用していたところAIと話をしていたら「VertexAIが良いのでは？」と提案を受けました。理由</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1A25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960120"/>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64592" cy="960120"/>
          </a:xfrm>
          <a:prstGeom prst="rect">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118872"/>
            <a:ext cx="11430000" cy="749808"/>
          </a:xfrm>
          <a:prstGeom prst="rect">
            <a:avLst/>
          </a:prstGeom>
          <a:noFill/>
        </p:spPr>
        <p:txBody>
          <a:bodyPr wrap="square">
            <a:spAutoFit/>
          </a:bodyPr>
          <a:lstStyle/>
          <a:p>
            <a:pPr algn="l"/>
            <a:r>
              <a:rPr sz="2000" b="1">
                <a:solidFill>
                  <a:srgbClr val="FFFFFF"/>
                </a:solidFill>
              </a:rPr>
              <a:t>IT運用・自動化　記事一覧　(1 / 2)</a:t>
            </a:r>
          </a:p>
        </p:txBody>
      </p:sp>
      <p:sp>
        <p:nvSpPr>
          <p:cNvPr id="6" name="TextBox 5"/>
          <p:cNvSpPr txBox="1"/>
          <p:nvPr/>
        </p:nvSpPr>
        <p:spPr>
          <a:xfrm>
            <a:off x="365760" y="1024128"/>
            <a:ext cx="11430000" cy="569671"/>
          </a:xfrm>
          <a:prstGeom prst="rect">
            <a:avLst/>
          </a:prstGeom>
          <a:noFill/>
        </p:spPr>
        <p:txBody>
          <a:bodyPr wrap="square">
            <a:spAutoFit/>
          </a:bodyPr>
          <a:lstStyle/>
          <a:p>
            <a:r>
              <a:rPr sz="1000">
                <a:solidFill>
                  <a:srgbClr val="E74C3C"/>
                </a:solidFill>
              </a:rPr>
              <a:t>▶ </a:t>
            </a:r>
            <a:r>
              <a:rPr sz="1200" b="1">
                <a:solidFill>
                  <a:srgbClr val="FFFFFF"/>
                </a:solidFill>
              </a:rPr>
              <a:t>最小限のターミナルCoding Agent「pi」を動かす — インストールからローカルvLLM連携、プラグインと学習経路まで</a:t>
            </a:r>
            <a:r>
              <a:rPr sz="900">
                <a:solidFill>
                  <a:srgbClr val="7F8C8D"/>
                </a:solidFill>
              </a:rPr>
              <a:t>  (2026-08-16)</a:t>
            </a:r>
          </a:p>
        </p:txBody>
      </p:sp>
      <p:sp>
        <p:nvSpPr>
          <p:cNvPr id="7" name="TextBox 6"/>
          <p:cNvSpPr txBox="1"/>
          <p:nvPr/>
        </p:nvSpPr>
        <p:spPr>
          <a:xfrm>
            <a:off x="640080" y="1593799"/>
            <a:ext cx="11155680" cy="341802"/>
          </a:xfrm>
          <a:prstGeom prst="rect">
            <a:avLst/>
          </a:prstGeom>
          <a:noFill/>
        </p:spPr>
        <p:txBody>
          <a:bodyPr wrap="none">
            <a:spAutoFit/>
          </a:bodyPr>
          <a:lstStyle/>
          <a:p>
            <a:r>
              <a:rPr sz="800" b="1">
                <a:solidFill>
                  <a:srgbClr val="E74C3C"/>
                </a:solidFill>
              </a:rPr>
              <a:t>[Qiita]  </a:t>
            </a:r>
            <a:r>
              <a:rPr sz="800">
                <a:solidFill>
                  <a:srgbClr val="5DADE8"/>
                </a:solidFill>
                <a:hlinkClick r:id="rId2"/>
              </a:rPr>
              <a:t>https://qiita.com/engchina/items/561b8d0141d86eeb9374</a:t>
            </a:r>
          </a:p>
        </p:txBody>
      </p:sp>
      <p:sp>
        <p:nvSpPr>
          <p:cNvPr id="8" name="TextBox 7"/>
          <p:cNvSpPr txBox="1"/>
          <p:nvPr/>
        </p:nvSpPr>
        <p:spPr>
          <a:xfrm>
            <a:off x="640080" y="1935601"/>
            <a:ext cx="11155680" cy="427253"/>
          </a:xfrm>
          <a:prstGeom prst="rect">
            <a:avLst/>
          </a:prstGeom>
          <a:noFill/>
        </p:spPr>
        <p:txBody>
          <a:bodyPr wrap="square">
            <a:spAutoFit/>
          </a:bodyPr>
          <a:lstStyle/>
          <a:p>
            <a:r>
              <a:rPr sz="900">
                <a:solidFill>
                  <a:srgbClr val="7F8C8D"/>
                </a:solidFill>
              </a:rPr>
              <a:t>はじめに
ターミナル上のCoding Agent（Claude Code、Codex、opencodeなど）は、すでに日常の作業に組み込まれています。一方で、そうしたツールは機能の量が多い分、自分のワークフローに合わない部分が出ても、内側</a:t>
            </a:r>
          </a:p>
        </p:txBody>
      </p:sp>
      <p:sp>
        <p:nvSpPr>
          <p:cNvPr id="9" name="TextBox 8"/>
          <p:cNvSpPr txBox="1"/>
          <p:nvPr/>
        </p:nvSpPr>
        <p:spPr>
          <a:xfrm>
            <a:off x="365760" y="2362855"/>
            <a:ext cx="11430000" cy="569671"/>
          </a:xfrm>
          <a:prstGeom prst="rect">
            <a:avLst/>
          </a:prstGeom>
          <a:noFill/>
        </p:spPr>
        <p:txBody>
          <a:bodyPr wrap="square">
            <a:spAutoFit/>
          </a:bodyPr>
          <a:lstStyle/>
          <a:p>
            <a:r>
              <a:rPr sz="1000">
                <a:solidFill>
                  <a:srgbClr val="E74C3C"/>
                </a:solidFill>
              </a:rPr>
              <a:t>▶ </a:t>
            </a:r>
            <a:r>
              <a:rPr sz="1200" b="1">
                <a:solidFill>
                  <a:srgbClr val="FFFFFF"/>
                </a:solidFill>
              </a:rPr>
              <a:t>140サービスの料金ページを15日間監視して、発効前の変更予告を5件拾った</a:t>
            </a:r>
            <a:r>
              <a:rPr sz="900">
                <a:solidFill>
                  <a:srgbClr val="7F8C8D"/>
                </a:solidFill>
              </a:rPr>
              <a:t>  (2026-08-16)</a:t>
            </a:r>
          </a:p>
        </p:txBody>
      </p:sp>
      <p:sp>
        <p:nvSpPr>
          <p:cNvPr id="10" name="TextBox 9"/>
          <p:cNvSpPr txBox="1"/>
          <p:nvPr/>
        </p:nvSpPr>
        <p:spPr>
          <a:xfrm>
            <a:off x="640080" y="2932526"/>
            <a:ext cx="11155680" cy="341802"/>
          </a:xfrm>
          <a:prstGeom prst="rect">
            <a:avLst/>
          </a:prstGeom>
          <a:noFill/>
        </p:spPr>
        <p:txBody>
          <a:bodyPr wrap="none">
            <a:spAutoFit/>
          </a:bodyPr>
          <a:lstStyle/>
          <a:p>
            <a:r>
              <a:rPr sz="800" b="1">
                <a:solidFill>
                  <a:srgbClr val="E74C3C"/>
                </a:solidFill>
              </a:rPr>
              <a:t>[Zenn]  </a:t>
            </a:r>
            <a:r>
              <a:rPr sz="800">
                <a:solidFill>
                  <a:srgbClr val="5DADE8"/>
                </a:solidFill>
                <a:hlinkClick r:id="rId3"/>
              </a:rPr>
              <a:t>https://zenn.dev/reskilling/articles/3104e660205dba</a:t>
            </a:r>
          </a:p>
        </p:txBody>
      </p:sp>
      <p:sp>
        <p:nvSpPr>
          <p:cNvPr id="11" name="TextBox 10"/>
          <p:cNvSpPr txBox="1"/>
          <p:nvPr/>
        </p:nvSpPr>
        <p:spPr>
          <a:xfrm>
            <a:off x="640080" y="3274329"/>
            <a:ext cx="11155680" cy="427253"/>
          </a:xfrm>
          <a:prstGeom prst="rect">
            <a:avLst/>
          </a:prstGeom>
          <a:noFill/>
        </p:spPr>
        <p:txBody>
          <a:bodyPr wrap="square">
            <a:spAutoFit/>
          </a:bodyPr>
          <a:lstStyle/>
          <a:p>
            <a:r>
              <a:rPr sz="900">
                <a:solidFill>
                  <a:srgbClr val="7F8C8D"/>
                </a:solidFill>
              </a:rPr>
              <a:t>料金体系変更1件（実質値上げ）、値上げ2件、モデル非推奨化予定1件、サポート変更1件。看板にしようとした数字は4回捨てました。
2026年8月から、LLM API と SaaS 合わせて140サービスの料金ページを、毎朝7時に取得しています</a:t>
            </a:r>
          </a:p>
        </p:txBody>
      </p:sp>
      <p:sp>
        <p:nvSpPr>
          <p:cNvPr id="12" name="TextBox 11"/>
          <p:cNvSpPr txBox="1"/>
          <p:nvPr/>
        </p:nvSpPr>
        <p:spPr>
          <a:xfrm>
            <a:off x="365760" y="3701582"/>
            <a:ext cx="11430000" cy="569671"/>
          </a:xfrm>
          <a:prstGeom prst="rect">
            <a:avLst/>
          </a:prstGeom>
          <a:noFill/>
        </p:spPr>
        <p:txBody>
          <a:bodyPr wrap="square">
            <a:spAutoFit/>
          </a:bodyPr>
          <a:lstStyle/>
          <a:p>
            <a:r>
              <a:rPr sz="1000">
                <a:solidFill>
                  <a:srgbClr val="E74C3C"/>
                </a:solidFill>
              </a:rPr>
              <a:t>▶ </a:t>
            </a:r>
            <a:r>
              <a:rPr sz="1200" b="1">
                <a:solidFill>
                  <a:srgbClr val="FFFFFF"/>
                </a:solidFill>
              </a:rPr>
              <a:t>自分のAI活用ワークフローを整理してみた</a:t>
            </a:r>
            <a:r>
              <a:rPr sz="900">
                <a:solidFill>
                  <a:srgbClr val="7F8C8D"/>
                </a:solidFill>
              </a:rPr>
              <a:t>  (2026-08-16)</a:t>
            </a:r>
          </a:p>
        </p:txBody>
      </p:sp>
      <p:sp>
        <p:nvSpPr>
          <p:cNvPr id="13" name="TextBox 12"/>
          <p:cNvSpPr txBox="1"/>
          <p:nvPr/>
        </p:nvSpPr>
        <p:spPr>
          <a:xfrm>
            <a:off x="640080" y="4271253"/>
            <a:ext cx="11155680" cy="341802"/>
          </a:xfrm>
          <a:prstGeom prst="rect">
            <a:avLst/>
          </a:prstGeom>
          <a:noFill/>
        </p:spPr>
        <p:txBody>
          <a:bodyPr wrap="none">
            <a:spAutoFit/>
          </a:bodyPr>
          <a:lstStyle/>
          <a:p>
            <a:r>
              <a:rPr sz="800" b="1">
                <a:solidFill>
                  <a:srgbClr val="E74C3C"/>
                </a:solidFill>
              </a:rPr>
              <a:t>[Qiita]  </a:t>
            </a:r>
            <a:r>
              <a:rPr sz="800">
                <a:solidFill>
                  <a:srgbClr val="5DADE8"/>
                </a:solidFill>
                <a:hlinkClick r:id="rId4"/>
              </a:rPr>
              <a:t>https://qiita.com/pugiemonn/items/2a330e7775da873b25c8</a:t>
            </a:r>
          </a:p>
        </p:txBody>
      </p:sp>
      <p:sp>
        <p:nvSpPr>
          <p:cNvPr id="14" name="TextBox 13"/>
          <p:cNvSpPr txBox="1"/>
          <p:nvPr/>
        </p:nvSpPr>
        <p:spPr>
          <a:xfrm>
            <a:off x="640080" y="4613056"/>
            <a:ext cx="11155680" cy="427253"/>
          </a:xfrm>
          <a:prstGeom prst="rect">
            <a:avLst/>
          </a:prstGeom>
          <a:noFill/>
        </p:spPr>
        <p:txBody>
          <a:bodyPr wrap="square">
            <a:spAutoFit/>
          </a:bodyPr>
          <a:lstStyle/>
          <a:p>
            <a:r>
              <a:rPr sz="900">
                <a:solidFill>
                  <a:srgbClr val="7F8C8D"/>
                </a:solidFill>
              </a:rPr>
              <a:t>最近、AIをどう使っているかを整理してみました。  
最初から「上流・中流・下流」と分けようとしていたわけではなく、使っていくうちに自然とこうなっていただけです。これが良い構成なのかどうかは正直わかりませんが、現状のスナップショットとして</a:t>
            </a:r>
          </a:p>
        </p:txBody>
      </p:sp>
      <p:sp>
        <p:nvSpPr>
          <p:cNvPr id="15" name="TextBox 14"/>
          <p:cNvSpPr txBox="1"/>
          <p:nvPr/>
        </p:nvSpPr>
        <p:spPr>
          <a:xfrm>
            <a:off x="365760" y="5040309"/>
            <a:ext cx="11430000" cy="569671"/>
          </a:xfrm>
          <a:prstGeom prst="rect">
            <a:avLst/>
          </a:prstGeom>
          <a:noFill/>
        </p:spPr>
        <p:txBody>
          <a:bodyPr wrap="square">
            <a:spAutoFit/>
          </a:bodyPr>
          <a:lstStyle/>
          <a:p>
            <a:r>
              <a:rPr sz="1000">
                <a:solidFill>
                  <a:srgbClr val="E74C3C"/>
                </a:solidFill>
              </a:rPr>
              <a:t>▶ </a:t>
            </a:r>
            <a:r>
              <a:rPr sz="1200" b="1">
                <a:solidFill>
                  <a:srgbClr val="FFFFFF"/>
                </a:solidFill>
              </a:rPr>
              <a:t>ChatGPT・Codex・Claude Codeをどう役割分担したか。実際のチケットで紹介</a:t>
            </a:r>
            <a:r>
              <a:rPr sz="900">
                <a:solidFill>
                  <a:srgbClr val="7F8C8D"/>
                </a:solidFill>
              </a:rPr>
              <a:t>  (2026-08-15)</a:t>
            </a:r>
          </a:p>
        </p:txBody>
      </p:sp>
      <p:sp>
        <p:nvSpPr>
          <p:cNvPr id="16" name="TextBox 15"/>
          <p:cNvSpPr txBox="1"/>
          <p:nvPr/>
        </p:nvSpPr>
        <p:spPr>
          <a:xfrm>
            <a:off x="640080" y="5609981"/>
            <a:ext cx="11155680" cy="341802"/>
          </a:xfrm>
          <a:prstGeom prst="rect">
            <a:avLst/>
          </a:prstGeom>
          <a:noFill/>
        </p:spPr>
        <p:txBody>
          <a:bodyPr wrap="none">
            <a:spAutoFit/>
          </a:bodyPr>
          <a:lstStyle/>
          <a:p>
            <a:r>
              <a:rPr sz="800" b="1">
                <a:solidFill>
                  <a:srgbClr val="E74C3C"/>
                </a:solidFill>
              </a:rPr>
              <a:t>[Zenn]  </a:t>
            </a:r>
            <a:r>
              <a:rPr sz="800">
                <a:solidFill>
                  <a:srgbClr val="5DADE8"/>
                </a:solidFill>
                <a:hlinkClick r:id="rId5"/>
              </a:rPr>
              <a:t>https://zenn.dev/keisuke1306/articles/03-chatgpt-claude-codex-roles</a:t>
            </a:r>
          </a:p>
        </p:txBody>
      </p:sp>
      <p:sp>
        <p:nvSpPr>
          <p:cNvPr id="17" name="TextBox 16"/>
          <p:cNvSpPr txBox="1"/>
          <p:nvPr/>
        </p:nvSpPr>
        <p:spPr>
          <a:xfrm>
            <a:off x="640080" y="5951783"/>
            <a:ext cx="11155680" cy="427253"/>
          </a:xfrm>
          <a:prstGeom prst="rect">
            <a:avLst/>
          </a:prstGeom>
          <a:noFill/>
        </p:spPr>
        <p:txBody>
          <a:bodyPr wrap="square">
            <a:spAutoFit/>
          </a:bodyPr>
          <a:lstStyle/>
          <a:p>
            <a:r>
              <a:rPr sz="900">
                <a:solidFill>
                  <a:srgbClr val="7F8C8D"/>
                </a:solidFill>
              </a:rPr>
              <a:t>導入
この記事は、ChatGPT・Claude Code・Codex・Notionを組み合わせた「AI駆動開発」というテーマで書いている記事の1本です。実際に運用しているポートフォリオサイトの改修にこの開発フローを適用しながら、実践の中で見</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1A25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960120"/>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64592" cy="960120"/>
          </a:xfrm>
          <a:prstGeom prst="rect">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118872"/>
            <a:ext cx="11430000" cy="749808"/>
          </a:xfrm>
          <a:prstGeom prst="rect">
            <a:avLst/>
          </a:prstGeom>
          <a:noFill/>
        </p:spPr>
        <p:txBody>
          <a:bodyPr wrap="square">
            <a:spAutoFit/>
          </a:bodyPr>
          <a:lstStyle/>
          <a:p>
            <a:pPr algn="l"/>
            <a:r>
              <a:rPr sz="2000" b="1">
                <a:solidFill>
                  <a:srgbClr val="FFFFFF"/>
                </a:solidFill>
              </a:rPr>
              <a:t>IT運用・自動化　記事一覧　(2 / 2)</a:t>
            </a:r>
          </a:p>
        </p:txBody>
      </p:sp>
      <p:sp>
        <p:nvSpPr>
          <p:cNvPr id="6" name="TextBox 5"/>
          <p:cNvSpPr txBox="1"/>
          <p:nvPr/>
        </p:nvSpPr>
        <p:spPr>
          <a:xfrm>
            <a:off x="365760" y="6510528"/>
            <a:ext cx="11430000" cy="320040"/>
          </a:xfrm>
          <a:prstGeom prst="rect">
            <a:avLst/>
          </a:prstGeom>
          <a:noFill/>
        </p:spPr>
        <p:txBody>
          <a:bodyPr wrap="square">
            <a:spAutoFit/>
          </a:bodyPr>
          <a:lstStyle/>
          <a:p>
            <a:pPr algn="l"/>
            <a:r>
              <a:rPr sz="900" b="0">
                <a:solidFill>
                  <a:srgbClr val="7F8C8D"/>
                </a:solidFill>
              </a:rPr>
              <a:t>※ 他 1 件は JSON アーカイブを参照</a:t>
            </a:r>
          </a:p>
        </p:txBody>
      </p:sp>
      <p:sp>
        <p:nvSpPr>
          <p:cNvPr id="7" name="TextBox 6"/>
          <p:cNvSpPr txBox="1"/>
          <p:nvPr/>
        </p:nvSpPr>
        <p:spPr>
          <a:xfrm>
            <a:off x="365760" y="1024128"/>
            <a:ext cx="11430000" cy="569671"/>
          </a:xfrm>
          <a:prstGeom prst="rect">
            <a:avLst/>
          </a:prstGeom>
          <a:noFill/>
        </p:spPr>
        <p:txBody>
          <a:bodyPr wrap="square">
            <a:spAutoFit/>
          </a:bodyPr>
          <a:lstStyle/>
          <a:p>
            <a:r>
              <a:rPr sz="1000">
                <a:solidFill>
                  <a:srgbClr val="E74C3C"/>
                </a:solidFill>
              </a:rPr>
              <a:t>▶ </a:t>
            </a:r>
            <a:r>
              <a:rPr sz="1200" b="1">
                <a:solidFill>
                  <a:srgbClr val="FFFFFF"/>
                </a:solidFill>
              </a:rPr>
              <a:t>RAGの幻覚問題で詰まった！評価駆動で精度を高める自動化戦略</a:t>
            </a:r>
            <a:r>
              <a:rPr sz="900">
                <a:solidFill>
                  <a:srgbClr val="7F8C8D"/>
                </a:solidFill>
              </a:rPr>
              <a:t>  (2026-08-14)</a:t>
            </a:r>
          </a:p>
        </p:txBody>
      </p:sp>
      <p:sp>
        <p:nvSpPr>
          <p:cNvPr id="8" name="TextBox 7"/>
          <p:cNvSpPr txBox="1"/>
          <p:nvPr/>
        </p:nvSpPr>
        <p:spPr>
          <a:xfrm>
            <a:off x="640080" y="1593799"/>
            <a:ext cx="11155680" cy="341802"/>
          </a:xfrm>
          <a:prstGeom prst="rect">
            <a:avLst/>
          </a:prstGeom>
          <a:noFill/>
        </p:spPr>
        <p:txBody>
          <a:bodyPr wrap="none">
            <a:spAutoFit/>
          </a:bodyPr>
          <a:lstStyle/>
          <a:p>
            <a:r>
              <a:rPr sz="800" b="1">
                <a:solidFill>
                  <a:srgbClr val="E74C3C"/>
                </a:solidFill>
              </a:rPr>
              <a:t>[Qiita]  </a:t>
            </a:r>
            <a:r>
              <a:rPr sz="800">
                <a:solidFill>
                  <a:srgbClr val="5DADE8"/>
                </a:solidFill>
                <a:hlinkClick r:id="rId2"/>
              </a:rPr>
              <a:t>https://qiita.com/DaokFrontier/items/cdf17de4f9a14efd8423</a:t>
            </a:r>
          </a:p>
        </p:txBody>
      </p:sp>
      <p:sp>
        <p:nvSpPr>
          <p:cNvPr id="9" name="TextBox 8"/>
          <p:cNvSpPr txBox="1"/>
          <p:nvPr/>
        </p:nvSpPr>
        <p:spPr>
          <a:xfrm>
            <a:off x="640080" y="1935601"/>
            <a:ext cx="11155680" cy="427253"/>
          </a:xfrm>
          <a:prstGeom prst="rect">
            <a:avLst/>
          </a:prstGeom>
          <a:noFill/>
        </p:spPr>
        <p:txBody>
          <a:bodyPr wrap="square">
            <a:spAutoFit/>
          </a:bodyPr>
          <a:lstStyle/>
          <a:p>
            <a:r>
              <a:rPr sz="900">
                <a:solidFill>
                  <a:srgbClr val="7F8C8D"/>
                </a:solidFill>
              </a:rPr>
              <a:t>多くのRAG（検索拡張生成）システム開発者が直面する共通の壁、それがLLM（大規模言語モデル）の「幻覚（ハルシネーション）」問題です。AIがもっともらしいが事実と異なる情報を生成する現象は、システムの信頼性を大きく損ない、実運用への障壁とな</a:t>
            </a:r>
          </a:p>
        </p:txBody>
      </p:sp>
      <p:sp>
        <p:nvSpPr>
          <p:cNvPr id="10" name="TextBox 9"/>
          <p:cNvSpPr txBox="1"/>
          <p:nvPr/>
        </p:nvSpPr>
        <p:spPr>
          <a:xfrm>
            <a:off x="365760" y="2362855"/>
            <a:ext cx="11430000" cy="569671"/>
          </a:xfrm>
          <a:prstGeom prst="rect">
            <a:avLst/>
          </a:prstGeom>
          <a:noFill/>
        </p:spPr>
        <p:txBody>
          <a:bodyPr wrap="square">
            <a:spAutoFit/>
          </a:bodyPr>
          <a:lstStyle/>
          <a:p>
            <a:r>
              <a:rPr sz="1000">
                <a:solidFill>
                  <a:srgbClr val="E74C3C"/>
                </a:solidFill>
              </a:rPr>
              <a:t>▶ </a:t>
            </a:r>
            <a:r>
              <a:rPr sz="1200" b="1">
                <a:solidFill>
                  <a:srgbClr val="FFFFFF"/>
                </a:solidFill>
              </a:rPr>
              <a:t>新卒2年目のAI活用事例 ~前編~ 保守運用現場にRAGを持ち込んだ話</a:t>
            </a:r>
            <a:r>
              <a:rPr sz="900">
                <a:solidFill>
                  <a:srgbClr val="7F8C8D"/>
                </a:solidFill>
              </a:rPr>
              <a:t>  (2026-08-14)</a:t>
            </a:r>
          </a:p>
        </p:txBody>
      </p:sp>
      <p:sp>
        <p:nvSpPr>
          <p:cNvPr id="11" name="TextBox 10"/>
          <p:cNvSpPr txBox="1"/>
          <p:nvPr/>
        </p:nvSpPr>
        <p:spPr>
          <a:xfrm>
            <a:off x="640080" y="2932526"/>
            <a:ext cx="11155680" cy="341802"/>
          </a:xfrm>
          <a:prstGeom prst="rect">
            <a:avLst/>
          </a:prstGeom>
          <a:noFill/>
        </p:spPr>
        <p:txBody>
          <a:bodyPr wrap="none">
            <a:spAutoFit/>
          </a:bodyPr>
          <a:lstStyle/>
          <a:p>
            <a:r>
              <a:rPr sz="800" b="1">
                <a:solidFill>
                  <a:srgbClr val="E74C3C"/>
                </a:solidFill>
              </a:rPr>
              <a:t>[Zenn]  </a:t>
            </a:r>
            <a:r>
              <a:rPr sz="800">
                <a:solidFill>
                  <a:srgbClr val="5DADE8"/>
                </a:solidFill>
                <a:hlinkClick r:id="rId3"/>
              </a:rPr>
              <a:t>https://zenn.dev/acntechjp/articles/f0715ee2fd9b3d</a:t>
            </a:r>
          </a:p>
        </p:txBody>
      </p:sp>
      <p:sp>
        <p:nvSpPr>
          <p:cNvPr id="12" name="TextBox 11"/>
          <p:cNvSpPr txBox="1"/>
          <p:nvPr/>
        </p:nvSpPr>
        <p:spPr>
          <a:xfrm>
            <a:off x="640080" y="3274329"/>
            <a:ext cx="11155680" cy="427253"/>
          </a:xfrm>
          <a:prstGeom prst="rect">
            <a:avLst/>
          </a:prstGeom>
          <a:noFill/>
        </p:spPr>
        <p:txBody>
          <a:bodyPr wrap="square">
            <a:spAutoFit/>
          </a:bodyPr>
          <a:lstStyle/>
          <a:p>
            <a:r>
              <a:rPr sz="900">
                <a:solidFill>
                  <a:srgbClr val="7F8C8D"/>
                </a:solidFill>
              </a:rPr>
              <a:t>執筆者：Kensuke Tezuka
 はじめに
「また障害だ。でも誰に聞けばいいかわからない。資料はどこにあるんだろう」
――運用現場で働いていると、こういう場面に何度も直面します。
手順書はどこかの共有フォルダに眠っていて、過去の対応</a:t>
            </a:r>
          </a:p>
        </p:txBody>
      </p:sp>
      <p:sp>
        <p:nvSpPr>
          <p:cNvPr id="13" name="TextBox 12"/>
          <p:cNvSpPr txBox="1"/>
          <p:nvPr/>
        </p:nvSpPr>
        <p:spPr>
          <a:xfrm>
            <a:off x="365760" y="3701582"/>
            <a:ext cx="11430000" cy="569671"/>
          </a:xfrm>
          <a:prstGeom prst="rect">
            <a:avLst/>
          </a:prstGeom>
          <a:noFill/>
        </p:spPr>
        <p:txBody>
          <a:bodyPr wrap="square">
            <a:spAutoFit/>
          </a:bodyPr>
          <a:lstStyle/>
          <a:p>
            <a:r>
              <a:rPr sz="1000">
                <a:solidFill>
                  <a:srgbClr val="E74C3C"/>
                </a:solidFill>
              </a:rPr>
              <a:t>▶ </a:t>
            </a:r>
            <a:r>
              <a:rPr sz="1200" b="1">
                <a:solidFill>
                  <a:srgbClr val="FFFFFF"/>
                </a:solidFill>
              </a:rPr>
              <a:t>RAG + エージェンティックループで作る「マークダウンチェッカー」— md-checker 実装解説</a:t>
            </a:r>
            <a:r>
              <a:rPr sz="900">
                <a:solidFill>
                  <a:srgbClr val="7F8C8D"/>
                </a:solidFill>
              </a:rPr>
              <a:t>  (2026-08-14)</a:t>
            </a:r>
          </a:p>
        </p:txBody>
      </p:sp>
      <p:sp>
        <p:nvSpPr>
          <p:cNvPr id="14" name="TextBox 13"/>
          <p:cNvSpPr txBox="1"/>
          <p:nvPr/>
        </p:nvSpPr>
        <p:spPr>
          <a:xfrm>
            <a:off x="640080" y="4271253"/>
            <a:ext cx="11155680" cy="341802"/>
          </a:xfrm>
          <a:prstGeom prst="rect">
            <a:avLst/>
          </a:prstGeom>
          <a:noFill/>
        </p:spPr>
        <p:txBody>
          <a:bodyPr wrap="none">
            <a:spAutoFit/>
          </a:bodyPr>
          <a:lstStyle/>
          <a:p>
            <a:r>
              <a:rPr sz="800" b="1">
                <a:solidFill>
                  <a:srgbClr val="E74C3C"/>
                </a:solidFill>
              </a:rPr>
              <a:t>[Zenn]  </a:t>
            </a:r>
            <a:r>
              <a:rPr sz="800">
                <a:solidFill>
                  <a:srgbClr val="5DADE8"/>
                </a:solidFill>
                <a:hlinkClick r:id="rId4"/>
              </a:rPr>
              <a:t>https://zenn.dev/dktech/articles/83ffb33388fd3f</a:t>
            </a:r>
          </a:p>
        </p:txBody>
      </p:sp>
      <p:sp>
        <p:nvSpPr>
          <p:cNvPr id="15" name="TextBox 14"/>
          <p:cNvSpPr txBox="1"/>
          <p:nvPr/>
        </p:nvSpPr>
        <p:spPr>
          <a:xfrm>
            <a:off x="640080" y="4613056"/>
            <a:ext cx="11155680" cy="427253"/>
          </a:xfrm>
          <a:prstGeom prst="rect">
            <a:avLst/>
          </a:prstGeom>
          <a:noFill/>
        </p:spPr>
        <p:txBody>
          <a:bodyPr wrap="square">
            <a:spAutoFit/>
          </a:bodyPr>
          <a:lstStyle/>
          <a:p>
            <a:r>
              <a:rPr sz="900">
                <a:solidFill>
                  <a:srgbClr val="7F8C8D"/>
                </a:solidFill>
              </a:rPr>
              <a:t>はじめに
「前にも似たような説明を書いていないか」「過去の記載と矛盾していないか」——技術ブログや社内ドキュメントを書くとき、こういった確認を手動でやるのは大変です。
この記事では、それを自動化する md-checker というツールを題材</a:t>
            </a:r>
          </a:p>
        </p:txBody>
      </p:sp>
      <p:sp>
        <p:nvSpPr>
          <p:cNvPr id="16" name="TextBox 15"/>
          <p:cNvSpPr txBox="1"/>
          <p:nvPr/>
        </p:nvSpPr>
        <p:spPr>
          <a:xfrm>
            <a:off x="365760" y="5040309"/>
            <a:ext cx="11430000" cy="569671"/>
          </a:xfrm>
          <a:prstGeom prst="rect">
            <a:avLst/>
          </a:prstGeom>
          <a:noFill/>
        </p:spPr>
        <p:txBody>
          <a:bodyPr wrap="square">
            <a:spAutoFit/>
          </a:bodyPr>
          <a:lstStyle/>
          <a:p>
            <a:r>
              <a:rPr sz="1000">
                <a:solidFill>
                  <a:srgbClr val="E74C3C"/>
                </a:solidFill>
              </a:rPr>
              <a:t>▶ </a:t>
            </a:r>
            <a:r>
              <a:rPr sz="1200" b="1">
                <a:solidFill>
                  <a:srgbClr val="FFFFFF"/>
                </a:solidFill>
              </a:rPr>
              <a:t>AIに丸投げしない。チケット駆動開発で変わったこと</a:t>
            </a:r>
            <a:r>
              <a:rPr sz="900">
                <a:solidFill>
                  <a:srgbClr val="7F8C8D"/>
                </a:solidFill>
              </a:rPr>
              <a:t>  (2026-08-13)</a:t>
            </a:r>
          </a:p>
        </p:txBody>
      </p:sp>
      <p:sp>
        <p:nvSpPr>
          <p:cNvPr id="17" name="TextBox 16"/>
          <p:cNvSpPr txBox="1"/>
          <p:nvPr/>
        </p:nvSpPr>
        <p:spPr>
          <a:xfrm>
            <a:off x="640080" y="5609981"/>
            <a:ext cx="11155680" cy="341802"/>
          </a:xfrm>
          <a:prstGeom prst="rect">
            <a:avLst/>
          </a:prstGeom>
          <a:noFill/>
        </p:spPr>
        <p:txBody>
          <a:bodyPr wrap="none">
            <a:spAutoFit/>
          </a:bodyPr>
          <a:lstStyle/>
          <a:p>
            <a:r>
              <a:rPr sz="800" b="1">
                <a:solidFill>
                  <a:srgbClr val="E74C3C"/>
                </a:solidFill>
              </a:rPr>
              <a:t>[Zenn]  </a:t>
            </a:r>
            <a:r>
              <a:rPr sz="800">
                <a:solidFill>
                  <a:srgbClr val="5DADE8"/>
                </a:solidFill>
                <a:hlinkClick r:id="rId5"/>
              </a:rPr>
              <a:t>https://zenn.dev/keisuke1306/articles/02-ticket-driven-development</a:t>
            </a:r>
          </a:p>
        </p:txBody>
      </p:sp>
      <p:sp>
        <p:nvSpPr>
          <p:cNvPr id="18" name="TextBox 17"/>
          <p:cNvSpPr txBox="1"/>
          <p:nvPr/>
        </p:nvSpPr>
        <p:spPr>
          <a:xfrm>
            <a:off x="640080" y="5951783"/>
            <a:ext cx="11155680" cy="427253"/>
          </a:xfrm>
          <a:prstGeom prst="rect">
            <a:avLst/>
          </a:prstGeom>
          <a:noFill/>
        </p:spPr>
        <p:txBody>
          <a:bodyPr wrap="square">
            <a:spAutoFit/>
          </a:bodyPr>
          <a:lstStyle/>
          <a:p>
            <a:r>
              <a:rPr sz="900">
                <a:solidFill>
                  <a:srgbClr val="7F8C8D"/>
                </a:solidFill>
              </a:rPr>
              <a:t>導入
この記事は、ChatGPT・Claude Code・Codex・Notionを組み合わせた「AI駆動開発」というテーマで書いている記事の1本です。実際に運用しているポートフォリオサイトの改修にこの開発フローを適用しながら、実践の中で見</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1A25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960120"/>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64592" cy="960120"/>
          </a:xfrm>
          <a:prstGeom prst="rect">
            <a:avLst/>
          </a:prstGeom>
          <a:solidFill>
            <a:srgbClr val="2980B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118872"/>
            <a:ext cx="11430000" cy="749808"/>
          </a:xfrm>
          <a:prstGeom prst="rect">
            <a:avLst/>
          </a:prstGeom>
          <a:noFill/>
        </p:spPr>
        <p:txBody>
          <a:bodyPr wrap="square">
            <a:spAutoFit/>
          </a:bodyPr>
          <a:lstStyle/>
          <a:p>
            <a:pPr algn="l"/>
            <a:r>
              <a:rPr sz="2000" b="1">
                <a:solidFill>
                  <a:srgbClr val="FFFFFF"/>
                </a:solidFill>
              </a:rPr>
              <a:t>RAG・検索基盤設計　記事一覧　(1 / 2)</a:t>
            </a:r>
          </a:p>
        </p:txBody>
      </p:sp>
      <p:sp>
        <p:nvSpPr>
          <p:cNvPr id="6" name="TextBox 5"/>
          <p:cNvSpPr txBox="1"/>
          <p:nvPr/>
        </p:nvSpPr>
        <p:spPr>
          <a:xfrm>
            <a:off x="365760" y="1024128"/>
            <a:ext cx="11430000" cy="569671"/>
          </a:xfrm>
          <a:prstGeom prst="rect">
            <a:avLst/>
          </a:prstGeom>
          <a:noFill/>
        </p:spPr>
        <p:txBody>
          <a:bodyPr wrap="square">
            <a:spAutoFit/>
          </a:bodyPr>
          <a:lstStyle/>
          <a:p>
            <a:r>
              <a:rPr sz="1000">
                <a:solidFill>
                  <a:srgbClr val="2980B9"/>
                </a:solidFill>
              </a:rPr>
              <a:t>▶ </a:t>
            </a:r>
            <a:r>
              <a:rPr sz="1200" b="1">
                <a:solidFill>
                  <a:srgbClr val="FFFFFF"/>
                </a:solidFill>
              </a:rPr>
              <a:t>「RAGなら安全・正確」は本当？社内検索AIを守るプロンプトインジェクション入門</a:t>
            </a:r>
            <a:r>
              <a:rPr sz="900">
                <a:solidFill>
                  <a:srgbClr val="7F8C8D"/>
                </a:solidFill>
              </a:rPr>
              <a:t>  (2026-08-17)</a:t>
            </a:r>
          </a:p>
        </p:txBody>
      </p:sp>
      <p:sp>
        <p:nvSpPr>
          <p:cNvPr id="7" name="TextBox 6"/>
          <p:cNvSpPr txBox="1"/>
          <p:nvPr/>
        </p:nvSpPr>
        <p:spPr>
          <a:xfrm>
            <a:off x="640080" y="1593799"/>
            <a:ext cx="11155680" cy="341802"/>
          </a:xfrm>
          <a:prstGeom prst="rect">
            <a:avLst/>
          </a:prstGeom>
          <a:noFill/>
        </p:spPr>
        <p:txBody>
          <a:bodyPr wrap="none">
            <a:spAutoFit/>
          </a:bodyPr>
          <a:lstStyle/>
          <a:p>
            <a:r>
              <a:rPr sz="800" b="1">
                <a:solidFill>
                  <a:srgbClr val="2980B9"/>
                </a:solidFill>
              </a:rPr>
              <a:t>[Qiita]  </a:t>
            </a:r>
            <a:r>
              <a:rPr sz="800">
                <a:solidFill>
                  <a:srgbClr val="5DADE8"/>
                </a:solidFill>
                <a:hlinkClick r:id="rId2"/>
              </a:rPr>
              <a:t>https://qiita.com/kz2021019/items/0bea917078b430ef107a</a:t>
            </a:r>
          </a:p>
        </p:txBody>
      </p:sp>
      <p:sp>
        <p:nvSpPr>
          <p:cNvPr id="8" name="TextBox 7"/>
          <p:cNvSpPr txBox="1"/>
          <p:nvPr/>
        </p:nvSpPr>
        <p:spPr>
          <a:xfrm>
            <a:off x="640080" y="1935601"/>
            <a:ext cx="11155680" cy="427253"/>
          </a:xfrm>
          <a:prstGeom prst="rect">
            <a:avLst/>
          </a:prstGeom>
          <a:noFill/>
        </p:spPr>
        <p:txBody>
          <a:bodyPr wrap="square">
            <a:spAutoFit/>
          </a:bodyPr>
          <a:lstStyle/>
          <a:p>
            <a:r>
              <a:rPr sz="900">
                <a:solidFill>
                  <a:srgbClr val="7F8C8D"/>
                </a:solidFill>
              </a:rPr>
              <a:t>社内規程やマニュアルを検索して回答するRAG（検索拡張生成）なら、生成AIの誤回答も情報漏えいも解決できる。そう期待されがちですが、RAGは安全性や正確性を自動的に保証する仕組みではありません。
検索元が古い、閲覧権限が混ざる、悪意ある指</a:t>
            </a:r>
          </a:p>
        </p:txBody>
      </p:sp>
      <p:sp>
        <p:nvSpPr>
          <p:cNvPr id="9" name="TextBox 8"/>
          <p:cNvSpPr txBox="1"/>
          <p:nvPr/>
        </p:nvSpPr>
        <p:spPr>
          <a:xfrm>
            <a:off x="365760" y="2362855"/>
            <a:ext cx="11430000" cy="569671"/>
          </a:xfrm>
          <a:prstGeom prst="rect">
            <a:avLst/>
          </a:prstGeom>
          <a:noFill/>
        </p:spPr>
        <p:txBody>
          <a:bodyPr wrap="square">
            <a:spAutoFit/>
          </a:bodyPr>
          <a:lstStyle/>
          <a:p>
            <a:r>
              <a:rPr sz="1000">
                <a:solidFill>
                  <a:srgbClr val="2980B9"/>
                </a:solidFill>
              </a:rPr>
              <a:t>▶ </a:t>
            </a:r>
            <a:r>
              <a:rPr sz="1200" b="1">
                <a:solidFill>
                  <a:srgbClr val="FFFFFF"/>
                </a:solidFill>
              </a:rPr>
              <a:t>【初心者向け】サーバ屋が生成AIのAPIを初めて触る ④まとめ編 〜スマホで使える「ボイスメモ整理アプリ」をGASで作って完結〜</a:t>
            </a:r>
            <a:r>
              <a:rPr sz="900">
                <a:solidFill>
                  <a:srgbClr val="7F8C8D"/>
                </a:solidFill>
              </a:rPr>
              <a:t>  (2026-08-16)</a:t>
            </a:r>
          </a:p>
        </p:txBody>
      </p:sp>
      <p:sp>
        <p:nvSpPr>
          <p:cNvPr id="10" name="TextBox 9"/>
          <p:cNvSpPr txBox="1"/>
          <p:nvPr/>
        </p:nvSpPr>
        <p:spPr>
          <a:xfrm>
            <a:off x="640080" y="2932526"/>
            <a:ext cx="11155680" cy="341802"/>
          </a:xfrm>
          <a:prstGeom prst="rect">
            <a:avLst/>
          </a:prstGeom>
          <a:noFill/>
        </p:spPr>
        <p:txBody>
          <a:bodyPr wrap="none">
            <a:spAutoFit/>
          </a:bodyPr>
          <a:lstStyle/>
          <a:p>
            <a:r>
              <a:rPr sz="800" b="1">
                <a:solidFill>
                  <a:srgbClr val="2980B9"/>
                </a:solidFill>
              </a:rPr>
              <a:t>[Qiita]  </a:t>
            </a:r>
            <a:r>
              <a:rPr sz="800">
                <a:solidFill>
                  <a:srgbClr val="5DADE8"/>
                </a:solidFill>
                <a:hlinkClick r:id="rId3"/>
              </a:rPr>
              <a:t>https://qiita.com/katukoga/items/f5a74262e91c5b0077da</a:t>
            </a:r>
          </a:p>
        </p:txBody>
      </p:sp>
      <p:sp>
        <p:nvSpPr>
          <p:cNvPr id="11" name="TextBox 10"/>
          <p:cNvSpPr txBox="1"/>
          <p:nvPr/>
        </p:nvSpPr>
        <p:spPr>
          <a:xfrm>
            <a:off x="640080" y="3274329"/>
            <a:ext cx="11155680" cy="427253"/>
          </a:xfrm>
          <a:prstGeom prst="rect">
            <a:avLst/>
          </a:prstGeom>
          <a:noFill/>
        </p:spPr>
        <p:txBody>
          <a:bodyPr wrap="square">
            <a:spAutoFit/>
          </a:bodyPr>
          <a:lstStyle/>
          <a:p>
            <a:r>
              <a:rPr sz="900">
                <a:solidFill>
                  <a:srgbClr val="7F8C8D"/>
                </a:solidFill>
              </a:rPr>
              <a:t>はじめに
シリーズ最終回です。①セットアップ編、②全機能ためす編、③つまずき解決編と順を追って進めてきました。最終回はこの学びを全部使って、スマホで使える実用ミニアプリを構築します。
| 各回のタイトル | 内容 |
|---|---|</a:t>
            </a:r>
          </a:p>
        </p:txBody>
      </p:sp>
      <p:sp>
        <p:nvSpPr>
          <p:cNvPr id="12" name="TextBox 11"/>
          <p:cNvSpPr txBox="1"/>
          <p:nvPr/>
        </p:nvSpPr>
        <p:spPr>
          <a:xfrm>
            <a:off x="365760" y="3701582"/>
            <a:ext cx="11430000" cy="569671"/>
          </a:xfrm>
          <a:prstGeom prst="rect">
            <a:avLst/>
          </a:prstGeom>
          <a:noFill/>
        </p:spPr>
        <p:txBody>
          <a:bodyPr wrap="square">
            <a:spAutoFit/>
          </a:bodyPr>
          <a:lstStyle/>
          <a:p>
            <a:r>
              <a:rPr sz="1000">
                <a:solidFill>
                  <a:srgbClr val="2980B9"/>
                </a:solidFill>
              </a:rPr>
              <a:t>▶ </a:t>
            </a:r>
            <a:r>
              <a:rPr sz="1200" b="1">
                <a:solidFill>
                  <a:srgbClr val="FFFFFF"/>
                </a:solidFill>
              </a:rPr>
              <a:t>オントロジー × グラフ × LLM の実装と評価（基礎編）</a:t>
            </a:r>
            <a:r>
              <a:rPr sz="900">
                <a:solidFill>
                  <a:srgbClr val="7F8C8D"/>
                </a:solidFill>
              </a:rPr>
              <a:t>  (2026-08-16)</a:t>
            </a:r>
          </a:p>
        </p:txBody>
      </p:sp>
      <p:sp>
        <p:nvSpPr>
          <p:cNvPr id="13" name="TextBox 12"/>
          <p:cNvSpPr txBox="1"/>
          <p:nvPr/>
        </p:nvSpPr>
        <p:spPr>
          <a:xfrm>
            <a:off x="640080" y="4271253"/>
            <a:ext cx="11155680" cy="341802"/>
          </a:xfrm>
          <a:prstGeom prst="rect">
            <a:avLst/>
          </a:prstGeom>
          <a:noFill/>
        </p:spPr>
        <p:txBody>
          <a:bodyPr wrap="none">
            <a:spAutoFit/>
          </a:bodyPr>
          <a:lstStyle/>
          <a:p>
            <a:r>
              <a:rPr sz="800" b="1">
                <a:solidFill>
                  <a:srgbClr val="2980B9"/>
                </a:solidFill>
              </a:rPr>
              <a:t>[Qiita]  </a:t>
            </a:r>
            <a:r>
              <a:rPr sz="800">
                <a:solidFill>
                  <a:srgbClr val="5DADE8"/>
                </a:solidFill>
                <a:hlinkClick r:id="rId4"/>
              </a:rPr>
              <a:t>https://qiita.com/haystacker/items/853234c38ae36adbca1f</a:t>
            </a:r>
          </a:p>
        </p:txBody>
      </p:sp>
      <p:sp>
        <p:nvSpPr>
          <p:cNvPr id="14" name="TextBox 13"/>
          <p:cNvSpPr txBox="1"/>
          <p:nvPr/>
        </p:nvSpPr>
        <p:spPr>
          <a:xfrm>
            <a:off x="640080" y="4613056"/>
            <a:ext cx="11155680" cy="427253"/>
          </a:xfrm>
          <a:prstGeom prst="rect">
            <a:avLst/>
          </a:prstGeom>
          <a:noFill/>
        </p:spPr>
        <p:txBody>
          <a:bodyPr wrap="square">
            <a:spAutoFit/>
          </a:bodyPr>
          <a:lstStyle/>
          <a:p>
            <a:r>
              <a:rPr sz="900">
                <a:solidFill>
                  <a:srgbClr val="7F8C8D"/>
                </a:solidFill>
              </a:rPr>
              <a:t>このチュートリアルでは、プレーン RAG とオントロジー併用 RAG を同じ評価セットで比較し、精度差がどこから生じるのか（特に、正解情報の被覆範囲の違い）を確認します。そのうえで、質問の種類に応じて RAG 方式を切り替えるルーターを構築</a:t>
            </a:r>
          </a:p>
        </p:txBody>
      </p:sp>
      <p:sp>
        <p:nvSpPr>
          <p:cNvPr id="15" name="TextBox 14"/>
          <p:cNvSpPr txBox="1"/>
          <p:nvPr/>
        </p:nvSpPr>
        <p:spPr>
          <a:xfrm>
            <a:off x="365760" y="5040309"/>
            <a:ext cx="11430000" cy="569671"/>
          </a:xfrm>
          <a:prstGeom prst="rect">
            <a:avLst/>
          </a:prstGeom>
          <a:noFill/>
        </p:spPr>
        <p:txBody>
          <a:bodyPr wrap="square">
            <a:spAutoFit/>
          </a:bodyPr>
          <a:lstStyle/>
          <a:p>
            <a:r>
              <a:rPr sz="1000">
                <a:solidFill>
                  <a:srgbClr val="2980B9"/>
                </a:solidFill>
              </a:rPr>
              <a:t>▶ </a:t>
            </a:r>
            <a:r>
              <a:rPr sz="1200" b="1">
                <a:solidFill>
                  <a:srgbClr val="FFFFFF"/>
                </a:solidFill>
              </a:rPr>
              <a:t>大人用です。弦の分割長さ「高校入試頻出問題 半円Oの面積を求めよ」様を、計算はsympyで作図は手抜きのつもりでした。</a:t>
            </a:r>
            <a:r>
              <a:rPr sz="900">
                <a:solidFill>
                  <a:srgbClr val="7F8C8D"/>
                </a:solidFill>
              </a:rPr>
              <a:t>  (2026-08-16)</a:t>
            </a:r>
          </a:p>
        </p:txBody>
      </p:sp>
      <p:sp>
        <p:nvSpPr>
          <p:cNvPr id="16" name="TextBox 15"/>
          <p:cNvSpPr txBox="1"/>
          <p:nvPr/>
        </p:nvSpPr>
        <p:spPr>
          <a:xfrm>
            <a:off x="640080" y="5609981"/>
            <a:ext cx="11155680" cy="341802"/>
          </a:xfrm>
          <a:prstGeom prst="rect">
            <a:avLst/>
          </a:prstGeom>
          <a:noFill/>
        </p:spPr>
        <p:txBody>
          <a:bodyPr wrap="none">
            <a:spAutoFit/>
          </a:bodyPr>
          <a:lstStyle/>
          <a:p>
            <a:r>
              <a:rPr sz="800" b="1">
                <a:solidFill>
                  <a:srgbClr val="2980B9"/>
                </a:solidFill>
              </a:rPr>
              <a:t>[Qiita]  </a:t>
            </a:r>
            <a:r>
              <a:rPr sz="800">
                <a:solidFill>
                  <a:srgbClr val="5DADE8"/>
                </a:solidFill>
                <a:hlinkClick r:id="rId5"/>
              </a:rPr>
              <a:t>https://qiita.com/mrrclb48z/items/98c6408c45825445d6a4</a:t>
            </a:r>
          </a:p>
        </p:txBody>
      </p:sp>
      <p:sp>
        <p:nvSpPr>
          <p:cNvPr id="17" name="TextBox 16"/>
          <p:cNvSpPr txBox="1"/>
          <p:nvPr/>
        </p:nvSpPr>
        <p:spPr>
          <a:xfrm>
            <a:off x="640080" y="5951783"/>
            <a:ext cx="11155680" cy="427253"/>
          </a:xfrm>
          <a:prstGeom prst="rect">
            <a:avLst/>
          </a:prstGeom>
          <a:noFill/>
        </p:spPr>
        <p:txBody>
          <a:bodyPr wrap="square">
            <a:spAutoFit/>
          </a:bodyPr>
          <a:lstStyle/>
          <a:p>
            <a:r>
              <a:rPr sz="900">
                <a:solidFill>
                  <a:srgbClr val="7F8C8D"/>
                </a:solidFill>
              </a:rPr>
              <a:t>オリジナル
YUUU0123 様 (0:00〜2:24) いつもお世話になっております。
↓高校入試頻出問題 半円Oの面積を求めよ
https://youtu.be/LSmzDvOmYNA
いつものsympyで(オリジナル Youtbe様</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1A25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960120"/>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64592" cy="960120"/>
          </a:xfrm>
          <a:prstGeom prst="rect">
            <a:avLst/>
          </a:prstGeom>
          <a:solidFill>
            <a:srgbClr val="2980B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118872"/>
            <a:ext cx="11430000" cy="749808"/>
          </a:xfrm>
          <a:prstGeom prst="rect">
            <a:avLst/>
          </a:prstGeom>
          <a:noFill/>
        </p:spPr>
        <p:txBody>
          <a:bodyPr wrap="square">
            <a:spAutoFit/>
          </a:bodyPr>
          <a:lstStyle/>
          <a:p>
            <a:pPr algn="l"/>
            <a:r>
              <a:rPr sz="2000" b="1">
                <a:solidFill>
                  <a:srgbClr val="FFFFFF"/>
                </a:solidFill>
              </a:rPr>
              <a:t>RAG・検索基盤設計　記事一覧　(2 / 2)</a:t>
            </a:r>
          </a:p>
        </p:txBody>
      </p:sp>
      <p:sp>
        <p:nvSpPr>
          <p:cNvPr id="6" name="TextBox 5"/>
          <p:cNvSpPr txBox="1"/>
          <p:nvPr/>
        </p:nvSpPr>
        <p:spPr>
          <a:xfrm>
            <a:off x="365760" y="6510528"/>
            <a:ext cx="11430000" cy="320040"/>
          </a:xfrm>
          <a:prstGeom prst="rect">
            <a:avLst/>
          </a:prstGeom>
          <a:noFill/>
        </p:spPr>
        <p:txBody>
          <a:bodyPr wrap="square">
            <a:spAutoFit/>
          </a:bodyPr>
          <a:lstStyle/>
          <a:p>
            <a:pPr algn="l"/>
            <a:r>
              <a:rPr sz="900" b="0">
                <a:solidFill>
                  <a:srgbClr val="7F8C8D"/>
                </a:solidFill>
              </a:rPr>
              <a:t>※ 他 28 件は JSON アーカイブを参照</a:t>
            </a:r>
          </a:p>
        </p:txBody>
      </p:sp>
      <p:sp>
        <p:nvSpPr>
          <p:cNvPr id="7" name="TextBox 6"/>
          <p:cNvSpPr txBox="1"/>
          <p:nvPr/>
        </p:nvSpPr>
        <p:spPr>
          <a:xfrm>
            <a:off x="365760" y="1024128"/>
            <a:ext cx="11430000" cy="569671"/>
          </a:xfrm>
          <a:prstGeom prst="rect">
            <a:avLst/>
          </a:prstGeom>
          <a:noFill/>
        </p:spPr>
        <p:txBody>
          <a:bodyPr wrap="square">
            <a:spAutoFit/>
          </a:bodyPr>
          <a:lstStyle/>
          <a:p>
            <a:r>
              <a:rPr sz="1000">
                <a:solidFill>
                  <a:srgbClr val="2980B9"/>
                </a:solidFill>
              </a:rPr>
              <a:t>▶ </a:t>
            </a:r>
            <a:r>
              <a:rPr sz="1200" b="1">
                <a:solidFill>
                  <a:srgbClr val="FFFFFF"/>
                </a:solidFill>
              </a:rPr>
              <a:t>Recallを上げてもRAGの精度は上がらなかった ― Fragrachを作るまで</a:t>
            </a:r>
            <a:r>
              <a:rPr sz="900">
                <a:solidFill>
                  <a:srgbClr val="7F8C8D"/>
                </a:solidFill>
              </a:rPr>
              <a:t>  (2026-08-16)</a:t>
            </a:r>
          </a:p>
        </p:txBody>
      </p:sp>
      <p:sp>
        <p:nvSpPr>
          <p:cNvPr id="8" name="TextBox 7"/>
          <p:cNvSpPr txBox="1"/>
          <p:nvPr/>
        </p:nvSpPr>
        <p:spPr>
          <a:xfrm>
            <a:off x="640080" y="1593799"/>
            <a:ext cx="11155680" cy="341802"/>
          </a:xfrm>
          <a:prstGeom prst="rect">
            <a:avLst/>
          </a:prstGeom>
          <a:noFill/>
        </p:spPr>
        <p:txBody>
          <a:bodyPr wrap="none">
            <a:spAutoFit/>
          </a:bodyPr>
          <a:lstStyle/>
          <a:p>
            <a:r>
              <a:rPr sz="800" b="1">
                <a:solidFill>
                  <a:srgbClr val="2980B9"/>
                </a:solidFill>
              </a:rPr>
              <a:t>[Qiita]  </a:t>
            </a:r>
            <a:r>
              <a:rPr sz="800">
                <a:solidFill>
                  <a:srgbClr val="5DADE8"/>
                </a:solidFill>
                <a:hlinkClick r:id="rId2"/>
              </a:rPr>
              <a:t>https://qiita.com/kitfactory/items/7193777e8bd7113102dc</a:t>
            </a:r>
          </a:p>
        </p:txBody>
      </p:sp>
      <p:sp>
        <p:nvSpPr>
          <p:cNvPr id="9" name="TextBox 8"/>
          <p:cNvSpPr txBox="1"/>
          <p:nvPr/>
        </p:nvSpPr>
        <p:spPr>
          <a:xfrm>
            <a:off x="640080" y="1935601"/>
            <a:ext cx="11155680" cy="427253"/>
          </a:xfrm>
          <a:prstGeom prst="rect">
            <a:avLst/>
          </a:prstGeom>
          <a:noFill/>
        </p:spPr>
        <p:txBody>
          <a:bodyPr wrap="square">
            <a:spAutoFit/>
          </a:bodyPr>
          <a:lstStyle/>
          <a:p>
            <a:r>
              <a:rPr sz="900">
                <a:solidFill>
                  <a:srgbClr val="7F8C8D"/>
                </a:solidFill>
              </a:rPr>
              <a:t>Fragrachとは
Fragrach v0.1.0というRust製ライブラリを公開しました。
https\://github.com/hachiware-labs/fragrach
Fragrachは、企業文書のように内容や効力が変</a:t>
            </a:r>
          </a:p>
        </p:txBody>
      </p:sp>
      <p:sp>
        <p:nvSpPr>
          <p:cNvPr id="10" name="TextBox 9"/>
          <p:cNvSpPr txBox="1"/>
          <p:nvPr/>
        </p:nvSpPr>
        <p:spPr>
          <a:xfrm>
            <a:off x="365760" y="2362855"/>
            <a:ext cx="11430000" cy="569671"/>
          </a:xfrm>
          <a:prstGeom prst="rect">
            <a:avLst/>
          </a:prstGeom>
          <a:noFill/>
        </p:spPr>
        <p:txBody>
          <a:bodyPr wrap="square">
            <a:spAutoFit/>
          </a:bodyPr>
          <a:lstStyle/>
          <a:p>
            <a:r>
              <a:rPr sz="1000">
                <a:solidFill>
                  <a:srgbClr val="2980B9"/>
                </a:solidFill>
              </a:rPr>
              <a:t>▶ </a:t>
            </a:r>
            <a:r>
              <a:rPr sz="1200" b="1">
                <a:solidFill>
                  <a:srgbClr val="FFFFFF"/>
                </a:solidFill>
              </a:rPr>
              <a:t>RAGはベクトルである必要はないのでは</a:t>
            </a:r>
            <a:r>
              <a:rPr sz="900">
                <a:solidFill>
                  <a:srgbClr val="7F8C8D"/>
                </a:solidFill>
              </a:rPr>
              <a:t>  (2026-08-16)</a:t>
            </a:r>
          </a:p>
        </p:txBody>
      </p:sp>
      <p:sp>
        <p:nvSpPr>
          <p:cNvPr id="11" name="TextBox 10"/>
          <p:cNvSpPr txBox="1"/>
          <p:nvPr/>
        </p:nvSpPr>
        <p:spPr>
          <a:xfrm>
            <a:off x="640080" y="2932526"/>
            <a:ext cx="11155680" cy="341802"/>
          </a:xfrm>
          <a:prstGeom prst="rect">
            <a:avLst/>
          </a:prstGeom>
          <a:noFill/>
        </p:spPr>
        <p:txBody>
          <a:bodyPr wrap="none">
            <a:spAutoFit/>
          </a:bodyPr>
          <a:lstStyle/>
          <a:p>
            <a:r>
              <a:rPr sz="800" b="1">
                <a:solidFill>
                  <a:srgbClr val="2980B9"/>
                </a:solidFill>
              </a:rPr>
              <a:t>[Qiita]  </a:t>
            </a:r>
            <a:r>
              <a:rPr sz="800">
                <a:solidFill>
                  <a:srgbClr val="5DADE8"/>
                </a:solidFill>
                <a:hlinkClick r:id="rId3"/>
              </a:rPr>
              <a:t>https://qiita.com/ShinguAkira/items/3d42335a7a54f5107f34</a:t>
            </a:r>
          </a:p>
        </p:txBody>
      </p:sp>
      <p:sp>
        <p:nvSpPr>
          <p:cNvPr id="12" name="TextBox 11"/>
          <p:cNvSpPr txBox="1"/>
          <p:nvPr/>
        </p:nvSpPr>
        <p:spPr>
          <a:xfrm>
            <a:off x="640080" y="3274329"/>
            <a:ext cx="11155680" cy="427253"/>
          </a:xfrm>
          <a:prstGeom prst="rect">
            <a:avLst/>
          </a:prstGeom>
          <a:noFill/>
        </p:spPr>
        <p:txBody>
          <a:bodyPr wrap="square">
            <a:spAutoFit/>
          </a:bodyPr>
          <a:lstStyle/>
          <a:p>
            <a:r>
              <a:rPr sz="900">
                <a:solidFill>
                  <a:srgbClr val="7F8C8D"/>
                </a:solidFill>
              </a:rPr>
              <a:t>RAG登場時のイメージとその用途利点
RAGが登場したときのイメージは、最新の情報や社内の非公開情報をAIに含められるようなものというイメージでした。
今は別に最新の情報についてRAGがなくともAgentic Searchで取得などもでき</a:t>
            </a:r>
          </a:p>
        </p:txBody>
      </p:sp>
      <p:sp>
        <p:nvSpPr>
          <p:cNvPr id="13" name="TextBox 12"/>
          <p:cNvSpPr txBox="1"/>
          <p:nvPr/>
        </p:nvSpPr>
        <p:spPr>
          <a:xfrm>
            <a:off x="365760" y="3701582"/>
            <a:ext cx="11430000" cy="569671"/>
          </a:xfrm>
          <a:prstGeom prst="rect">
            <a:avLst/>
          </a:prstGeom>
          <a:noFill/>
        </p:spPr>
        <p:txBody>
          <a:bodyPr wrap="square">
            <a:spAutoFit/>
          </a:bodyPr>
          <a:lstStyle/>
          <a:p>
            <a:r>
              <a:rPr sz="1000">
                <a:solidFill>
                  <a:srgbClr val="2980B9"/>
                </a:solidFill>
              </a:rPr>
              <a:t>▶ </a:t>
            </a:r>
            <a:r>
              <a:rPr sz="1200" b="1">
                <a:solidFill>
                  <a:srgbClr val="FFFFFF"/>
                </a:solidFill>
              </a:rPr>
              <a:t>雑誌PDFを検索するRAGを構築した話</a:t>
            </a:r>
            <a:r>
              <a:rPr sz="900">
                <a:solidFill>
                  <a:srgbClr val="7F8C8D"/>
                </a:solidFill>
              </a:rPr>
              <a:t>  (2026-08-16)</a:t>
            </a:r>
          </a:p>
        </p:txBody>
      </p:sp>
      <p:sp>
        <p:nvSpPr>
          <p:cNvPr id="14" name="TextBox 13"/>
          <p:cNvSpPr txBox="1"/>
          <p:nvPr/>
        </p:nvSpPr>
        <p:spPr>
          <a:xfrm>
            <a:off x="640080" y="4271253"/>
            <a:ext cx="11155680" cy="341802"/>
          </a:xfrm>
          <a:prstGeom prst="rect">
            <a:avLst/>
          </a:prstGeom>
          <a:noFill/>
        </p:spPr>
        <p:txBody>
          <a:bodyPr wrap="none">
            <a:spAutoFit/>
          </a:bodyPr>
          <a:lstStyle/>
          <a:p>
            <a:r>
              <a:rPr sz="800" b="1">
                <a:solidFill>
                  <a:srgbClr val="2980B9"/>
                </a:solidFill>
              </a:rPr>
              <a:t>[Qiita]  </a:t>
            </a:r>
            <a:r>
              <a:rPr sz="800">
                <a:solidFill>
                  <a:srgbClr val="5DADE8"/>
                </a:solidFill>
                <a:hlinkClick r:id="rId4"/>
              </a:rPr>
              <a:t>https://qiita.com/incho9/items/8b0f377efd243997f6da</a:t>
            </a:r>
          </a:p>
        </p:txBody>
      </p:sp>
      <p:sp>
        <p:nvSpPr>
          <p:cNvPr id="15" name="TextBox 14"/>
          <p:cNvSpPr txBox="1"/>
          <p:nvPr/>
        </p:nvSpPr>
        <p:spPr>
          <a:xfrm>
            <a:off x="640080" y="4613056"/>
            <a:ext cx="11155680" cy="427253"/>
          </a:xfrm>
          <a:prstGeom prst="rect">
            <a:avLst/>
          </a:prstGeom>
          <a:noFill/>
        </p:spPr>
        <p:txBody>
          <a:bodyPr wrap="square">
            <a:spAutoFit/>
          </a:bodyPr>
          <a:lstStyle/>
          <a:p>
            <a:r>
              <a:rPr sz="900">
                <a:solidFill>
                  <a:srgbClr val="7F8C8D"/>
                </a:solidFill>
              </a:rPr>
              <a:t>世の中、月刊誌が隔月刊になったり、不定期刊になったり、Webに移行したり、休刊したり。雑誌受難の時代でしょうか。かの日経ソフトウェアも今年いっぱいで休刊とのこと。ここ数年はかなりの冊数を買ったり年間購読したりしてたので残念ではありますが、時</a:t>
            </a:r>
          </a:p>
        </p:txBody>
      </p:sp>
      <p:sp>
        <p:nvSpPr>
          <p:cNvPr id="16" name="TextBox 15"/>
          <p:cNvSpPr txBox="1"/>
          <p:nvPr/>
        </p:nvSpPr>
        <p:spPr>
          <a:xfrm>
            <a:off x="365760" y="5040309"/>
            <a:ext cx="11430000" cy="569671"/>
          </a:xfrm>
          <a:prstGeom prst="rect">
            <a:avLst/>
          </a:prstGeom>
          <a:noFill/>
        </p:spPr>
        <p:txBody>
          <a:bodyPr wrap="square">
            <a:spAutoFit/>
          </a:bodyPr>
          <a:lstStyle/>
          <a:p>
            <a:r>
              <a:rPr sz="1000">
                <a:solidFill>
                  <a:srgbClr val="2980B9"/>
                </a:solidFill>
              </a:rPr>
              <a:t>▶ </a:t>
            </a:r>
            <a:r>
              <a:rPr sz="1200" b="1">
                <a:solidFill>
                  <a:srgbClr val="FFFFFF"/>
                </a:solidFill>
              </a:rPr>
              <a:t>GenOfficeとRAGナレッジで資料を下書きするやつを作った</a:t>
            </a:r>
            <a:r>
              <a:rPr sz="900">
                <a:solidFill>
                  <a:srgbClr val="7F8C8D"/>
                </a:solidFill>
              </a:rPr>
              <a:t>  (2026-08-16)</a:t>
            </a:r>
          </a:p>
        </p:txBody>
      </p:sp>
      <p:sp>
        <p:nvSpPr>
          <p:cNvPr id="17" name="TextBox 16"/>
          <p:cNvSpPr txBox="1"/>
          <p:nvPr/>
        </p:nvSpPr>
        <p:spPr>
          <a:xfrm>
            <a:off x="640080" y="5609981"/>
            <a:ext cx="11155680" cy="341802"/>
          </a:xfrm>
          <a:prstGeom prst="rect">
            <a:avLst/>
          </a:prstGeom>
          <a:noFill/>
        </p:spPr>
        <p:txBody>
          <a:bodyPr wrap="none">
            <a:spAutoFit/>
          </a:bodyPr>
          <a:lstStyle/>
          <a:p>
            <a:r>
              <a:rPr sz="800" b="1">
                <a:solidFill>
                  <a:srgbClr val="2980B9"/>
                </a:solidFill>
              </a:rPr>
              <a:t>[Zenn]  </a:t>
            </a:r>
            <a:r>
              <a:rPr sz="800">
                <a:solidFill>
                  <a:srgbClr val="5DADE8"/>
                </a:solidFill>
                <a:hlinkClick r:id="rId5"/>
              </a:rPr>
              <a:t>https://zenn.dev/bathtimefish/articles/eb089fbe8434b0</a:t>
            </a:r>
          </a:p>
        </p:txBody>
      </p:sp>
      <p:sp>
        <p:nvSpPr>
          <p:cNvPr id="18" name="TextBox 17"/>
          <p:cNvSpPr txBox="1"/>
          <p:nvPr/>
        </p:nvSpPr>
        <p:spPr>
          <a:xfrm>
            <a:off x="640080" y="5951783"/>
            <a:ext cx="11155680" cy="427253"/>
          </a:xfrm>
          <a:prstGeom prst="rect">
            <a:avLst/>
          </a:prstGeom>
          <a:noFill/>
        </p:spPr>
        <p:txBody>
          <a:bodyPr wrap="square">
            <a:spAutoFit/>
          </a:bodyPr>
          <a:lstStyle/>
          <a:p>
            <a:r>
              <a:rPr sz="900">
                <a:solidFill>
                  <a:srgbClr val="7F8C8D"/>
                </a:solidFill>
              </a:rPr>
              <a:t>過去の資料をもとにAIで今日の資料の下書きをする
GenOfficeすごいですね。GenSparkは結構前から使っているんですが、だんだん資料の作り込みが上手くなってきている感じがしています。あのAIスライドやAIシートなんかがそのままデ</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1A25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960120"/>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64592" cy="960120"/>
          </a:xfrm>
          <a:prstGeom prst="rect">
            <a:avLst/>
          </a:prstGeom>
          <a:solidFill>
            <a:srgbClr val="8439A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118872"/>
            <a:ext cx="11430000" cy="749808"/>
          </a:xfrm>
          <a:prstGeom prst="rect">
            <a:avLst/>
          </a:prstGeom>
          <a:noFill/>
        </p:spPr>
        <p:txBody>
          <a:bodyPr wrap="square">
            <a:spAutoFit/>
          </a:bodyPr>
          <a:lstStyle/>
          <a:p>
            <a:pPr algn="l"/>
            <a:r>
              <a:rPr sz="2000" b="1">
                <a:solidFill>
                  <a:srgbClr val="FFFFFF"/>
                </a:solidFill>
              </a:rPr>
              <a:t>AIエージェント開発・運用　記事一覧　(1 / 2)</a:t>
            </a:r>
          </a:p>
        </p:txBody>
      </p:sp>
      <p:sp>
        <p:nvSpPr>
          <p:cNvPr id="6" name="TextBox 5"/>
          <p:cNvSpPr txBox="1"/>
          <p:nvPr/>
        </p:nvSpPr>
        <p:spPr>
          <a:xfrm>
            <a:off x="365760" y="1024128"/>
            <a:ext cx="11430000" cy="569671"/>
          </a:xfrm>
          <a:prstGeom prst="rect">
            <a:avLst/>
          </a:prstGeom>
          <a:noFill/>
        </p:spPr>
        <p:txBody>
          <a:bodyPr wrap="square">
            <a:spAutoFit/>
          </a:bodyPr>
          <a:lstStyle/>
          <a:p>
            <a:r>
              <a:rPr sz="1000">
                <a:solidFill>
                  <a:srgbClr val="8439AD"/>
                </a:solidFill>
              </a:rPr>
              <a:t>▶ </a:t>
            </a:r>
            <a:r>
              <a:rPr sz="1200" b="1">
                <a:solidFill>
                  <a:srgbClr val="FFFFFF"/>
                </a:solidFill>
              </a:rPr>
              <a:t>Claude Codeに動画を見せる /watch-video、実は「渡すだけ」じゃなかった — 3つの深さを使い分ける</a:t>
            </a:r>
            <a:r>
              <a:rPr sz="900">
                <a:solidFill>
                  <a:srgbClr val="7F8C8D"/>
                </a:solidFill>
              </a:rPr>
              <a:t>  (2026-08-17)</a:t>
            </a:r>
          </a:p>
        </p:txBody>
      </p:sp>
      <p:sp>
        <p:nvSpPr>
          <p:cNvPr id="7" name="TextBox 6"/>
          <p:cNvSpPr txBox="1"/>
          <p:nvPr/>
        </p:nvSpPr>
        <p:spPr>
          <a:xfrm>
            <a:off x="640080" y="1593799"/>
            <a:ext cx="11155680" cy="341802"/>
          </a:xfrm>
          <a:prstGeom prst="rect">
            <a:avLst/>
          </a:prstGeom>
          <a:noFill/>
        </p:spPr>
        <p:txBody>
          <a:bodyPr wrap="none">
            <a:spAutoFit/>
          </a:bodyPr>
          <a:lstStyle/>
          <a:p>
            <a:r>
              <a:rPr sz="800" b="1">
                <a:solidFill>
                  <a:srgbClr val="8439AD"/>
                </a:solidFill>
              </a:rPr>
              <a:t>[Qiita]  </a:t>
            </a:r>
            <a:r>
              <a:rPr sz="800">
                <a:solidFill>
                  <a:srgbClr val="5DADE8"/>
                </a:solidFill>
                <a:hlinkClick r:id="rId2"/>
              </a:rPr>
              <a:t>https://qiita.com/jqit_suwa/items/fe5975104ffefa49f632</a:t>
            </a:r>
          </a:p>
        </p:txBody>
      </p:sp>
      <p:sp>
        <p:nvSpPr>
          <p:cNvPr id="8" name="TextBox 7"/>
          <p:cNvSpPr txBox="1"/>
          <p:nvPr/>
        </p:nvSpPr>
        <p:spPr>
          <a:xfrm>
            <a:off x="640080" y="1935601"/>
            <a:ext cx="11155680" cy="427253"/>
          </a:xfrm>
          <a:prstGeom prst="rect">
            <a:avLst/>
          </a:prstGeom>
          <a:noFill/>
        </p:spPr>
        <p:txBody>
          <a:bodyPr wrap="square">
            <a:spAutoFit/>
          </a:bodyPr>
          <a:lstStyle/>
          <a:p>
            <a:r>
              <a:rPr sz="900">
                <a:solidFill>
                  <a:srgbClr val="7F8C8D"/>
                </a:solidFill>
              </a:rPr>
              <a:t>Claude Code に動画を見せて、内容を整理させる Skill が話題になっています。 というやつです。
紹介ではこう書かれていることが多いです。
&gt; 動画を渡すだけで、文字起こし・重要フレーム抽出・画像解析・構造化ノート作成まで</a:t>
            </a:r>
          </a:p>
        </p:txBody>
      </p:sp>
      <p:sp>
        <p:nvSpPr>
          <p:cNvPr id="9" name="TextBox 8"/>
          <p:cNvSpPr txBox="1"/>
          <p:nvPr/>
        </p:nvSpPr>
        <p:spPr>
          <a:xfrm>
            <a:off x="365760" y="2362855"/>
            <a:ext cx="11430000" cy="569671"/>
          </a:xfrm>
          <a:prstGeom prst="rect">
            <a:avLst/>
          </a:prstGeom>
          <a:noFill/>
        </p:spPr>
        <p:txBody>
          <a:bodyPr wrap="square">
            <a:spAutoFit/>
          </a:bodyPr>
          <a:lstStyle/>
          <a:p>
            <a:r>
              <a:rPr sz="1000">
                <a:solidFill>
                  <a:srgbClr val="8439AD"/>
                </a:solidFill>
              </a:rPr>
              <a:t>▶ </a:t>
            </a:r>
            <a:r>
              <a:rPr sz="1200" b="1">
                <a:solidFill>
                  <a:srgbClr val="FFFFFF"/>
                </a:solidFill>
              </a:rPr>
              <a:t>Claude Codeの新機能、"仕事の引き継ぎ"じゃありません — 公式ドキュメントで確認した3つのズレ</a:t>
            </a:r>
            <a:r>
              <a:rPr sz="900">
                <a:solidFill>
                  <a:srgbClr val="7F8C8D"/>
                </a:solidFill>
              </a:rPr>
              <a:t>  (2026-08-17)</a:t>
            </a:r>
          </a:p>
        </p:txBody>
      </p:sp>
      <p:sp>
        <p:nvSpPr>
          <p:cNvPr id="10" name="TextBox 9"/>
          <p:cNvSpPr txBox="1"/>
          <p:nvPr/>
        </p:nvSpPr>
        <p:spPr>
          <a:xfrm>
            <a:off x="640080" y="2932526"/>
            <a:ext cx="11155680" cy="341802"/>
          </a:xfrm>
          <a:prstGeom prst="rect">
            <a:avLst/>
          </a:prstGeom>
          <a:noFill/>
        </p:spPr>
        <p:txBody>
          <a:bodyPr wrap="none">
            <a:spAutoFit/>
          </a:bodyPr>
          <a:lstStyle/>
          <a:p>
            <a:r>
              <a:rPr sz="800" b="1">
                <a:solidFill>
                  <a:srgbClr val="8439AD"/>
                </a:solidFill>
              </a:rPr>
              <a:t>[Qiita]  </a:t>
            </a:r>
            <a:r>
              <a:rPr sz="800">
                <a:solidFill>
                  <a:srgbClr val="5DADE8"/>
                </a:solidFill>
                <a:hlinkClick r:id="rId3"/>
              </a:rPr>
              <a:t>https://qiita.com/jqit_suwa/items/b919d0b4cdc0a26ec988</a:t>
            </a:r>
          </a:p>
        </p:txBody>
      </p:sp>
      <p:sp>
        <p:nvSpPr>
          <p:cNvPr id="11" name="TextBox 10"/>
          <p:cNvSpPr txBox="1"/>
          <p:nvPr/>
        </p:nvSpPr>
        <p:spPr>
          <a:xfrm>
            <a:off x="640080" y="3274329"/>
            <a:ext cx="11155680" cy="427253"/>
          </a:xfrm>
          <a:prstGeom prst="rect">
            <a:avLst/>
          </a:prstGeom>
          <a:noFill/>
        </p:spPr>
        <p:txBody>
          <a:bodyPr wrap="square">
            <a:spAutoFit/>
          </a:bodyPr>
          <a:lstStyle/>
          <a:p>
            <a:r>
              <a:rPr sz="900">
                <a:solidFill>
                  <a:srgbClr val="7F8C8D"/>
                </a:solidFill>
              </a:rPr>
              <a:t>ここ最近、Claude Code の新機能としてこういう話が流れてきます。
&gt; 「この作業、別セッションに引き継いで」と伝えるだけ。
&gt; 調査担当のClaude → 実装担当のClaude → レビュー担当のClaude、とリレーできる。</a:t>
            </a:r>
          </a:p>
        </p:txBody>
      </p:sp>
      <p:sp>
        <p:nvSpPr>
          <p:cNvPr id="12" name="TextBox 11"/>
          <p:cNvSpPr txBox="1"/>
          <p:nvPr/>
        </p:nvSpPr>
        <p:spPr>
          <a:xfrm>
            <a:off x="365760" y="3701582"/>
            <a:ext cx="11430000" cy="569671"/>
          </a:xfrm>
          <a:prstGeom prst="rect">
            <a:avLst/>
          </a:prstGeom>
          <a:noFill/>
        </p:spPr>
        <p:txBody>
          <a:bodyPr wrap="square">
            <a:spAutoFit/>
          </a:bodyPr>
          <a:lstStyle/>
          <a:p>
            <a:r>
              <a:rPr sz="1000">
                <a:solidFill>
                  <a:srgbClr val="8439AD"/>
                </a:solidFill>
              </a:rPr>
              <a:t>▶ </a:t>
            </a:r>
            <a:r>
              <a:rPr sz="1200" b="1">
                <a:solidFill>
                  <a:srgbClr val="FFFFFF"/>
                </a:solidFill>
              </a:rPr>
              <a:t>OpenAI/Anthropic 向けに書いたコードを、さくらのAI Engine に差し替えだけで載せてみた</a:t>
            </a:r>
            <a:r>
              <a:rPr sz="900">
                <a:solidFill>
                  <a:srgbClr val="7F8C8D"/>
                </a:solidFill>
              </a:rPr>
              <a:t>  (2026-08-17)</a:t>
            </a:r>
          </a:p>
        </p:txBody>
      </p:sp>
      <p:sp>
        <p:nvSpPr>
          <p:cNvPr id="13" name="TextBox 12"/>
          <p:cNvSpPr txBox="1"/>
          <p:nvPr/>
        </p:nvSpPr>
        <p:spPr>
          <a:xfrm>
            <a:off x="640080" y="4271253"/>
            <a:ext cx="11155680" cy="341802"/>
          </a:xfrm>
          <a:prstGeom prst="rect">
            <a:avLst/>
          </a:prstGeom>
          <a:noFill/>
        </p:spPr>
        <p:txBody>
          <a:bodyPr wrap="none">
            <a:spAutoFit/>
          </a:bodyPr>
          <a:lstStyle/>
          <a:p>
            <a:r>
              <a:rPr sz="800" b="1">
                <a:solidFill>
                  <a:srgbClr val="8439AD"/>
                </a:solidFill>
              </a:rPr>
              <a:t>[Qiita]  </a:t>
            </a:r>
            <a:r>
              <a:rPr sz="800">
                <a:solidFill>
                  <a:srgbClr val="5DADE8"/>
                </a:solidFill>
                <a:hlinkClick r:id="rId4"/>
              </a:rPr>
              <a:t>https://qiita.com/TaichiYamasaki/items/959378ebb76eda594807</a:t>
            </a:r>
          </a:p>
        </p:txBody>
      </p:sp>
      <p:sp>
        <p:nvSpPr>
          <p:cNvPr id="14" name="TextBox 13"/>
          <p:cNvSpPr txBox="1"/>
          <p:nvPr/>
        </p:nvSpPr>
        <p:spPr>
          <a:xfrm>
            <a:off x="640080" y="4613056"/>
            <a:ext cx="11155680" cy="427253"/>
          </a:xfrm>
          <a:prstGeom prst="rect">
            <a:avLst/>
          </a:prstGeom>
          <a:noFill/>
        </p:spPr>
        <p:txBody>
          <a:bodyPr wrap="square">
            <a:spAutoFit/>
          </a:bodyPr>
          <a:lstStyle/>
          <a:p>
            <a:r>
              <a:rPr sz="900">
                <a:solidFill>
                  <a:srgbClr val="7F8C8D"/>
                </a:solidFill>
              </a:rPr>
              <a:t>この記事でやること
OpenAI や Anthropic の API 向けに書いたコードが手元にあるとき、それを別の基盤に載せ替えるのはどれくらい大変なのか。
さくらのAI Engine は OpenAI/Anthropic 互換をうた</a:t>
            </a:r>
          </a:p>
        </p:txBody>
      </p:sp>
      <p:sp>
        <p:nvSpPr>
          <p:cNvPr id="15" name="TextBox 14"/>
          <p:cNvSpPr txBox="1"/>
          <p:nvPr/>
        </p:nvSpPr>
        <p:spPr>
          <a:xfrm>
            <a:off x="365760" y="5040309"/>
            <a:ext cx="11430000" cy="569671"/>
          </a:xfrm>
          <a:prstGeom prst="rect">
            <a:avLst/>
          </a:prstGeom>
          <a:noFill/>
        </p:spPr>
        <p:txBody>
          <a:bodyPr wrap="square">
            <a:spAutoFit/>
          </a:bodyPr>
          <a:lstStyle/>
          <a:p>
            <a:r>
              <a:rPr sz="1000">
                <a:solidFill>
                  <a:srgbClr val="8439AD"/>
                </a:solidFill>
              </a:rPr>
              <a:t>▶ </a:t>
            </a:r>
            <a:r>
              <a:rPr sz="1200" b="1">
                <a:solidFill>
                  <a:srgbClr val="FFFFFF"/>
                </a:solidFill>
              </a:rPr>
              <a:t>【備忘録】Claude Managed Agentsを本番寄りに使う前に整理する - effort・webhooks・initial_events・memory…</a:t>
            </a:r>
            <a:r>
              <a:rPr sz="900">
                <a:solidFill>
                  <a:srgbClr val="7F8C8D"/>
                </a:solidFill>
              </a:rPr>
              <a:t>  (2026-08-17)</a:t>
            </a:r>
          </a:p>
        </p:txBody>
      </p:sp>
      <p:sp>
        <p:nvSpPr>
          <p:cNvPr id="16" name="TextBox 15"/>
          <p:cNvSpPr txBox="1"/>
          <p:nvPr/>
        </p:nvSpPr>
        <p:spPr>
          <a:xfrm>
            <a:off x="640080" y="5609981"/>
            <a:ext cx="11155680" cy="341802"/>
          </a:xfrm>
          <a:prstGeom prst="rect">
            <a:avLst/>
          </a:prstGeom>
          <a:noFill/>
        </p:spPr>
        <p:txBody>
          <a:bodyPr wrap="none">
            <a:spAutoFit/>
          </a:bodyPr>
          <a:lstStyle/>
          <a:p>
            <a:r>
              <a:rPr sz="800" b="1">
                <a:solidFill>
                  <a:srgbClr val="8439AD"/>
                </a:solidFill>
              </a:rPr>
              <a:t>[Qiita]  </a:t>
            </a:r>
            <a:r>
              <a:rPr sz="800">
                <a:solidFill>
                  <a:srgbClr val="5DADE8"/>
                </a:solidFill>
                <a:hlinkClick r:id="rId5"/>
              </a:rPr>
              <a:t>https://qiita.com/Tadataka_Takahashi/items/5ab03ce9b1d8c98dcc61</a:t>
            </a:r>
          </a:p>
        </p:txBody>
      </p:sp>
      <p:sp>
        <p:nvSpPr>
          <p:cNvPr id="17" name="TextBox 16"/>
          <p:cNvSpPr txBox="1"/>
          <p:nvPr/>
        </p:nvSpPr>
        <p:spPr>
          <a:xfrm>
            <a:off x="640080" y="5951783"/>
            <a:ext cx="11155680" cy="427253"/>
          </a:xfrm>
          <a:prstGeom prst="rect">
            <a:avLst/>
          </a:prstGeom>
          <a:noFill/>
        </p:spPr>
        <p:txBody>
          <a:bodyPr wrap="square">
            <a:spAutoFit/>
          </a:bodyPr>
          <a:lstStyle/>
          <a:p>
            <a:r>
              <a:rPr sz="900">
                <a:solidFill>
                  <a:srgbClr val="7F8C8D"/>
                </a:solidFill>
              </a:rPr>
              <a:t>はじめに
!ChatGPT Image 2026年8月17日 050740.png
Claude APIには、長く動くエージェント実行を扱うための Claude Managed Agents というAPI群があります。
2026年7</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1A25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960120"/>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64592" cy="960120"/>
          </a:xfrm>
          <a:prstGeom prst="rect">
            <a:avLst/>
          </a:prstGeom>
          <a:solidFill>
            <a:srgbClr val="8439A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118872"/>
            <a:ext cx="11430000" cy="749808"/>
          </a:xfrm>
          <a:prstGeom prst="rect">
            <a:avLst/>
          </a:prstGeom>
          <a:noFill/>
        </p:spPr>
        <p:txBody>
          <a:bodyPr wrap="square">
            <a:spAutoFit/>
          </a:bodyPr>
          <a:lstStyle/>
          <a:p>
            <a:pPr algn="l"/>
            <a:r>
              <a:rPr sz="2000" b="1">
                <a:solidFill>
                  <a:srgbClr val="FFFFFF"/>
                </a:solidFill>
              </a:rPr>
              <a:t>AIエージェント開発・運用　記事一覧　(2 / 2)</a:t>
            </a:r>
          </a:p>
        </p:txBody>
      </p:sp>
      <p:sp>
        <p:nvSpPr>
          <p:cNvPr id="6" name="TextBox 5"/>
          <p:cNvSpPr txBox="1"/>
          <p:nvPr/>
        </p:nvSpPr>
        <p:spPr>
          <a:xfrm>
            <a:off x="365760" y="6510528"/>
            <a:ext cx="11430000" cy="320040"/>
          </a:xfrm>
          <a:prstGeom prst="rect">
            <a:avLst/>
          </a:prstGeom>
          <a:noFill/>
        </p:spPr>
        <p:txBody>
          <a:bodyPr wrap="square">
            <a:spAutoFit/>
          </a:bodyPr>
          <a:lstStyle/>
          <a:p>
            <a:pPr algn="l"/>
            <a:r>
              <a:rPr sz="900" b="0">
                <a:solidFill>
                  <a:srgbClr val="7F8C8D"/>
                </a:solidFill>
              </a:rPr>
              <a:t>※ 他 43 件は JSON アーカイブを参照</a:t>
            </a:r>
          </a:p>
        </p:txBody>
      </p:sp>
      <p:sp>
        <p:nvSpPr>
          <p:cNvPr id="7" name="TextBox 6"/>
          <p:cNvSpPr txBox="1"/>
          <p:nvPr/>
        </p:nvSpPr>
        <p:spPr>
          <a:xfrm>
            <a:off x="365760" y="1024128"/>
            <a:ext cx="11430000" cy="569671"/>
          </a:xfrm>
          <a:prstGeom prst="rect">
            <a:avLst/>
          </a:prstGeom>
          <a:noFill/>
        </p:spPr>
        <p:txBody>
          <a:bodyPr wrap="square">
            <a:spAutoFit/>
          </a:bodyPr>
          <a:lstStyle/>
          <a:p>
            <a:r>
              <a:rPr sz="1000">
                <a:solidFill>
                  <a:srgbClr val="8439AD"/>
                </a:solidFill>
              </a:rPr>
              <a:t>▶ </a:t>
            </a:r>
            <a:r>
              <a:rPr sz="1200" b="1">
                <a:solidFill>
                  <a:srgbClr val="FFFFFF"/>
                </a:solidFill>
              </a:rPr>
              <a:t>ClaudeやAIエージェントに毎回「会社のこと」を説明するのをやめたくて、Company Brainを作った</a:t>
            </a:r>
            <a:r>
              <a:rPr sz="900">
                <a:solidFill>
                  <a:srgbClr val="7F8C8D"/>
                </a:solidFill>
              </a:rPr>
              <a:t>  (2026-08-17)</a:t>
            </a:r>
          </a:p>
        </p:txBody>
      </p:sp>
      <p:sp>
        <p:nvSpPr>
          <p:cNvPr id="8" name="TextBox 7"/>
          <p:cNvSpPr txBox="1"/>
          <p:nvPr/>
        </p:nvSpPr>
        <p:spPr>
          <a:xfrm>
            <a:off x="640080" y="1593799"/>
            <a:ext cx="11155680" cy="341802"/>
          </a:xfrm>
          <a:prstGeom prst="rect">
            <a:avLst/>
          </a:prstGeom>
          <a:noFill/>
        </p:spPr>
        <p:txBody>
          <a:bodyPr wrap="none">
            <a:spAutoFit/>
          </a:bodyPr>
          <a:lstStyle/>
          <a:p>
            <a:r>
              <a:rPr sz="800" b="1">
                <a:solidFill>
                  <a:srgbClr val="8439AD"/>
                </a:solidFill>
              </a:rPr>
              <a:t>[Qiita]  </a:t>
            </a:r>
            <a:r>
              <a:rPr sz="800">
                <a:solidFill>
                  <a:srgbClr val="5DADE8"/>
                </a:solidFill>
                <a:hlinkClick r:id="rId2"/>
              </a:rPr>
              <a:t>https://qiita.com/josezuma/items/4c10a1c7e0b2404a8b57</a:t>
            </a:r>
          </a:p>
        </p:txBody>
      </p:sp>
      <p:sp>
        <p:nvSpPr>
          <p:cNvPr id="9" name="TextBox 8"/>
          <p:cNvSpPr txBox="1"/>
          <p:nvPr/>
        </p:nvSpPr>
        <p:spPr>
          <a:xfrm>
            <a:off x="640080" y="1935601"/>
            <a:ext cx="11155680" cy="427253"/>
          </a:xfrm>
          <a:prstGeom prst="rect">
            <a:avLst/>
          </a:prstGeom>
          <a:noFill/>
        </p:spPr>
        <p:txBody>
          <a:bodyPr wrap="square">
            <a:spAutoFit/>
          </a:bodyPr>
          <a:lstStyle/>
          <a:p>
            <a:r>
              <a:rPr sz="900">
                <a:solidFill>
                  <a:srgbClr val="7F8C8D"/>
                </a:solidFill>
              </a:rPr>
              <a:t>ClaudeやAIエージェントに毎回「会社のこと」を説明するのをやめたくて、Company Brainを作った
Claude Code、Codex、Hermes、OpenClawなどを仕事で使っていると、最初はかなり感動します。
調査し</a:t>
            </a:r>
          </a:p>
        </p:txBody>
      </p:sp>
      <p:sp>
        <p:nvSpPr>
          <p:cNvPr id="10" name="TextBox 9"/>
          <p:cNvSpPr txBox="1"/>
          <p:nvPr/>
        </p:nvSpPr>
        <p:spPr>
          <a:xfrm>
            <a:off x="365760" y="2362855"/>
            <a:ext cx="11430000" cy="569671"/>
          </a:xfrm>
          <a:prstGeom prst="rect">
            <a:avLst/>
          </a:prstGeom>
          <a:noFill/>
        </p:spPr>
        <p:txBody>
          <a:bodyPr wrap="square">
            <a:spAutoFit/>
          </a:bodyPr>
          <a:lstStyle/>
          <a:p>
            <a:r>
              <a:rPr sz="1000">
                <a:solidFill>
                  <a:srgbClr val="8439AD"/>
                </a:solidFill>
              </a:rPr>
              <a:t>▶ </a:t>
            </a:r>
            <a:r>
              <a:rPr sz="1200" b="1">
                <a:solidFill>
                  <a:srgbClr val="FFFFFF"/>
                </a:solidFill>
              </a:rPr>
              <a:t>Context for Claude – give eyes and ears to your agents</a:t>
            </a:r>
            <a:r>
              <a:rPr sz="900">
                <a:solidFill>
                  <a:srgbClr val="7F8C8D"/>
                </a:solidFill>
              </a:rPr>
              <a:t>  (2026-08-16)</a:t>
            </a:r>
          </a:p>
        </p:txBody>
      </p:sp>
      <p:sp>
        <p:nvSpPr>
          <p:cNvPr id="11" name="TextBox 10"/>
          <p:cNvSpPr txBox="1"/>
          <p:nvPr/>
        </p:nvSpPr>
        <p:spPr>
          <a:xfrm>
            <a:off x="640080" y="2932526"/>
            <a:ext cx="11155680" cy="341802"/>
          </a:xfrm>
          <a:prstGeom prst="rect">
            <a:avLst/>
          </a:prstGeom>
          <a:noFill/>
        </p:spPr>
        <p:txBody>
          <a:bodyPr wrap="none">
            <a:spAutoFit/>
          </a:bodyPr>
          <a:lstStyle/>
          <a:p>
            <a:r>
              <a:rPr sz="800" b="1">
                <a:solidFill>
                  <a:srgbClr val="8439AD"/>
                </a:solidFill>
              </a:rPr>
              <a:t>[HackerNews]  </a:t>
            </a:r>
            <a:r>
              <a:rPr sz="800">
                <a:solidFill>
                  <a:srgbClr val="5DADE8"/>
                </a:solidFill>
                <a:hlinkClick r:id="rId3"/>
              </a:rPr>
              <a:t>https://www.contextforclaude.com/</a:t>
            </a:r>
          </a:p>
        </p:txBody>
      </p:sp>
      <p:sp>
        <p:nvSpPr>
          <p:cNvPr id="12" name="TextBox 11"/>
          <p:cNvSpPr txBox="1"/>
          <p:nvPr/>
        </p:nvSpPr>
        <p:spPr>
          <a:xfrm>
            <a:off x="640080" y="3274329"/>
            <a:ext cx="11155680" cy="427253"/>
          </a:xfrm>
          <a:prstGeom prst="rect">
            <a:avLst/>
          </a:prstGeom>
          <a:noFill/>
        </p:spPr>
        <p:txBody>
          <a:bodyPr wrap="square">
            <a:spAutoFit/>
          </a:bodyPr>
          <a:lstStyle/>
          <a:p>
            <a:r>
              <a:rPr sz="900">
                <a:solidFill>
                  <a:srgbClr val="7F8C8D"/>
                </a:solidFill>
              </a:rPr>
              <a:t>Context for Claude – give eyes and ears to your agents</a:t>
            </a:r>
          </a:p>
        </p:txBody>
      </p:sp>
      <p:sp>
        <p:nvSpPr>
          <p:cNvPr id="13" name="TextBox 12"/>
          <p:cNvSpPr txBox="1"/>
          <p:nvPr/>
        </p:nvSpPr>
        <p:spPr>
          <a:xfrm>
            <a:off x="365760" y="3701582"/>
            <a:ext cx="11430000" cy="569671"/>
          </a:xfrm>
          <a:prstGeom prst="rect">
            <a:avLst/>
          </a:prstGeom>
          <a:noFill/>
        </p:spPr>
        <p:txBody>
          <a:bodyPr wrap="square">
            <a:spAutoFit/>
          </a:bodyPr>
          <a:lstStyle/>
          <a:p>
            <a:r>
              <a:rPr sz="1000">
                <a:solidFill>
                  <a:srgbClr val="8439AD"/>
                </a:solidFill>
              </a:rPr>
              <a:t>▶ </a:t>
            </a:r>
            <a:r>
              <a:rPr sz="1200" b="1">
                <a:solidFill>
                  <a:srgbClr val="FFFFFF"/>
                </a:solidFill>
              </a:rPr>
              <a:t>Human-in-the-loopとは何か</a:t>
            </a:r>
            <a:r>
              <a:rPr sz="900">
                <a:solidFill>
                  <a:srgbClr val="7F8C8D"/>
                </a:solidFill>
              </a:rPr>
              <a:t>  (2026-08-16)</a:t>
            </a:r>
          </a:p>
        </p:txBody>
      </p:sp>
      <p:sp>
        <p:nvSpPr>
          <p:cNvPr id="14" name="TextBox 13"/>
          <p:cNvSpPr txBox="1"/>
          <p:nvPr/>
        </p:nvSpPr>
        <p:spPr>
          <a:xfrm>
            <a:off x="640080" y="4271253"/>
            <a:ext cx="11155680" cy="341802"/>
          </a:xfrm>
          <a:prstGeom prst="rect">
            <a:avLst/>
          </a:prstGeom>
          <a:noFill/>
        </p:spPr>
        <p:txBody>
          <a:bodyPr wrap="none">
            <a:spAutoFit/>
          </a:bodyPr>
          <a:lstStyle/>
          <a:p>
            <a:r>
              <a:rPr sz="800" b="1">
                <a:solidFill>
                  <a:srgbClr val="8439AD"/>
                </a:solidFill>
              </a:rPr>
              <a:t>[Qiita]  </a:t>
            </a:r>
            <a:r>
              <a:rPr sz="800">
                <a:solidFill>
                  <a:srgbClr val="5DADE8"/>
                </a:solidFill>
                <a:hlinkClick r:id="rId4"/>
              </a:rPr>
              <a:t>https://qiita.com/Hideki-T/items/9c9cb9777e39c047d8d7</a:t>
            </a:r>
          </a:p>
        </p:txBody>
      </p:sp>
      <p:sp>
        <p:nvSpPr>
          <p:cNvPr id="15" name="TextBox 14"/>
          <p:cNvSpPr txBox="1"/>
          <p:nvPr/>
        </p:nvSpPr>
        <p:spPr>
          <a:xfrm>
            <a:off x="640080" y="4613056"/>
            <a:ext cx="11155680" cy="427253"/>
          </a:xfrm>
          <a:prstGeom prst="rect">
            <a:avLst/>
          </a:prstGeom>
          <a:noFill/>
        </p:spPr>
        <p:txBody>
          <a:bodyPr wrap="square">
            <a:spAutoFit/>
          </a:bodyPr>
          <a:lstStyle/>
          <a:p>
            <a:r>
              <a:rPr sz="900">
                <a:solidFill>
                  <a:srgbClr val="7F8C8D"/>
                </a:solidFill>
              </a:rPr>
              <a:t>Human-in-the-loopとは何か
はじめに
これまでの記事で、Harness、Loop Engineering、Evaluation、Context Engineering、Tool Engineering、Memory、Obs</a:t>
            </a:r>
          </a:p>
        </p:txBody>
      </p:sp>
      <p:sp>
        <p:nvSpPr>
          <p:cNvPr id="16" name="TextBox 15"/>
          <p:cNvSpPr txBox="1"/>
          <p:nvPr/>
        </p:nvSpPr>
        <p:spPr>
          <a:xfrm>
            <a:off x="365760" y="5040309"/>
            <a:ext cx="11430000" cy="569671"/>
          </a:xfrm>
          <a:prstGeom prst="rect">
            <a:avLst/>
          </a:prstGeom>
          <a:noFill/>
        </p:spPr>
        <p:txBody>
          <a:bodyPr wrap="square">
            <a:spAutoFit/>
          </a:bodyPr>
          <a:lstStyle/>
          <a:p>
            <a:r>
              <a:rPr sz="1000">
                <a:solidFill>
                  <a:srgbClr val="8439AD"/>
                </a:solidFill>
              </a:rPr>
              <a:t>▶ </a:t>
            </a:r>
            <a:r>
              <a:rPr sz="1200" b="1">
                <a:solidFill>
                  <a:srgbClr val="FFFFFF"/>
                </a:solidFill>
              </a:rPr>
              <a:t>AIエージェントの失敗とRecovery Engineering</a:t>
            </a:r>
            <a:r>
              <a:rPr sz="900">
                <a:solidFill>
                  <a:srgbClr val="7F8C8D"/>
                </a:solidFill>
              </a:rPr>
              <a:t>  (2026-08-16)</a:t>
            </a:r>
          </a:p>
        </p:txBody>
      </p:sp>
      <p:sp>
        <p:nvSpPr>
          <p:cNvPr id="17" name="TextBox 16"/>
          <p:cNvSpPr txBox="1"/>
          <p:nvPr/>
        </p:nvSpPr>
        <p:spPr>
          <a:xfrm>
            <a:off x="640080" y="5609981"/>
            <a:ext cx="11155680" cy="341802"/>
          </a:xfrm>
          <a:prstGeom prst="rect">
            <a:avLst/>
          </a:prstGeom>
          <a:noFill/>
        </p:spPr>
        <p:txBody>
          <a:bodyPr wrap="none">
            <a:spAutoFit/>
          </a:bodyPr>
          <a:lstStyle/>
          <a:p>
            <a:r>
              <a:rPr sz="800" b="1">
                <a:solidFill>
                  <a:srgbClr val="8439AD"/>
                </a:solidFill>
              </a:rPr>
              <a:t>[Qiita]  </a:t>
            </a:r>
            <a:r>
              <a:rPr sz="800">
                <a:solidFill>
                  <a:srgbClr val="5DADE8"/>
                </a:solidFill>
                <a:hlinkClick r:id="rId5"/>
              </a:rPr>
              <a:t>https://qiita.com/Hideki-T/items/d8235a417efa2e4cc457</a:t>
            </a:r>
          </a:p>
        </p:txBody>
      </p:sp>
      <p:sp>
        <p:nvSpPr>
          <p:cNvPr id="18" name="TextBox 17"/>
          <p:cNvSpPr txBox="1"/>
          <p:nvPr/>
        </p:nvSpPr>
        <p:spPr>
          <a:xfrm>
            <a:off x="640080" y="5951783"/>
            <a:ext cx="11155680" cy="427253"/>
          </a:xfrm>
          <a:prstGeom prst="rect">
            <a:avLst/>
          </a:prstGeom>
          <a:noFill/>
        </p:spPr>
        <p:txBody>
          <a:bodyPr wrap="square">
            <a:spAutoFit/>
          </a:bodyPr>
          <a:lstStyle/>
          <a:p>
            <a:r>
              <a:rPr sz="900">
                <a:solidFill>
                  <a:srgbClr val="7F8C8D"/>
                </a:solidFill>
              </a:rPr>
              <a:t>はじめに
これまでの記事で、Harness、Loop Engineering、Evaluation、Context Engineering、Tool Engineering、Memory、Observabilityと、AIエージェントを支</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1A25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960120"/>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64592" cy="960120"/>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118872"/>
            <a:ext cx="11430000" cy="749808"/>
          </a:xfrm>
          <a:prstGeom prst="rect">
            <a:avLst/>
          </a:prstGeom>
          <a:noFill/>
        </p:spPr>
        <p:txBody>
          <a:bodyPr wrap="square">
            <a:spAutoFit/>
          </a:bodyPr>
          <a:lstStyle/>
          <a:p>
            <a:pPr algn="l"/>
            <a:r>
              <a:rPr sz="2000" b="1">
                <a:solidFill>
                  <a:srgbClr val="FFFFFF"/>
                </a:solidFill>
              </a:rPr>
              <a:t>生成AI活用の現場実践・他社事例　記事一覧　(1 / 2)</a:t>
            </a:r>
          </a:p>
        </p:txBody>
      </p:sp>
      <p:sp>
        <p:nvSpPr>
          <p:cNvPr id="6" name="TextBox 5"/>
          <p:cNvSpPr txBox="1"/>
          <p:nvPr/>
        </p:nvSpPr>
        <p:spPr>
          <a:xfrm>
            <a:off x="365760" y="1024128"/>
            <a:ext cx="11430000" cy="569671"/>
          </a:xfrm>
          <a:prstGeom prst="rect">
            <a:avLst/>
          </a:prstGeom>
          <a:noFill/>
        </p:spPr>
        <p:txBody>
          <a:bodyPr wrap="square">
            <a:spAutoFit/>
          </a:bodyPr>
          <a:lstStyle/>
          <a:p>
            <a:r>
              <a:rPr sz="1000">
                <a:solidFill>
                  <a:srgbClr val="27AE60"/>
                </a:solidFill>
              </a:rPr>
              <a:t>▶ </a:t>
            </a:r>
            <a:r>
              <a:rPr sz="1200" b="1">
                <a:solidFill>
                  <a:srgbClr val="FFFFFF"/>
                </a:solidFill>
              </a:rPr>
              <a:t>YOLO26のモデル規模・入力解像度による性能差を比較した</a:t>
            </a:r>
            <a:r>
              <a:rPr sz="900">
                <a:solidFill>
                  <a:srgbClr val="7F8C8D"/>
                </a:solidFill>
              </a:rPr>
              <a:t>  (2026-08-17)</a:t>
            </a:r>
          </a:p>
        </p:txBody>
      </p:sp>
      <p:sp>
        <p:nvSpPr>
          <p:cNvPr id="7" name="TextBox 6"/>
          <p:cNvSpPr txBox="1"/>
          <p:nvPr/>
        </p:nvSpPr>
        <p:spPr>
          <a:xfrm>
            <a:off x="640080" y="1593799"/>
            <a:ext cx="11155680" cy="341802"/>
          </a:xfrm>
          <a:prstGeom prst="rect">
            <a:avLst/>
          </a:prstGeom>
          <a:noFill/>
        </p:spPr>
        <p:txBody>
          <a:bodyPr wrap="none">
            <a:spAutoFit/>
          </a:bodyPr>
          <a:lstStyle/>
          <a:p>
            <a:r>
              <a:rPr sz="800" b="1">
                <a:solidFill>
                  <a:srgbClr val="27AE60"/>
                </a:solidFill>
              </a:rPr>
              <a:t>[Qiita]  </a:t>
            </a:r>
            <a:r>
              <a:rPr sz="800">
                <a:solidFill>
                  <a:srgbClr val="5DADE8"/>
                </a:solidFill>
                <a:hlinkClick r:id="rId2"/>
              </a:rPr>
              <a:t>https://qiita.com/Reotech/items/be25d4724ce4a79dc390</a:t>
            </a:r>
          </a:p>
        </p:txBody>
      </p:sp>
      <p:sp>
        <p:nvSpPr>
          <p:cNvPr id="8" name="TextBox 7"/>
          <p:cNvSpPr txBox="1"/>
          <p:nvPr/>
        </p:nvSpPr>
        <p:spPr>
          <a:xfrm>
            <a:off x="640080" y="1935601"/>
            <a:ext cx="11155680" cy="427253"/>
          </a:xfrm>
          <a:prstGeom prst="rect">
            <a:avLst/>
          </a:prstGeom>
          <a:noFill/>
        </p:spPr>
        <p:txBody>
          <a:bodyPr wrap="square">
            <a:spAutoFit/>
          </a:bodyPr>
          <a:lstStyle/>
          <a:p>
            <a:r>
              <a:rPr sz="900">
                <a:solidFill>
                  <a:srgbClr val="7F8C8D"/>
                </a:solidFill>
              </a:rPr>
              <a:t>YOLO26n・s・mを320pxと640pxで組み合わせ、6条件の検出品質、PC処理時間、ONNXサイズ、実行時メモリを比較します。Android実機性能はまだ未検証です。
比較結果を先に
前回の記事では3候補を320pxで比べ、YO</a:t>
            </a:r>
          </a:p>
        </p:txBody>
      </p:sp>
      <p:sp>
        <p:nvSpPr>
          <p:cNvPr id="9" name="TextBox 8"/>
          <p:cNvSpPr txBox="1"/>
          <p:nvPr/>
        </p:nvSpPr>
        <p:spPr>
          <a:xfrm>
            <a:off x="365760" y="2362855"/>
            <a:ext cx="11430000" cy="569671"/>
          </a:xfrm>
          <a:prstGeom prst="rect">
            <a:avLst/>
          </a:prstGeom>
          <a:noFill/>
        </p:spPr>
        <p:txBody>
          <a:bodyPr wrap="square">
            <a:spAutoFit/>
          </a:bodyPr>
          <a:lstStyle/>
          <a:p>
            <a:r>
              <a:rPr sz="1000">
                <a:solidFill>
                  <a:srgbClr val="27AE60"/>
                </a:solidFill>
              </a:rPr>
              <a:t>▶ </a:t>
            </a:r>
            <a:r>
              <a:rPr sz="1200" b="1">
                <a:solidFill>
                  <a:srgbClr val="FFFFFF"/>
                </a:solidFill>
              </a:rPr>
              <a:t>SES脱出を目指すエンジニアのためのAI開発ツール実践ガイド2026</a:t>
            </a:r>
            <a:r>
              <a:rPr sz="900">
                <a:solidFill>
                  <a:srgbClr val="7F8C8D"/>
                </a:solidFill>
              </a:rPr>
              <a:t>  (2026-08-17)</a:t>
            </a:r>
          </a:p>
        </p:txBody>
      </p:sp>
      <p:sp>
        <p:nvSpPr>
          <p:cNvPr id="10" name="TextBox 9"/>
          <p:cNvSpPr txBox="1"/>
          <p:nvPr/>
        </p:nvSpPr>
        <p:spPr>
          <a:xfrm>
            <a:off x="640080" y="2932526"/>
            <a:ext cx="11155680" cy="341802"/>
          </a:xfrm>
          <a:prstGeom prst="rect">
            <a:avLst/>
          </a:prstGeom>
          <a:noFill/>
        </p:spPr>
        <p:txBody>
          <a:bodyPr wrap="none">
            <a:spAutoFit/>
          </a:bodyPr>
          <a:lstStyle/>
          <a:p>
            <a:r>
              <a:rPr sz="800" b="1">
                <a:solidFill>
                  <a:srgbClr val="27AE60"/>
                </a:solidFill>
              </a:rPr>
              <a:t>[Qiita]  </a:t>
            </a:r>
            <a:r>
              <a:rPr sz="800">
                <a:solidFill>
                  <a:srgbClr val="5DADE8"/>
                </a:solidFill>
                <a:hlinkClick r:id="rId3"/>
              </a:rPr>
              <a:t>https://qiita.com/sescore/items/00093c39cb6629c43d8f</a:t>
            </a:r>
          </a:p>
        </p:txBody>
      </p:sp>
      <p:sp>
        <p:nvSpPr>
          <p:cNvPr id="11" name="TextBox 10"/>
          <p:cNvSpPr txBox="1"/>
          <p:nvPr/>
        </p:nvSpPr>
        <p:spPr>
          <a:xfrm>
            <a:off x="640080" y="3274329"/>
            <a:ext cx="11155680" cy="427253"/>
          </a:xfrm>
          <a:prstGeom prst="rect">
            <a:avLst/>
          </a:prstGeom>
          <a:noFill/>
        </p:spPr>
        <p:txBody>
          <a:bodyPr wrap="square">
            <a:spAutoFit/>
          </a:bodyPr>
          <a:lstStyle/>
          <a:p>
            <a:r>
              <a:rPr sz="900">
                <a:solidFill>
                  <a:srgbClr val="7F8C8D"/>
                </a:solidFill>
              </a:rPr>
              <a:t>はじめに：SES常駐で感じた「単価が上がらない」という壁
SES(システムエンジニアリングサービス)契約で客先常駐をしていると、スキルが伸びている実感はあるのに単価には反映されない、という壁にぶつかることがあります。契約更新のたびに単価交</a:t>
            </a:r>
          </a:p>
        </p:txBody>
      </p:sp>
      <p:sp>
        <p:nvSpPr>
          <p:cNvPr id="12" name="TextBox 11"/>
          <p:cNvSpPr txBox="1"/>
          <p:nvPr/>
        </p:nvSpPr>
        <p:spPr>
          <a:xfrm>
            <a:off x="365760" y="3701582"/>
            <a:ext cx="11430000" cy="569671"/>
          </a:xfrm>
          <a:prstGeom prst="rect">
            <a:avLst/>
          </a:prstGeom>
          <a:noFill/>
        </p:spPr>
        <p:txBody>
          <a:bodyPr wrap="square">
            <a:spAutoFit/>
          </a:bodyPr>
          <a:lstStyle/>
          <a:p>
            <a:r>
              <a:rPr sz="1000">
                <a:solidFill>
                  <a:srgbClr val="27AE60"/>
                </a:solidFill>
              </a:rPr>
              <a:t>▶ </a:t>
            </a:r>
            <a:r>
              <a:rPr sz="1200" b="1">
                <a:solidFill>
                  <a:srgbClr val="FFFFFF"/>
                </a:solidFill>
              </a:rPr>
              <a:t>ClaudeのエクスポートJSONをMarkdownに整形するPythonスクリプト</a:t>
            </a:r>
            <a:r>
              <a:rPr sz="900">
                <a:solidFill>
                  <a:srgbClr val="7F8C8D"/>
                </a:solidFill>
              </a:rPr>
              <a:t>  (2026-08-16)</a:t>
            </a:r>
          </a:p>
        </p:txBody>
      </p:sp>
      <p:sp>
        <p:nvSpPr>
          <p:cNvPr id="13" name="TextBox 12"/>
          <p:cNvSpPr txBox="1"/>
          <p:nvPr/>
        </p:nvSpPr>
        <p:spPr>
          <a:xfrm>
            <a:off x="640080" y="4271253"/>
            <a:ext cx="11155680" cy="341802"/>
          </a:xfrm>
          <a:prstGeom prst="rect">
            <a:avLst/>
          </a:prstGeom>
          <a:noFill/>
        </p:spPr>
        <p:txBody>
          <a:bodyPr wrap="none">
            <a:spAutoFit/>
          </a:bodyPr>
          <a:lstStyle/>
          <a:p>
            <a:r>
              <a:rPr sz="800" b="1">
                <a:solidFill>
                  <a:srgbClr val="27AE60"/>
                </a:solidFill>
              </a:rPr>
              <a:t>[Qiita]  </a:t>
            </a:r>
            <a:r>
              <a:rPr sz="800">
                <a:solidFill>
                  <a:srgbClr val="5DADE8"/>
                </a:solidFill>
                <a:hlinkClick r:id="rId4"/>
              </a:rPr>
              <a:t>https://qiita.com/caymezon/items/05e1fa07882834d76d1c</a:t>
            </a:r>
          </a:p>
        </p:txBody>
      </p:sp>
      <p:sp>
        <p:nvSpPr>
          <p:cNvPr id="14" name="TextBox 13"/>
          <p:cNvSpPr txBox="1"/>
          <p:nvPr/>
        </p:nvSpPr>
        <p:spPr>
          <a:xfrm>
            <a:off x="640080" y="4613056"/>
            <a:ext cx="11155680" cy="427253"/>
          </a:xfrm>
          <a:prstGeom prst="rect">
            <a:avLst/>
          </a:prstGeom>
          <a:noFill/>
        </p:spPr>
        <p:txBody>
          <a:bodyPr wrap="square">
            <a:spAutoFit/>
          </a:bodyPr>
          <a:lstStyle/>
          <a:p>
            <a:r>
              <a:rPr sz="900">
                <a:solidFill>
                  <a:srgbClr val="7F8C8D"/>
                </a:solidFill>
              </a:rPr>
              <a:t>背景
Claudeのチャット履歴はJSONでエクスポートできますが、そのままでは読みにくく活用しづらいです。チャットごとに分割してMarkdown化するPythonツールを作りました。
1. ファイル選択はtkinterのダイアログで十</a:t>
            </a:r>
          </a:p>
        </p:txBody>
      </p:sp>
      <p:sp>
        <p:nvSpPr>
          <p:cNvPr id="15" name="TextBox 14"/>
          <p:cNvSpPr txBox="1"/>
          <p:nvPr/>
        </p:nvSpPr>
        <p:spPr>
          <a:xfrm>
            <a:off x="365760" y="5040309"/>
            <a:ext cx="11430000" cy="569671"/>
          </a:xfrm>
          <a:prstGeom prst="rect">
            <a:avLst/>
          </a:prstGeom>
          <a:noFill/>
        </p:spPr>
        <p:txBody>
          <a:bodyPr wrap="square">
            <a:spAutoFit/>
          </a:bodyPr>
          <a:lstStyle/>
          <a:p>
            <a:r>
              <a:rPr sz="1000">
                <a:solidFill>
                  <a:srgbClr val="27AE60"/>
                </a:solidFill>
              </a:rPr>
              <a:t>▶ </a:t>
            </a:r>
            <a:r>
              <a:rPr sz="1200" b="1">
                <a:solidFill>
                  <a:srgbClr val="FFFFFF"/>
                </a:solidFill>
              </a:rPr>
              <a:t>AIという「部下」がやってきた――技術の逆流を目の当たりにした組織はAIについていけるのか</a:t>
            </a:r>
            <a:r>
              <a:rPr sz="900">
                <a:solidFill>
                  <a:srgbClr val="7F8C8D"/>
                </a:solidFill>
              </a:rPr>
              <a:t>  (2026-08-16)</a:t>
            </a:r>
          </a:p>
        </p:txBody>
      </p:sp>
      <p:sp>
        <p:nvSpPr>
          <p:cNvPr id="16" name="TextBox 15"/>
          <p:cNvSpPr txBox="1"/>
          <p:nvPr/>
        </p:nvSpPr>
        <p:spPr>
          <a:xfrm>
            <a:off x="640080" y="5609981"/>
            <a:ext cx="11155680" cy="341802"/>
          </a:xfrm>
          <a:prstGeom prst="rect">
            <a:avLst/>
          </a:prstGeom>
          <a:noFill/>
        </p:spPr>
        <p:txBody>
          <a:bodyPr wrap="none">
            <a:spAutoFit/>
          </a:bodyPr>
          <a:lstStyle/>
          <a:p>
            <a:r>
              <a:rPr sz="800" b="1">
                <a:solidFill>
                  <a:srgbClr val="27AE60"/>
                </a:solidFill>
              </a:rPr>
              <a:t>[Qiita]  </a:t>
            </a:r>
            <a:r>
              <a:rPr sz="800">
                <a:solidFill>
                  <a:srgbClr val="5DADE8"/>
                </a:solidFill>
                <a:hlinkClick r:id="rId5"/>
              </a:rPr>
              <a:t>https://qiita.com/HarmonicModeler/items/16ee10081ec4b058c929</a:t>
            </a:r>
          </a:p>
        </p:txBody>
      </p:sp>
      <p:sp>
        <p:nvSpPr>
          <p:cNvPr id="17" name="TextBox 16"/>
          <p:cNvSpPr txBox="1"/>
          <p:nvPr/>
        </p:nvSpPr>
        <p:spPr>
          <a:xfrm>
            <a:off x="640080" y="5951783"/>
            <a:ext cx="11155680" cy="427253"/>
          </a:xfrm>
          <a:prstGeom prst="rect">
            <a:avLst/>
          </a:prstGeom>
          <a:noFill/>
        </p:spPr>
        <p:txBody>
          <a:bodyPr wrap="square">
            <a:spAutoFit/>
          </a:bodyPr>
          <a:lstStyle/>
          <a:p>
            <a:r>
              <a:rPr sz="900">
                <a:solidFill>
                  <a:srgbClr val="7F8C8D"/>
                </a:solidFill>
              </a:rPr>
              <a:t>はじめに
生成AIによって、プログラマーの仕事は大きく変わり始めています。
AIにコードを書かせることで、これまで人間が時間をかけていた実装を短時間で行えるようになりました。
その結果、
「AIを使えば、プログラマーを減らせるのでは</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1A25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960120"/>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64592" cy="960120"/>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118872"/>
            <a:ext cx="11430000" cy="749808"/>
          </a:xfrm>
          <a:prstGeom prst="rect">
            <a:avLst/>
          </a:prstGeom>
          <a:noFill/>
        </p:spPr>
        <p:txBody>
          <a:bodyPr wrap="square">
            <a:spAutoFit/>
          </a:bodyPr>
          <a:lstStyle/>
          <a:p>
            <a:pPr algn="l"/>
            <a:r>
              <a:rPr sz="2000" b="1">
                <a:solidFill>
                  <a:srgbClr val="FFFFFF"/>
                </a:solidFill>
              </a:rPr>
              <a:t>生成AI活用の現場実践・他社事例　記事一覧　(2 / 2)</a:t>
            </a:r>
          </a:p>
        </p:txBody>
      </p:sp>
      <p:sp>
        <p:nvSpPr>
          <p:cNvPr id="6" name="TextBox 5"/>
          <p:cNvSpPr txBox="1"/>
          <p:nvPr/>
        </p:nvSpPr>
        <p:spPr>
          <a:xfrm>
            <a:off x="365760" y="6510528"/>
            <a:ext cx="11430000" cy="320040"/>
          </a:xfrm>
          <a:prstGeom prst="rect">
            <a:avLst/>
          </a:prstGeom>
          <a:noFill/>
        </p:spPr>
        <p:txBody>
          <a:bodyPr wrap="square">
            <a:spAutoFit/>
          </a:bodyPr>
          <a:lstStyle/>
          <a:p>
            <a:pPr algn="l"/>
            <a:r>
              <a:rPr sz="900" b="0">
                <a:solidFill>
                  <a:srgbClr val="7F8C8D"/>
                </a:solidFill>
              </a:rPr>
              <a:t>※ 他 6 件は JSON アーカイブを参照</a:t>
            </a:r>
          </a:p>
        </p:txBody>
      </p:sp>
      <p:sp>
        <p:nvSpPr>
          <p:cNvPr id="7" name="TextBox 6"/>
          <p:cNvSpPr txBox="1"/>
          <p:nvPr/>
        </p:nvSpPr>
        <p:spPr>
          <a:xfrm>
            <a:off x="365760" y="1024128"/>
            <a:ext cx="11430000" cy="569671"/>
          </a:xfrm>
          <a:prstGeom prst="rect">
            <a:avLst/>
          </a:prstGeom>
          <a:noFill/>
        </p:spPr>
        <p:txBody>
          <a:bodyPr wrap="square">
            <a:spAutoFit/>
          </a:bodyPr>
          <a:lstStyle/>
          <a:p>
            <a:r>
              <a:rPr sz="1000">
                <a:solidFill>
                  <a:srgbClr val="27AE60"/>
                </a:solidFill>
              </a:rPr>
              <a:t>▶ </a:t>
            </a:r>
            <a:r>
              <a:rPr sz="1200" b="1">
                <a:solidFill>
                  <a:srgbClr val="FFFFFF"/>
                </a:solidFill>
              </a:rPr>
              <a:t>Prompt Engineering Professional（PEP）検定　4章 生成AIのカスタマイズ手法</a:t>
            </a:r>
            <a:r>
              <a:rPr sz="900">
                <a:solidFill>
                  <a:srgbClr val="7F8C8D"/>
                </a:solidFill>
              </a:rPr>
              <a:t>  (2026-08-16)</a:t>
            </a:r>
          </a:p>
        </p:txBody>
      </p:sp>
      <p:sp>
        <p:nvSpPr>
          <p:cNvPr id="8" name="TextBox 7"/>
          <p:cNvSpPr txBox="1"/>
          <p:nvPr/>
        </p:nvSpPr>
        <p:spPr>
          <a:xfrm>
            <a:off x="640080" y="1593799"/>
            <a:ext cx="11155680" cy="341802"/>
          </a:xfrm>
          <a:prstGeom prst="rect">
            <a:avLst/>
          </a:prstGeom>
          <a:noFill/>
        </p:spPr>
        <p:txBody>
          <a:bodyPr wrap="none">
            <a:spAutoFit/>
          </a:bodyPr>
          <a:lstStyle/>
          <a:p>
            <a:r>
              <a:rPr sz="800" b="1">
                <a:solidFill>
                  <a:srgbClr val="27AE60"/>
                </a:solidFill>
              </a:rPr>
              <a:t>[Qiita]  </a:t>
            </a:r>
            <a:r>
              <a:rPr sz="800">
                <a:solidFill>
                  <a:srgbClr val="5DADE8"/>
                </a:solidFill>
                <a:hlinkClick r:id="rId2"/>
              </a:rPr>
              <a:t>https://qiita.com/kankigyo2/items/1df1d5f75c3d576bc576</a:t>
            </a:r>
          </a:p>
        </p:txBody>
      </p:sp>
      <p:sp>
        <p:nvSpPr>
          <p:cNvPr id="9" name="TextBox 8"/>
          <p:cNvSpPr txBox="1"/>
          <p:nvPr/>
        </p:nvSpPr>
        <p:spPr>
          <a:xfrm>
            <a:off x="640080" y="1935601"/>
            <a:ext cx="11155680" cy="427253"/>
          </a:xfrm>
          <a:prstGeom prst="rect">
            <a:avLst/>
          </a:prstGeom>
          <a:noFill/>
        </p:spPr>
        <p:txBody>
          <a:bodyPr wrap="square">
            <a:spAutoFit/>
          </a:bodyPr>
          <a:lstStyle/>
          <a:p>
            <a:r>
              <a:rPr sz="900">
                <a:solidFill>
                  <a:srgbClr val="7F8C8D"/>
                </a:solidFill>
              </a:rPr>
              <a:t>この記事では、Prompt Engineering Professional（PEP）検定の学習に役立つ問題集をまとめています。  
公式教材の内容を踏まえつつ、理解を深めるための確認問題・補足解説を付けています。
生成AIを安全かつ効果的</a:t>
            </a:r>
          </a:p>
        </p:txBody>
      </p:sp>
      <p:sp>
        <p:nvSpPr>
          <p:cNvPr id="10" name="TextBox 9"/>
          <p:cNvSpPr txBox="1"/>
          <p:nvPr/>
        </p:nvSpPr>
        <p:spPr>
          <a:xfrm>
            <a:off x="365760" y="2362855"/>
            <a:ext cx="11430000" cy="569671"/>
          </a:xfrm>
          <a:prstGeom prst="rect">
            <a:avLst/>
          </a:prstGeom>
          <a:noFill/>
        </p:spPr>
        <p:txBody>
          <a:bodyPr wrap="square">
            <a:spAutoFit/>
          </a:bodyPr>
          <a:lstStyle/>
          <a:p>
            <a:r>
              <a:rPr sz="1000">
                <a:solidFill>
                  <a:srgbClr val="27AE60"/>
                </a:solidFill>
              </a:rPr>
              <a:t>▶ </a:t>
            </a:r>
            <a:r>
              <a:rPr sz="1200" b="1">
                <a:solidFill>
                  <a:srgbClr val="FFFFFF"/>
                </a:solidFill>
              </a:rPr>
              <a:t>Prompt Engineering Professional（PEP）検定　3章 生成AIの実務への活用</a:t>
            </a:r>
            <a:r>
              <a:rPr sz="900">
                <a:solidFill>
                  <a:srgbClr val="7F8C8D"/>
                </a:solidFill>
              </a:rPr>
              <a:t>  (2026-08-16)</a:t>
            </a:r>
          </a:p>
        </p:txBody>
      </p:sp>
      <p:sp>
        <p:nvSpPr>
          <p:cNvPr id="11" name="TextBox 10"/>
          <p:cNvSpPr txBox="1"/>
          <p:nvPr/>
        </p:nvSpPr>
        <p:spPr>
          <a:xfrm>
            <a:off x="640080" y="2932526"/>
            <a:ext cx="11155680" cy="341802"/>
          </a:xfrm>
          <a:prstGeom prst="rect">
            <a:avLst/>
          </a:prstGeom>
          <a:noFill/>
        </p:spPr>
        <p:txBody>
          <a:bodyPr wrap="none">
            <a:spAutoFit/>
          </a:bodyPr>
          <a:lstStyle/>
          <a:p>
            <a:r>
              <a:rPr sz="800" b="1">
                <a:solidFill>
                  <a:srgbClr val="27AE60"/>
                </a:solidFill>
              </a:rPr>
              <a:t>[Qiita]  </a:t>
            </a:r>
            <a:r>
              <a:rPr sz="800">
                <a:solidFill>
                  <a:srgbClr val="5DADE8"/>
                </a:solidFill>
                <a:hlinkClick r:id="rId3"/>
              </a:rPr>
              <a:t>https://qiita.com/kankigyo2/items/9ec8bf2cff82e58fac43</a:t>
            </a:r>
          </a:p>
        </p:txBody>
      </p:sp>
      <p:sp>
        <p:nvSpPr>
          <p:cNvPr id="12" name="TextBox 11"/>
          <p:cNvSpPr txBox="1"/>
          <p:nvPr/>
        </p:nvSpPr>
        <p:spPr>
          <a:xfrm>
            <a:off x="640080" y="3274329"/>
            <a:ext cx="11155680" cy="427253"/>
          </a:xfrm>
          <a:prstGeom prst="rect">
            <a:avLst/>
          </a:prstGeom>
          <a:noFill/>
        </p:spPr>
        <p:txBody>
          <a:bodyPr wrap="square">
            <a:spAutoFit/>
          </a:bodyPr>
          <a:lstStyle/>
          <a:p>
            <a:r>
              <a:rPr sz="900">
                <a:solidFill>
                  <a:srgbClr val="7F8C8D"/>
                </a:solidFill>
              </a:rPr>
              <a:t>この記事では、Prompt Engineering Professional（PEP）検定の学習に役立つ問題集をまとめています。  
公式教材の内容を踏まえつつ、理解を深めるための確認問題・補足解説を付けています。
生成AIを安全かつ効果的</a:t>
            </a:r>
          </a:p>
        </p:txBody>
      </p:sp>
      <p:sp>
        <p:nvSpPr>
          <p:cNvPr id="13" name="TextBox 12"/>
          <p:cNvSpPr txBox="1"/>
          <p:nvPr/>
        </p:nvSpPr>
        <p:spPr>
          <a:xfrm>
            <a:off x="365760" y="3701582"/>
            <a:ext cx="11430000" cy="569671"/>
          </a:xfrm>
          <a:prstGeom prst="rect">
            <a:avLst/>
          </a:prstGeom>
          <a:noFill/>
        </p:spPr>
        <p:txBody>
          <a:bodyPr wrap="square">
            <a:spAutoFit/>
          </a:bodyPr>
          <a:lstStyle/>
          <a:p>
            <a:r>
              <a:rPr sz="1000">
                <a:solidFill>
                  <a:srgbClr val="27AE60"/>
                </a:solidFill>
              </a:rPr>
              <a:t>▶ </a:t>
            </a:r>
            <a:r>
              <a:rPr sz="1200" b="1">
                <a:solidFill>
                  <a:srgbClr val="FFFFFF"/>
                </a:solidFill>
              </a:rPr>
              <a:t>Prompt Engineering Professional（PEP）検定　2章 プロンプトエンジニアリングの基本概念と技術</a:t>
            </a:r>
            <a:r>
              <a:rPr sz="900">
                <a:solidFill>
                  <a:srgbClr val="7F8C8D"/>
                </a:solidFill>
              </a:rPr>
              <a:t>  (2026-08-16)</a:t>
            </a:r>
          </a:p>
        </p:txBody>
      </p:sp>
      <p:sp>
        <p:nvSpPr>
          <p:cNvPr id="14" name="TextBox 13"/>
          <p:cNvSpPr txBox="1"/>
          <p:nvPr/>
        </p:nvSpPr>
        <p:spPr>
          <a:xfrm>
            <a:off x="640080" y="4271253"/>
            <a:ext cx="11155680" cy="341802"/>
          </a:xfrm>
          <a:prstGeom prst="rect">
            <a:avLst/>
          </a:prstGeom>
          <a:noFill/>
        </p:spPr>
        <p:txBody>
          <a:bodyPr wrap="none">
            <a:spAutoFit/>
          </a:bodyPr>
          <a:lstStyle/>
          <a:p>
            <a:r>
              <a:rPr sz="800" b="1">
                <a:solidFill>
                  <a:srgbClr val="27AE60"/>
                </a:solidFill>
              </a:rPr>
              <a:t>[Qiita]  </a:t>
            </a:r>
            <a:r>
              <a:rPr sz="800">
                <a:solidFill>
                  <a:srgbClr val="5DADE8"/>
                </a:solidFill>
                <a:hlinkClick r:id="rId4"/>
              </a:rPr>
              <a:t>https://qiita.com/kankigyo2/items/2898555e55aea6a0e61f</a:t>
            </a:r>
          </a:p>
        </p:txBody>
      </p:sp>
      <p:sp>
        <p:nvSpPr>
          <p:cNvPr id="15" name="TextBox 14"/>
          <p:cNvSpPr txBox="1"/>
          <p:nvPr/>
        </p:nvSpPr>
        <p:spPr>
          <a:xfrm>
            <a:off x="640080" y="4613056"/>
            <a:ext cx="11155680" cy="427253"/>
          </a:xfrm>
          <a:prstGeom prst="rect">
            <a:avLst/>
          </a:prstGeom>
          <a:noFill/>
        </p:spPr>
        <p:txBody>
          <a:bodyPr wrap="square">
            <a:spAutoFit/>
          </a:bodyPr>
          <a:lstStyle/>
          <a:p>
            <a:r>
              <a:rPr sz="900">
                <a:solidFill>
                  <a:srgbClr val="7F8C8D"/>
                </a:solidFill>
              </a:rPr>
              <a:t>この記事では、Prompt Engineering Professional（PEP）検定の学習に役立つ問題集をまとめています。  
公式教材の内容を踏まえつつ、理解を深めるための確認問題・補足解説を付けています。
生成AIを安全かつ効果的</a:t>
            </a:r>
          </a:p>
        </p:txBody>
      </p:sp>
      <p:sp>
        <p:nvSpPr>
          <p:cNvPr id="16" name="TextBox 15"/>
          <p:cNvSpPr txBox="1"/>
          <p:nvPr/>
        </p:nvSpPr>
        <p:spPr>
          <a:xfrm>
            <a:off x="365760" y="5040309"/>
            <a:ext cx="11430000" cy="569671"/>
          </a:xfrm>
          <a:prstGeom prst="rect">
            <a:avLst/>
          </a:prstGeom>
          <a:noFill/>
        </p:spPr>
        <p:txBody>
          <a:bodyPr wrap="square">
            <a:spAutoFit/>
          </a:bodyPr>
          <a:lstStyle/>
          <a:p>
            <a:r>
              <a:rPr sz="1000">
                <a:solidFill>
                  <a:srgbClr val="27AE60"/>
                </a:solidFill>
              </a:rPr>
              <a:t>▶ </a:t>
            </a:r>
            <a:r>
              <a:rPr sz="1200" b="1">
                <a:solidFill>
                  <a:srgbClr val="FFFFFF"/>
                </a:solidFill>
              </a:rPr>
              <a:t>生成AIを組織に定着させるための、渡し方・受け方・測り方・育て方の設計</a:t>
            </a:r>
            <a:r>
              <a:rPr sz="900">
                <a:solidFill>
                  <a:srgbClr val="7F8C8D"/>
                </a:solidFill>
              </a:rPr>
              <a:t>  (2026-08-16)</a:t>
            </a:r>
          </a:p>
        </p:txBody>
      </p:sp>
      <p:sp>
        <p:nvSpPr>
          <p:cNvPr id="17" name="TextBox 16"/>
          <p:cNvSpPr txBox="1"/>
          <p:nvPr/>
        </p:nvSpPr>
        <p:spPr>
          <a:xfrm>
            <a:off x="640080" y="5609981"/>
            <a:ext cx="11155680" cy="341802"/>
          </a:xfrm>
          <a:prstGeom prst="rect">
            <a:avLst/>
          </a:prstGeom>
          <a:noFill/>
        </p:spPr>
        <p:txBody>
          <a:bodyPr wrap="none">
            <a:spAutoFit/>
          </a:bodyPr>
          <a:lstStyle/>
          <a:p>
            <a:r>
              <a:rPr sz="800" b="1">
                <a:solidFill>
                  <a:srgbClr val="27AE60"/>
                </a:solidFill>
              </a:rPr>
              <a:t>[Zenn]  </a:t>
            </a:r>
            <a:r>
              <a:rPr sz="800">
                <a:solidFill>
                  <a:srgbClr val="5DADE8"/>
                </a:solidFill>
                <a:hlinkClick r:id="rId5"/>
              </a:rPr>
              <a:t>https://zenn.dev/tk_notes/articles/genai-adoption-establishment-design</a:t>
            </a:r>
          </a:p>
        </p:txBody>
      </p:sp>
      <p:sp>
        <p:nvSpPr>
          <p:cNvPr id="18" name="TextBox 17"/>
          <p:cNvSpPr txBox="1"/>
          <p:nvPr/>
        </p:nvSpPr>
        <p:spPr>
          <a:xfrm>
            <a:off x="640080" y="5951783"/>
            <a:ext cx="11155680" cy="427253"/>
          </a:xfrm>
          <a:prstGeom prst="rect">
            <a:avLst/>
          </a:prstGeom>
          <a:noFill/>
        </p:spPr>
        <p:txBody>
          <a:bodyPr wrap="square">
            <a:spAutoFit/>
          </a:bodyPr>
          <a:lstStyle/>
          <a:p>
            <a:r>
              <a:rPr sz="900">
                <a:solidFill>
                  <a:srgbClr val="7F8C8D"/>
                </a:solidFill>
              </a:rPr>
              <a:t>生成AIの導入は、派手には失敗しません。「もうやめます」と宣言されるような終わり方は、めったにない。AIは、それ自体が便利すぎるからです。
静かに崩れていくのは、利用そのものではなく、「組織が意図した使い方」のほうです。使う人は残る。ただし</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1A25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960120"/>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64592" cy="960120"/>
          </a:xfrm>
          <a:prstGeom prst="rect">
            <a:avLst/>
          </a:prstGeom>
          <a:solidFill>
            <a:srgbClr val="E67E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118872"/>
            <a:ext cx="11430000" cy="749808"/>
          </a:xfrm>
          <a:prstGeom prst="rect">
            <a:avLst/>
          </a:prstGeom>
          <a:noFill/>
        </p:spPr>
        <p:txBody>
          <a:bodyPr wrap="square">
            <a:spAutoFit/>
          </a:bodyPr>
          <a:lstStyle/>
          <a:p>
            <a:pPr algn="l"/>
            <a:r>
              <a:rPr sz="2000" b="1">
                <a:solidFill>
                  <a:srgbClr val="FFFFFF"/>
                </a:solidFill>
              </a:rPr>
              <a:t>AIガバナンス・セキュリティ・社内ルール　記事一覧　(1 / 2)</a:t>
            </a:r>
          </a:p>
        </p:txBody>
      </p:sp>
      <p:sp>
        <p:nvSpPr>
          <p:cNvPr id="6" name="TextBox 5"/>
          <p:cNvSpPr txBox="1"/>
          <p:nvPr/>
        </p:nvSpPr>
        <p:spPr>
          <a:xfrm>
            <a:off x="365760" y="1024128"/>
            <a:ext cx="11430000" cy="569671"/>
          </a:xfrm>
          <a:prstGeom prst="rect">
            <a:avLst/>
          </a:prstGeom>
          <a:noFill/>
        </p:spPr>
        <p:txBody>
          <a:bodyPr wrap="square">
            <a:spAutoFit/>
          </a:bodyPr>
          <a:lstStyle/>
          <a:p>
            <a:r>
              <a:rPr sz="1000">
                <a:solidFill>
                  <a:srgbClr val="E67E22"/>
                </a:solidFill>
              </a:rPr>
              <a:t>▶ </a:t>
            </a:r>
            <a:r>
              <a:rPr sz="1200" b="1">
                <a:solidFill>
                  <a:srgbClr val="FFFFFF"/>
                </a:solidFill>
              </a:rPr>
              <a:t>算数オリンピックの動画解説(許可済み)をベースにして、私のブログのための 記事について、著作権違反になりませんか。</a:t>
            </a:r>
            <a:r>
              <a:rPr sz="900">
                <a:solidFill>
                  <a:srgbClr val="7F8C8D"/>
                </a:solidFill>
              </a:rPr>
              <a:t>  (2026-08-16)</a:t>
            </a:r>
          </a:p>
        </p:txBody>
      </p:sp>
      <p:sp>
        <p:nvSpPr>
          <p:cNvPr id="7" name="TextBox 6"/>
          <p:cNvSpPr txBox="1"/>
          <p:nvPr/>
        </p:nvSpPr>
        <p:spPr>
          <a:xfrm>
            <a:off x="640080" y="1593799"/>
            <a:ext cx="11155680" cy="341802"/>
          </a:xfrm>
          <a:prstGeom prst="rect">
            <a:avLst/>
          </a:prstGeom>
          <a:noFill/>
        </p:spPr>
        <p:txBody>
          <a:bodyPr wrap="none">
            <a:spAutoFit/>
          </a:bodyPr>
          <a:lstStyle/>
          <a:p>
            <a:r>
              <a:rPr sz="800" b="1">
                <a:solidFill>
                  <a:srgbClr val="E67E22"/>
                </a:solidFill>
              </a:rPr>
              <a:t>[Qiita]  </a:t>
            </a:r>
            <a:r>
              <a:rPr sz="800">
                <a:solidFill>
                  <a:srgbClr val="5DADE8"/>
                </a:solidFill>
                <a:hlinkClick r:id="rId2"/>
              </a:rPr>
              <a:t>https://qiita.com/mrrclb48z/items/2e631760e14a212b396f</a:t>
            </a:r>
          </a:p>
        </p:txBody>
      </p:sp>
      <p:sp>
        <p:nvSpPr>
          <p:cNvPr id="8" name="TextBox 7"/>
          <p:cNvSpPr txBox="1"/>
          <p:nvPr/>
        </p:nvSpPr>
        <p:spPr>
          <a:xfrm>
            <a:off x="640080" y="1935601"/>
            <a:ext cx="11155680" cy="427253"/>
          </a:xfrm>
          <a:prstGeom prst="rect">
            <a:avLst/>
          </a:prstGeom>
          <a:noFill/>
        </p:spPr>
        <p:txBody>
          <a:bodyPr wrap="square">
            <a:spAutoFit/>
          </a:bodyPr>
          <a:lstStyle/>
          <a:p>
            <a:r>
              <a:rPr sz="900">
                <a:solidFill>
                  <a:srgbClr val="7F8C8D"/>
                </a:solidFill>
              </a:rPr>
              <a:t>&gt;GeminiはAIであり、不正確な情報を表示することがあります。
だそうです。
履歴。Gemini先生へ。
回答抜粋
(都合の良さそうなところだけ抜粋)
&gt;結論から申し上げますと、解法や解答のロジックをSymPy（Pyth</a:t>
            </a:r>
          </a:p>
        </p:txBody>
      </p:sp>
      <p:sp>
        <p:nvSpPr>
          <p:cNvPr id="9" name="TextBox 8"/>
          <p:cNvSpPr txBox="1"/>
          <p:nvPr/>
        </p:nvSpPr>
        <p:spPr>
          <a:xfrm>
            <a:off x="365760" y="2362855"/>
            <a:ext cx="11430000" cy="569671"/>
          </a:xfrm>
          <a:prstGeom prst="rect">
            <a:avLst/>
          </a:prstGeom>
          <a:noFill/>
        </p:spPr>
        <p:txBody>
          <a:bodyPr wrap="square">
            <a:spAutoFit/>
          </a:bodyPr>
          <a:lstStyle/>
          <a:p>
            <a:r>
              <a:rPr sz="1000">
                <a:solidFill>
                  <a:srgbClr val="E67E22"/>
                </a:solidFill>
              </a:rPr>
              <a:t>▶ </a:t>
            </a:r>
            <a:r>
              <a:rPr sz="1200" b="1">
                <a:solidFill>
                  <a:srgbClr val="FFFFFF"/>
                </a:solidFill>
              </a:rPr>
              <a:t>さくらのAIと話したかっただけなのに。。。人生初APIで、会話履歴をJSON保存し始めたセキュリティエンジニアの話</a:t>
            </a:r>
            <a:r>
              <a:rPr sz="900">
                <a:solidFill>
                  <a:srgbClr val="7F8C8D"/>
                </a:solidFill>
              </a:rPr>
              <a:t>  (2026-08-16)</a:t>
            </a:r>
          </a:p>
        </p:txBody>
      </p:sp>
      <p:sp>
        <p:nvSpPr>
          <p:cNvPr id="10" name="TextBox 9"/>
          <p:cNvSpPr txBox="1"/>
          <p:nvPr/>
        </p:nvSpPr>
        <p:spPr>
          <a:xfrm>
            <a:off x="640080" y="2932526"/>
            <a:ext cx="11155680" cy="341802"/>
          </a:xfrm>
          <a:prstGeom prst="rect">
            <a:avLst/>
          </a:prstGeom>
          <a:noFill/>
        </p:spPr>
        <p:txBody>
          <a:bodyPr wrap="none">
            <a:spAutoFit/>
          </a:bodyPr>
          <a:lstStyle/>
          <a:p>
            <a:r>
              <a:rPr sz="800" b="1">
                <a:solidFill>
                  <a:srgbClr val="E67E22"/>
                </a:solidFill>
              </a:rPr>
              <a:t>[Qiita]  </a:t>
            </a:r>
            <a:r>
              <a:rPr sz="800">
                <a:solidFill>
                  <a:srgbClr val="5DADE8"/>
                </a:solidFill>
                <a:hlinkClick r:id="rId3"/>
              </a:rPr>
              <a:t>https://qiita.com/Maruhoppe8/items/70b9777bac0159c840ab</a:t>
            </a:r>
          </a:p>
        </p:txBody>
      </p:sp>
      <p:sp>
        <p:nvSpPr>
          <p:cNvPr id="11" name="TextBox 10"/>
          <p:cNvSpPr txBox="1"/>
          <p:nvPr/>
        </p:nvSpPr>
        <p:spPr>
          <a:xfrm>
            <a:off x="640080" y="3274329"/>
            <a:ext cx="11155680" cy="427253"/>
          </a:xfrm>
          <a:prstGeom prst="rect">
            <a:avLst/>
          </a:prstGeom>
          <a:noFill/>
        </p:spPr>
        <p:txBody>
          <a:bodyPr wrap="square">
            <a:spAutoFit/>
          </a:bodyPr>
          <a:lstStyle/>
          <a:p>
            <a:r>
              <a:rPr sz="900">
                <a:solidFill>
                  <a:srgbClr val="7F8C8D"/>
                </a:solidFill>
              </a:rPr>
              <a:t>１．はじめに
１－１．今回のポイント
APIの実装経験がほぼない状態から、さくらのAI Engine APIを使って、会話履歴を保持できる自分用チャット環境を作ってみました。
きっかけは、Playgroundで生成AIとやりとりしていた</a:t>
            </a:r>
          </a:p>
        </p:txBody>
      </p:sp>
      <p:sp>
        <p:nvSpPr>
          <p:cNvPr id="12" name="TextBox 11"/>
          <p:cNvSpPr txBox="1"/>
          <p:nvPr/>
        </p:nvSpPr>
        <p:spPr>
          <a:xfrm>
            <a:off x="365760" y="3701582"/>
            <a:ext cx="11430000" cy="569671"/>
          </a:xfrm>
          <a:prstGeom prst="rect">
            <a:avLst/>
          </a:prstGeom>
          <a:noFill/>
        </p:spPr>
        <p:txBody>
          <a:bodyPr wrap="square">
            <a:spAutoFit/>
          </a:bodyPr>
          <a:lstStyle/>
          <a:p>
            <a:r>
              <a:rPr sz="1000">
                <a:solidFill>
                  <a:srgbClr val="E67E22"/>
                </a:solidFill>
              </a:rPr>
              <a:t>▶ </a:t>
            </a:r>
            <a:r>
              <a:rPr sz="1200" b="1">
                <a:solidFill>
                  <a:srgbClr val="FFFFFF"/>
                </a:solidFill>
              </a:rPr>
              <a:t>VertexAIを利用しようとして速度改善（経歴書解析を280秒→24秒にした）結果、結局VertexAIを止める羽目になった話</a:t>
            </a:r>
            <a:r>
              <a:rPr sz="900">
                <a:solidFill>
                  <a:srgbClr val="7F8C8D"/>
                </a:solidFill>
              </a:rPr>
              <a:t>  (2026-08-15)</a:t>
            </a:r>
          </a:p>
        </p:txBody>
      </p:sp>
      <p:sp>
        <p:nvSpPr>
          <p:cNvPr id="13" name="TextBox 12"/>
          <p:cNvSpPr txBox="1"/>
          <p:nvPr/>
        </p:nvSpPr>
        <p:spPr>
          <a:xfrm>
            <a:off x="640080" y="4271253"/>
            <a:ext cx="11155680" cy="341802"/>
          </a:xfrm>
          <a:prstGeom prst="rect">
            <a:avLst/>
          </a:prstGeom>
          <a:noFill/>
        </p:spPr>
        <p:txBody>
          <a:bodyPr wrap="none">
            <a:spAutoFit/>
          </a:bodyPr>
          <a:lstStyle/>
          <a:p>
            <a:r>
              <a:rPr sz="800" b="1">
                <a:solidFill>
                  <a:srgbClr val="E67E22"/>
                </a:solidFill>
              </a:rPr>
              <a:t>[Qiita]  </a:t>
            </a:r>
            <a:r>
              <a:rPr sz="800">
                <a:solidFill>
                  <a:srgbClr val="5DADE8"/>
                </a:solidFill>
                <a:hlinkClick r:id="rId4"/>
              </a:rPr>
              <a:t>https://qiita.com/kenichiyoshioka/items/cbfb1028473fda15ace6</a:t>
            </a:r>
          </a:p>
        </p:txBody>
      </p:sp>
      <p:sp>
        <p:nvSpPr>
          <p:cNvPr id="14" name="TextBox 13"/>
          <p:cNvSpPr txBox="1"/>
          <p:nvPr/>
        </p:nvSpPr>
        <p:spPr>
          <a:xfrm>
            <a:off x="640080" y="4613056"/>
            <a:ext cx="11155680" cy="427253"/>
          </a:xfrm>
          <a:prstGeom prst="rect">
            <a:avLst/>
          </a:prstGeom>
          <a:noFill/>
        </p:spPr>
        <p:txBody>
          <a:bodyPr wrap="square">
            <a:spAutoFit/>
          </a:bodyPr>
          <a:lstStyle/>
          <a:p>
            <a:r>
              <a:rPr sz="900">
                <a:solidFill>
                  <a:srgbClr val="7F8C8D"/>
                </a:solidFill>
              </a:rPr>
              <a:t>&gt; 📚 スキルシートと市場価値 シリーズ ②：AI解析の高速化と、VertexAIの顛末
---
はじめに
元々Gemini Developer APIを利用して前プロダクトを作成していたので今回を利用していたところAIと話をしていた</a:t>
            </a:r>
          </a:p>
        </p:txBody>
      </p:sp>
      <p:sp>
        <p:nvSpPr>
          <p:cNvPr id="15" name="TextBox 14"/>
          <p:cNvSpPr txBox="1"/>
          <p:nvPr/>
        </p:nvSpPr>
        <p:spPr>
          <a:xfrm>
            <a:off x="365760" y="5040309"/>
            <a:ext cx="11430000" cy="569671"/>
          </a:xfrm>
          <a:prstGeom prst="rect">
            <a:avLst/>
          </a:prstGeom>
          <a:noFill/>
        </p:spPr>
        <p:txBody>
          <a:bodyPr wrap="square">
            <a:spAutoFit/>
          </a:bodyPr>
          <a:lstStyle/>
          <a:p>
            <a:r>
              <a:rPr sz="1000">
                <a:solidFill>
                  <a:srgbClr val="E67E22"/>
                </a:solidFill>
              </a:rPr>
              <a:t>▶ </a:t>
            </a:r>
            <a:r>
              <a:rPr sz="1200" b="1">
                <a:solidFill>
                  <a:srgbClr val="FFFFFF"/>
                </a:solidFill>
              </a:rPr>
              <a:t>AI時代の全体像をつかむ4冊【技術＋戦略】</a:t>
            </a:r>
            <a:r>
              <a:rPr sz="900">
                <a:solidFill>
                  <a:srgbClr val="7F8C8D"/>
                </a:solidFill>
              </a:rPr>
              <a:t>  (2026-08-13)</a:t>
            </a:r>
          </a:p>
        </p:txBody>
      </p:sp>
      <p:sp>
        <p:nvSpPr>
          <p:cNvPr id="16" name="TextBox 15"/>
          <p:cNvSpPr txBox="1"/>
          <p:nvPr/>
        </p:nvSpPr>
        <p:spPr>
          <a:xfrm>
            <a:off x="640080" y="5609981"/>
            <a:ext cx="11155680" cy="341802"/>
          </a:xfrm>
          <a:prstGeom prst="rect">
            <a:avLst/>
          </a:prstGeom>
          <a:noFill/>
        </p:spPr>
        <p:txBody>
          <a:bodyPr wrap="none">
            <a:spAutoFit/>
          </a:bodyPr>
          <a:lstStyle/>
          <a:p>
            <a:r>
              <a:rPr sz="800" b="1">
                <a:solidFill>
                  <a:srgbClr val="E67E22"/>
                </a:solidFill>
              </a:rPr>
              <a:t>[Qiita]  </a:t>
            </a:r>
            <a:r>
              <a:rPr sz="800">
                <a:solidFill>
                  <a:srgbClr val="5DADE8"/>
                </a:solidFill>
                <a:hlinkClick r:id="rId5"/>
              </a:rPr>
              <a:t>https://qiita.com/koukyo/items/efaef9b1be47da766551</a:t>
            </a:r>
          </a:p>
        </p:txBody>
      </p:sp>
      <p:sp>
        <p:nvSpPr>
          <p:cNvPr id="17" name="TextBox 16"/>
          <p:cNvSpPr txBox="1"/>
          <p:nvPr/>
        </p:nvSpPr>
        <p:spPr>
          <a:xfrm>
            <a:off x="640080" y="5951783"/>
            <a:ext cx="11155680" cy="427253"/>
          </a:xfrm>
          <a:prstGeom prst="rect">
            <a:avLst/>
          </a:prstGeom>
          <a:noFill/>
        </p:spPr>
        <p:txBody>
          <a:bodyPr wrap="square">
            <a:spAutoFit/>
          </a:bodyPr>
          <a:lstStyle/>
          <a:p>
            <a:r>
              <a:rPr sz="900">
                <a:solidFill>
                  <a:srgbClr val="7F8C8D"/>
                </a:solidFill>
              </a:rPr>
              <a:t>はじめに
最近、業務でLLMを組み込んだプロトタイプを作る機会が増えた。APIを叩くだけなら数時間で動くものが出来上がる。しかし「なぜこのアーキテクチャが主流になったのか」「経営層にどう説明すれば導入が進むのか」「この技術の社会的リスクは</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1A25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960120"/>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64592" cy="960120"/>
          </a:xfrm>
          <a:prstGeom prst="rect">
            <a:avLst/>
          </a:prstGeom>
          <a:solidFill>
            <a:srgbClr val="E67E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118872"/>
            <a:ext cx="11430000" cy="749808"/>
          </a:xfrm>
          <a:prstGeom prst="rect">
            <a:avLst/>
          </a:prstGeom>
          <a:noFill/>
        </p:spPr>
        <p:txBody>
          <a:bodyPr wrap="square">
            <a:spAutoFit/>
          </a:bodyPr>
          <a:lstStyle/>
          <a:p>
            <a:pPr algn="l"/>
            <a:r>
              <a:rPr sz="2000" b="1">
                <a:solidFill>
                  <a:srgbClr val="FFFFFF"/>
                </a:solidFill>
              </a:rPr>
              <a:t>AIガバナンス・セキュリティ・社内ルール　記事一覧　(2 / 2)</a:t>
            </a:r>
          </a:p>
        </p:txBody>
      </p:sp>
      <p:sp>
        <p:nvSpPr>
          <p:cNvPr id="6" name="TextBox 5"/>
          <p:cNvSpPr txBox="1"/>
          <p:nvPr/>
        </p:nvSpPr>
        <p:spPr>
          <a:xfrm>
            <a:off x="365760" y="1024128"/>
            <a:ext cx="11430000" cy="569671"/>
          </a:xfrm>
          <a:prstGeom prst="rect">
            <a:avLst/>
          </a:prstGeom>
          <a:noFill/>
        </p:spPr>
        <p:txBody>
          <a:bodyPr wrap="square">
            <a:spAutoFit/>
          </a:bodyPr>
          <a:lstStyle/>
          <a:p>
            <a:r>
              <a:rPr sz="1000">
                <a:solidFill>
                  <a:srgbClr val="E67E22"/>
                </a:solidFill>
              </a:rPr>
              <a:t>▶ </a:t>
            </a:r>
            <a:r>
              <a:rPr sz="1200" b="1">
                <a:solidFill>
                  <a:srgbClr val="FFFFFF"/>
                </a:solidFill>
              </a:rPr>
              <a:t> 無料データ中心で作る、日本個別株ランキングAI</a:t>
            </a:r>
            <a:r>
              <a:rPr sz="900">
                <a:solidFill>
                  <a:srgbClr val="7F8C8D"/>
                </a:solidFill>
              </a:rPr>
              <a:t>  (2026-08-13)</a:t>
            </a:r>
          </a:p>
        </p:txBody>
      </p:sp>
      <p:sp>
        <p:nvSpPr>
          <p:cNvPr id="7" name="TextBox 6"/>
          <p:cNvSpPr txBox="1"/>
          <p:nvPr/>
        </p:nvSpPr>
        <p:spPr>
          <a:xfrm>
            <a:off x="640080" y="1593799"/>
            <a:ext cx="11155680" cy="341802"/>
          </a:xfrm>
          <a:prstGeom prst="rect">
            <a:avLst/>
          </a:prstGeom>
          <a:noFill/>
        </p:spPr>
        <p:txBody>
          <a:bodyPr wrap="none">
            <a:spAutoFit/>
          </a:bodyPr>
          <a:lstStyle/>
          <a:p>
            <a:r>
              <a:rPr sz="800" b="1">
                <a:solidFill>
                  <a:srgbClr val="E67E22"/>
                </a:solidFill>
              </a:rPr>
              <a:t>[Qiita]  </a:t>
            </a:r>
            <a:r>
              <a:rPr sz="800">
                <a:solidFill>
                  <a:srgbClr val="5DADE8"/>
                </a:solidFill>
                <a:hlinkClick r:id="rId2"/>
              </a:rPr>
              <a:t>https://qiita.com/xniconicox009/items/003643f7814ef33e84b0</a:t>
            </a:r>
          </a:p>
        </p:txBody>
      </p:sp>
      <p:sp>
        <p:nvSpPr>
          <p:cNvPr id="8" name="TextBox 7"/>
          <p:cNvSpPr txBox="1"/>
          <p:nvPr/>
        </p:nvSpPr>
        <p:spPr>
          <a:xfrm>
            <a:off x="640080" y="1935601"/>
            <a:ext cx="11155680" cy="427253"/>
          </a:xfrm>
          <a:prstGeom prst="rect">
            <a:avLst/>
          </a:prstGeom>
          <a:noFill/>
        </p:spPr>
        <p:txBody>
          <a:bodyPr wrap="square">
            <a:spAutoFit/>
          </a:bodyPr>
          <a:lstStyle/>
          <a:p>
            <a:r>
              <a:rPr sz="900">
                <a:solidFill>
                  <a:srgbClr val="7F8C8D"/>
                </a:solidFill>
              </a:rPr>
              <a:t>TOPIX近傍の約500銘柄を対象にした個人向け投資分析基盤
個人で日本株を分析する場合、対象銘柄数が多いと、定量情報を整理して比較する仕組みが必要になります。  
特にEPS、PER、PBR、ROEなどの指標は、企業価値を比較するうえで</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1A25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960120"/>
          </a:xfrm>
          <a:prstGeom prst="rect">
            <a:avLst/>
          </a:prstGeom>
          <a:solidFill>
            <a:srgbClr val="2C3C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64592" cy="960120"/>
          </a:xfrm>
          <a:prstGeom prst="rect">
            <a:avLst/>
          </a:prstGeom>
          <a:solidFill>
            <a:srgbClr val="7F8C8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118872"/>
            <a:ext cx="11430000" cy="749808"/>
          </a:xfrm>
          <a:prstGeom prst="rect">
            <a:avLst/>
          </a:prstGeom>
          <a:noFill/>
        </p:spPr>
        <p:txBody>
          <a:bodyPr wrap="square">
            <a:spAutoFit/>
          </a:bodyPr>
          <a:lstStyle/>
          <a:p>
            <a:pPr algn="l"/>
            <a:r>
              <a:rPr sz="2000" b="1">
                <a:solidFill>
                  <a:srgbClr val="FFFFFF"/>
                </a:solidFill>
              </a:rPr>
              <a:t>その他の記事　(1 / 9)</a:t>
            </a:r>
          </a:p>
        </p:txBody>
      </p:sp>
      <p:sp>
        <p:nvSpPr>
          <p:cNvPr id="6" name="TextBox 5"/>
          <p:cNvSpPr txBox="1"/>
          <p:nvPr/>
        </p:nvSpPr>
        <p:spPr>
          <a:xfrm>
            <a:off x="365760" y="1051560"/>
            <a:ext cx="11430000" cy="214312"/>
          </a:xfrm>
          <a:prstGeom prst="rect">
            <a:avLst/>
          </a:prstGeom>
          <a:noFill/>
        </p:spPr>
        <p:txBody>
          <a:bodyPr wrap="none">
            <a:spAutoFit/>
          </a:bodyPr>
          <a:lstStyle/>
          <a:p>
            <a:r>
              <a:rPr sz="800" b="1">
                <a:solidFill>
                  <a:srgbClr val="7F8C8D"/>
                </a:solidFill>
              </a:rPr>
              <a:t>[Qiita]  </a:t>
            </a:r>
            <a:r>
              <a:rPr sz="1000" b="1">
                <a:solidFill>
                  <a:srgbClr val="CCDDEE"/>
                </a:solidFill>
              </a:rPr>
              <a:t>お客様の声を、AIが読んで整理してくれる時代になった｜口コミ・アンケート分析を効率化する考え方</a:t>
            </a:r>
          </a:p>
        </p:txBody>
      </p:sp>
      <p:sp>
        <p:nvSpPr>
          <p:cNvPr id="7" name="TextBox 6"/>
          <p:cNvSpPr txBox="1"/>
          <p:nvPr/>
        </p:nvSpPr>
        <p:spPr>
          <a:xfrm>
            <a:off x="640080" y="1265872"/>
            <a:ext cx="11155680" cy="214312"/>
          </a:xfrm>
          <a:prstGeom prst="rect">
            <a:avLst/>
          </a:prstGeom>
          <a:noFill/>
        </p:spPr>
        <p:txBody>
          <a:bodyPr wrap="none">
            <a:spAutoFit/>
          </a:bodyPr>
          <a:lstStyle/>
          <a:p>
            <a:r>
              <a:rPr sz="800">
                <a:solidFill>
                  <a:srgbClr val="5DADE8"/>
                </a:solidFill>
                <a:hlinkClick r:id="rId2"/>
              </a:rPr>
              <a:t>https://qiita.com/DnD-inc/items/2b18532d97be97fd85d4</a:t>
            </a:r>
          </a:p>
        </p:txBody>
      </p:sp>
      <p:sp>
        <p:nvSpPr>
          <p:cNvPr id="8" name="TextBox 7"/>
          <p:cNvSpPr txBox="1"/>
          <p:nvPr/>
        </p:nvSpPr>
        <p:spPr>
          <a:xfrm>
            <a:off x="365760" y="1480185"/>
            <a:ext cx="11430000" cy="214312"/>
          </a:xfrm>
          <a:prstGeom prst="rect">
            <a:avLst/>
          </a:prstGeom>
          <a:noFill/>
        </p:spPr>
        <p:txBody>
          <a:bodyPr wrap="none">
            <a:spAutoFit/>
          </a:bodyPr>
          <a:lstStyle/>
          <a:p>
            <a:r>
              <a:rPr sz="800" b="1">
                <a:solidFill>
                  <a:srgbClr val="7F8C8D"/>
                </a:solidFill>
              </a:rPr>
              <a:t>[Qiita]  </a:t>
            </a:r>
            <a:r>
              <a:rPr sz="1000" b="1">
                <a:solidFill>
                  <a:srgbClr val="CCDDEE"/>
                </a:solidFill>
              </a:rPr>
              <a:t>YOLO26n・sのFP32とstatic INT8を比較した</a:t>
            </a:r>
          </a:p>
        </p:txBody>
      </p:sp>
      <p:sp>
        <p:nvSpPr>
          <p:cNvPr id="9" name="TextBox 8"/>
          <p:cNvSpPr txBox="1"/>
          <p:nvPr/>
        </p:nvSpPr>
        <p:spPr>
          <a:xfrm>
            <a:off x="640080" y="1694497"/>
            <a:ext cx="11155680" cy="214312"/>
          </a:xfrm>
          <a:prstGeom prst="rect">
            <a:avLst/>
          </a:prstGeom>
          <a:noFill/>
        </p:spPr>
        <p:txBody>
          <a:bodyPr wrap="none">
            <a:spAutoFit/>
          </a:bodyPr>
          <a:lstStyle/>
          <a:p>
            <a:r>
              <a:rPr sz="800">
                <a:solidFill>
                  <a:srgbClr val="5DADE8"/>
                </a:solidFill>
                <a:hlinkClick r:id="rId3"/>
              </a:rPr>
              <a:t>https://qiita.com/Reotech/items/8df27c15430b35b97cad</a:t>
            </a:r>
          </a:p>
        </p:txBody>
      </p:sp>
      <p:sp>
        <p:nvSpPr>
          <p:cNvPr id="10" name="TextBox 9"/>
          <p:cNvSpPr txBox="1"/>
          <p:nvPr/>
        </p:nvSpPr>
        <p:spPr>
          <a:xfrm>
            <a:off x="365760" y="1908810"/>
            <a:ext cx="11430000" cy="214312"/>
          </a:xfrm>
          <a:prstGeom prst="rect">
            <a:avLst/>
          </a:prstGeom>
          <a:noFill/>
        </p:spPr>
        <p:txBody>
          <a:bodyPr wrap="none">
            <a:spAutoFit/>
          </a:bodyPr>
          <a:lstStyle/>
          <a:p>
            <a:r>
              <a:rPr sz="800" b="1">
                <a:solidFill>
                  <a:srgbClr val="7F8C8D"/>
                </a:solidFill>
              </a:rPr>
              <a:t>[Qiita]  </a:t>
            </a:r>
            <a:r>
              <a:rPr sz="1000" b="1">
                <a:solidFill>
                  <a:srgbClr val="CCDDEE"/>
                </a:solidFill>
              </a:rPr>
              <a:t>【Codexで学習ゲーム #1｜ひらがな編】ひらがなをまだ読めない甥っ子のために学習ゲームを作った</a:t>
            </a:r>
          </a:p>
        </p:txBody>
      </p:sp>
      <p:sp>
        <p:nvSpPr>
          <p:cNvPr id="11" name="TextBox 10"/>
          <p:cNvSpPr txBox="1"/>
          <p:nvPr/>
        </p:nvSpPr>
        <p:spPr>
          <a:xfrm>
            <a:off x="640080" y="2123122"/>
            <a:ext cx="11155680" cy="214312"/>
          </a:xfrm>
          <a:prstGeom prst="rect">
            <a:avLst/>
          </a:prstGeom>
          <a:noFill/>
        </p:spPr>
        <p:txBody>
          <a:bodyPr wrap="none">
            <a:spAutoFit/>
          </a:bodyPr>
          <a:lstStyle/>
          <a:p>
            <a:r>
              <a:rPr sz="800">
                <a:solidFill>
                  <a:srgbClr val="5DADE8"/>
                </a:solidFill>
                <a:hlinkClick r:id="rId4"/>
              </a:rPr>
              <a:t>https://qiita.com/moharamo/items/407c057bb315d59da8af</a:t>
            </a:r>
          </a:p>
        </p:txBody>
      </p:sp>
      <p:sp>
        <p:nvSpPr>
          <p:cNvPr id="12" name="TextBox 11"/>
          <p:cNvSpPr txBox="1"/>
          <p:nvPr/>
        </p:nvSpPr>
        <p:spPr>
          <a:xfrm>
            <a:off x="365760" y="2337435"/>
            <a:ext cx="11430000" cy="214312"/>
          </a:xfrm>
          <a:prstGeom prst="rect">
            <a:avLst/>
          </a:prstGeom>
          <a:noFill/>
        </p:spPr>
        <p:txBody>
          <a:bodyPr wrap="none">
            <a:spAutoFit/>
          </a:bodyPr>
          <a:lstStyle/>
          <a:p>
            <a:r>
              <a:rPr sz="800" b="1">
                <a:solidFill>
                  <a:srgbClr val="7F8C8D"/>
                </a:solidFill>
              </a:rPr>
              <a:t>[Qiita]  </a:t>
            </a:r>
            <a:r>
              <a:rPr sz="1000" b="1">
                <a:solidFill>
                  <a:srgbClr val="CCDDEE"/>
                </a:solidFill>
              </a:rPr>
              <a:t>MLflow GUIで始めるプロンプト改善 #2：小説生成Promptを評価する</a:t>
            </a:r>
          </a:p>
        </p:txBody>
      </p:sp>
      <p:sp>
        <p:nvSpPr>
          <p:cNvPr id="13" name="TextBox 12"/>
          <p:cNvSpPr txBox="1"/>
          <p:nvPr/>
        </p:nvSpPr>
        <p:spPr>
          <a:xfrm>
            <a:off x="640080" y="2551747"/>
            <a:ext cx="11155680" cy="214312"/>
          </a:xfrm>
          <a:prstGeom prst="rect">
            <a:avLst/>
          </a:prstGeom>
          <a:noFill/>
        </p:spPr>
        <p:txBody>
          <a:bodyPr wrap="none">
            <a:spAutoFit/>
          </a:bodyPr>
          <a:lstStyle/>
          <a:p>
            <a:r>
              <a:rPr sz="800">
                <a:solidFill>
                  <a:srgbClr val="5DADE8"/>
                </a:solidFill>
                <a:hlinkClick r:id="rId5"/>
              </a:rPr>
              <a:t>https://qiita.com/kazuharu2022/items/9b6f2c5b00627ea64af9</a:t>
            </a:r>
          </a:p>
        </p:txBody>
      </p:sp>
      <p:sp>
        <p:nvSpPr>
          <p:cNvPr id="14" name="TextBox 13"/>
          <p:cNvSpPr txBox="1"/>
          <p:nvPr/>
        </p:nvSpPr>
        <p:spPr>
          <a:xfrm>
            <a:off x="365760" y="2766060"/>
            <a:ext cx="11430000" cy="214312"/>
          </a:xfrm>
          <a:prstGeom prst="rect">
            <a:avLst/>
          </a:prstGeom>
          <a:noFill/>
        </p:spPr>
        <p:txBody>
          <a:bodyPr wrap="none">
            <a:spAutoFit/>
          </a:bodyPr>
          <a:lstStyle/>
          <a:p>
            <a:r>
              <a:rPr sz="800" b="1">
                <a:solidFill>
                  <a:srgbClr val="7F8C8D"/>
                </a:solidFill>
              </a:rPr>
              <a:t>[Qiita]  </a:t>
            </a:r>
            <a:r>
              <a:rPr sz="1000" b="1">
                <a:solidFill>
                  <a:srgbClr val="CCDDEE"/>
                </a:solidFill>
              </a:rPr>
              <a:t>自動生成パイプラインを無人で1本通して分かった3つの穴と直し方</a:t>
            </a:r>
          </a:p>
        </p:txBody>
      </p:sp>
      <p:sp>
        <p:nvSpPr>
          <p:cNvPr id="15" name="TextBox 14"/>
          <p:cNvSpPr txBox="1"/>
          <p:nvPr/>
        </p:nvSpPr>
        <p:spPr>
          <a:xfrm>
            <a:off x="640080" y="2980372"/>
            <a:ext cx="11155680" cy="214312"/>
          </a:xfrm>
          <a:prstGeom prst="rect">
            <a:avLst/>
          </a:prstGeom>
          <a:noFill/>
        </p:spPr>
        <p:txBody>
          <a:bodyPr wrap="none">
            <a:spAutoFit/>
          </a:bodyPr>
          <a:lstStyle/>
          <a:p>
            <a:r>
              <a:rPr sz="800">
                <a:solidFill>
                  <a:srgbClr val="5DADE8"/>
                </a:solidFill>
                <a:hlinkClick r:id="rId6"/>
              </a:rPr>
              <a:t>https://qiita.com/miyoki_labs/items/f5e1689bd41c87ff9855</a:t>
            </a:r>
          </a:p>
        </p:txBody>
      </p:sp>
      <p:sp>
        <p:nvSpPr>
          <p:cNvPr id="16" name="TextBox 15"/>
          <p:cNvSpPr txBox="1"/>
          <p:nvPr/>
        </p:nvSpPr>
        <p:spPr>
          <a:xfrm>
            <a:off x="365760" y="3194685"/>
            <a:ext cx="11430000" cy="214312"/>
          </a:xfrm>
          <a:prstGeom prst="rect">
            <a:avLst/>
          </a:prstGeom>
          <a:noFill/>
        </p:spPr>
        <p:txBody>
          <a:bodyPr wrap="none">
            <a:spAutoFit/>
          </a:bodyPr>
          <a:lstStyle/>
          <a:p>
            <a:r>
              <a:rPr sz="800" b="1">
                <a:solidFill>
                  <a:srgbClr val="7F8C8D"/>
                </a:solidFill>
              </a:rPr>
              <a:t>[Qiita]  </a:t>
            </a:r>
            <a:r>
              <a:rPr sz="1000" b="1">
                <a:solidFill>
                  <a:srgbClr val="CCDDEE"/>
                </a:solidFill>
              </a:rPr>
              <a:t>【お財布にやさしい💛】Cloud Run × GCSで作る「ほぼ月額完全0円」のサーバーレスCMS ＆ Gemini自動画像生成</a:t>
            </a:r>
          </a:p>
        </p:txBody>
      </p:sp>
      <p:sp>
        <p:nvSpPr>
          <p:cNvPr id="17" name="TextBox 16"/>
          <p:cNvSpPr txBox="1"/>
          <p:nvPr/>
        </p:nvSpPr>
        <p:spPr>
          <a:xfrm>
            <a:off x="640080" y="3408997"/>
            <a:ext cx="11155680" cy="214312"/>
          </a:xfrm>
          <a:prstGeom prst="rect">
            <a:avLst/>
          </a:prstGeom>
          <a:noFill/>
        </p:spPr>
        <p:txBody>
          <a:bodyPr wrap="none">
            <a:spAutoFit/>
          </a:bodyPr>
          <a:lstStyle/>
          <a:p>
            <a:r>
              <a:rPr sz="800">
                <a:solidFill>
                  <a:srgbClr val="5DADE8"/>
                </a:solidFill>
                <a:hlinkClick r:id="rId7"/>
              </a:rPr>
              <a:t>https://qiita.com/kuis/items/69f71d014be33d82cac4</a:t>
            </a:r>
          </a:p>
        </p:txBody>
      </p:sp>
      <p:sp>
        <p:nvSpPr>
          <p:cNvPr id="18" name="TextBox 17"/>
          <p:cNvSpPr txBox="1"/>
          <p:nvPr/>
        </p:nvSpPr>
        <p:spPr>
          <a:xfrm>
            <a:off x="365760" y="3623310"/>
            <a:ext cx="11430000" cy="214312"/>
          </a:xfrm>
          <a:prstGeom prst="rect">
            <a:avLst/>
          </a:prstGeom>
          <a:noFill/>
        </p:spPr>
        <p:txBody>
          <a:bodyPr wrap="none">
            <a:spAutoFit/>
          </a:bodyPr>
          <a:lstStyle/>
          <a:p>
            <a:r>
              <a:rPr sz="800" b="1">
                <a:solidFill>
                  <a:srgbClr val="7F8C8D"/>
                </a:solidFill>
              </a:rPr>
              <a:t>[Qiita]  </a:t>
            </a:r>
            <a:r>
              <a:rPr sz="1000" b="1">
                <a:solidFill>
                  <a:srgbClr val="CCDDEE"/>
                </a:solidFill>
              </a:rPr>
              <a:t>オープンウェイトの音楽生成AI MiniMax-Music3 を RunPod で動かして13曲作った（実測値まとめ）</a:t>
            </a:r>
          </a:p>
        </p:txBody>
      </p:sp>
      <p:sp>
        <p:nvSpPr>
          <p:cNvPr id="19" name="TextBox 18"/>
          <p:cNvSpPr txBox="1"/>
          <p:nvPr/>
        </p:nvSpPr>
        <p:spPr>
          <a:xfrm>
            <a:off x="640080" y="3837622"/>
            <a:ext cx="11155680" cy="214312"/>
          </a:xfrm>
          <a:prstGeom prst="rect">
            <a:avLst/>
          </a:prstGeom>
          <a:noFill/>
        </p:spPr>
        <p:txBody>
          <a:bodyPr wrap="none">
            <a:spAutoFit/>
          </a:bodyPr>
          <a:lstStyle/>
          <a:p>
            <a:r>
              <a:rPr sz="800">
                <a:solidFill>
                  <a:srgbClr val="5DADE8"/>
                </a:solidFill>
                <a:hlinkClick r:id="rId8"/>
              </a:rPr>
              <a:t>https://qiita.com/masafy/items/93f699c349d48b4f27b2</a:t>
            </a:r>
          </a:p>
        </p:txBody>
      </p:sp>
      <p:sp>
        <p:nvSpPr>
          <p:cNvPr id="20" name="TextBox 19"/>
          <p:cNvSpPr txBox="1"/>
          <p:nvPr/>
        </p:nvSpPr>
        <p:spPr>
          <a:xfrm>
            <a:off x="365760" y="4051935"/>
            <a:ext cx="11430000" cy="214312"/>
          </a:xfrm>
          <a:prstGeom prst="rect">
            <a:avLst/>
          </a:prstGeom>
          <a:noFill/>
        </p:spPr>
        <p:txBody>
          <a:bodyPr wrap="none">
            <a:spAutoFit/>
          </a:bodyPr>
          <a:lstStyle/>
          <a:p>
            <a:r>
              <a:rPr sz="800" b="1">
                <a:solidFill>
                  <a:srgbClr val="7F8C8D"/>
                </a:solidFill>
              </a:rPr>
              <a:t>[Qiita]  </a:t>
            </a:r>
            <a:r>
              <a:rPr sz="1000" b="1">
                <a:solidFill>
                  <a:srgbClr val="CCDDEE"/>
                </a:solidFill>
              </a:rPr>
              <a:t>AIモデルを感覚ではなくベンチマークでざっくり理解する</a:t>
            </a:r>
          </a:p>
        </p:txBody>
      </p:sp>
      <p:sp>
        <p:nvSpPr>
          <p:cNvPr id="21" name="TextBox 20"/>
          <p:cNvSpPr txBox="1"/>
          <p:nvPr/>
        </p:nvSpPr>
        <p:spPr>
          <a:xfrm>
            <a:off x="640080" y="4266247"/>
            <a:ext cx="11155680" cy="214312"/>
          </a:xfrm>
          <a:prstGeom prst="rect">
            <a:avLst/>
          </a:prstGeom>
          <a:noFill/>
        </p:spPr>
        <p:txBody>
          <a:bodyPr wrap="none">
            <a:spAutoFit/>
          </a:bodyPr>
          <a:lstStyle/>
          <a:p>
            <a:r>
              <a:rPr sz="800">
                <a:solidFill>
                  <a:srgbClr val="5DADE8"/>
                </a:solidFill>
                <a:hlinkClick r:id="rId9"/>
              </a:rPr>
              <a:t>https://qiita.com/kentawata/items/9d050dafe72f4d371b1f</a:t>
            </a:r>
          </a:p>
        </p:txBody>
      </p:sp>
      <p:sp>
        <p:nvSpPr>
          <p:cNvPr id="22" name="TextBox 21"/>
          <p:cNvSpPr txBox="1"/>
          <p:nvPr/>
        </p:nvSpPr>
        <p:spPr>
          <a:xfrm>
            <a:off x="365760" y="4480560"/>
            <a:ext cx="11430000" cy="214312"/>
          </a:xfrm>
          <a:prstGeom prst="rect">
            <a:avLst/>
          </a:prstGeom>
          <a:noFill/>
        </p:spPr>
        <p:txBody>
          <a:bodyPr wrap="none">
            <a:spAutoFit/>
          </a:bodyPr>
          <a:lstStyle/>
          <a:p>
            <a:r>
              <a:rPr sz="800" b="1">
                <a:solidFill>
                  <a:srgbClr val="7F8C8D"/>
                </a:solidFill>
              </a:rPr>
              <a:t>[Qiita]  </a:t>
            </a:r>
            <a:r>
              <a:rPr sz="1000" b="1">
                <a:solidFill>
                  <a:srgbClr val="CCDDEE"/>
                </a:solidFill>
              </a:rPr>
              <a:t>さくらの AI Engine で長い Web ページを要約する Chrome 拡張 web-digest を作った</a:t>
            </a:r>
          </a:p>
        </p:txBody>
      </p:sp>
      <p:sp>
        <p:nvSpPr>
          <p:cNvPr id="23" name="TextBox 22"/>
          <p:cNvSpPr txBox="1"/>
          <p:nvPr/>
        </p:nvSpPr>
        <p:spPr>
          <a:xfrm>
            <a:off x="640080" y="4694872"/>
            <a:ext cx="11155680" cy="214312"/>
          </a:xfrm>
          <a:prstGeom prst="rect">
            <a:avLst/>
          </a:prstGeom>
          <a:noFill/>
        </p:spPr>
        <p:txBody>
          <a:bodyPr wrap="none">
            <a:spAutoFit/>
          </a:bodyPr>
          <a:lstStyle/>
          <a:p>
            <a:r>
              <a:rPr sz="800">
                <a:solidFill>
                  <a:srgbClr val="5DADE8"/>
                </a:solidFill>
                <a:hlinkClick r:id="rId10"/>
              </a:rPr>
              <a:t>https://qiita.com/ynakayama/items/6b74c7012f665172520f</a:t>
            </a:r>
          </a:p>
        </p:txBody>
      </p:sp>
      <p:sp>
        <p:nvSpPr>
          <p:cNvPr id="24" name="TextBox 23"/>
          <p:cNvSpPr txBox="1"/>
          <p:nvPr/>
        </p:nvSpPr>
        <p:spPr>
          <a:xfrm>
            <a:off x="365760" y="4909185"/>
            <a:ext cx="11430000" cy="214312"/>
          </a:xfrm>
          <a:prstGeom prst="rect">
            <a:avLst/>
          </a:prstGeom>
          <a:noFill/>
        </p:spPr>
        <p:txBody>
          <a:bodyPr wrap="none">
            <a:spAutoFit/>
          </a:bodyPr>
          <a:lstStyle/>
          <a:p>
            <a:r>
              <a:rPr sz="800" b="1">
                <a:solidFill>
                  <a:srgbClr val="7F8C8D"/>
                </a:solidFill>
              </a:rPr>
              <a:t>[Qiita]  </a:t>
            </a:r>
            <a:r>
              <a:rPr sz="1000" b="1">
                <a:solidFill>
                  <a:srgbClr val="CCDDEE"/>
                </a:solidFill>
              </a:rPr>
              <a:t>ポートフォリオ作成日記＃１</a:t>
            </a:r>
          </a:p>
        </p:txBody>
      </p:sp>
      <p:sp>
        <p:nvSpPr>
          <p:cNvPr id="25" name="TextBox 24"/>
          <p:cNvSpPr txBox="1"/>
          <p:nvPr/>
        </p:nvSpPr>
        <p:spPr>
          <a:xfrm>
            <a:off x="640080" y="5123497"/>
            <a:ext cx="11155680" cy="214312"/>
          </a:xfrm>
          <a:prstGeom prst="rect">
            <a:avLst/>
          </a:prstGeom>
          <a:noFill/>
        </p:spPr>
        <p:txBody>
          <a:bodyPr wrap="none">
            <a:spAutoFit/>
          </a:bodyPr>
          <a:lstStyle/>
          <a:p>
            <a:r>
              <a:rPr sz="800">
                <a:solidFill>
                  <a:srgbClr val="5DADE8"/>
                </a:solidFill>
                <a:hlinkClick r:id="rId11"/>
              </a:rPr>
              <a:t>https://qiita.com/mushroom-it-engineer/items/c1ce0f6b34c00e272032</a:t>
            </a:r>
          </a:p>
        </p:txBody>
      </p:sp>
      <p:sp>
        <p:nvSpPr>
          <p:cNvPr id="26" name="TextBox 25"/>
          <p:cNvSpPr txBox="1"/>
          <p:nvPr/>
        </p:nvSpPr>
        <p:spPr>
          <a:xfrm>
            <a:off x="365760" y="5337810"/>
            <a:ext cx="11430000" cy="214312"/>
          </a:xfrm>
          <a:prstGeom prst="rect">
            <a:avLst/>
          </a:prstGeom>
          <a:noFill/>
        </p:spPr>
        <p:txBody>
          <a:bodyPr wrap="none">
            <a:spAutoFit/>
          </a:bodyPr>
          <a:lstStyle/>
          <a:p>
            <a:r>
              <a:rPr sz="800" b="1">
                <a:solidFill>
                  <a:srgbClr val="7F8C8D"/>
                </a:solidFill>
              </a:rPr>
              <a:t>[Qiita]  </a:t>
            </a:r>
            <a:r>
              <a:rPr sz="1000" b="1">
                <a:solidFill>
                  <a:srgbClr val="CCDDEE"/>
                </a:solidFill>
              </a:rPr>
              <a:t>生成AIへ貼る前に機密情報を仮名化・復元するWebツールを作った</a:t>
            </a:r>
          </a:p>
        </p:txBody>
      </p:sp>
      <p:sp>
        <p:nvSpPr>
          <p:cNvPr id="27" name="TextBox 26"/>
          <p:cNvSpPr txBox="1"/>
          <p:nvPr/>
        </p:nvSpPr>
        <p:spPr>
          <a:xfrm>
            <a:off x="640080" y="5552122"/>
            <a:ext cx="11155680" cy="214312"/>
          </a:xfrm>
          <a:prstGeom prst="rect">
            <a:avLst/>
          </a:prstGeom>
          <a:noFill/>
        </p:spPr>
        <p:txBody>
          <a:bodyPr wrap="none">
            <a:spAutoFit/>
          </a:bodyPr>
          <a:lstStyle/>
          <a:p>
            <a:r>
              <a:rPr sz="800">
                <a:solidFill>
                  <a:srgbClr val="5DADE8"/>
                </a:solidFill>
                <a:hlinkClick r:id="rId12"/>
              </a:rPr>
              <a:t>https://qiita.com/girigiri-se/items/09d91e0d3b7d9554e8dc</a:t>
            </a:r>
          </a:p>
        </p:txBody>
      </p:sp>
      <p:sp>
        <p:nvSpPr>
          <p:cNvPr id="28" name="TextBox 27"/>
          <p:cNvSpPr txBox="1"/>
          <p:nvPr/>
        </p:nvSpPr>
        <p:spPr>
          <a:xfrm>
            <a:off x="365760" y="5766435"/>
            <a:ext cx="11430000" cy="214312"/>
          </a:xfrm>
          <a:prstGeom prst="rect">
            <a:avLst/>
          </a:prstGeom>
          <a:noFill/>
        </p:spPr>
        <p:txBody>
          <a:bodyPr wrap="none">
            <a:spAutoFit/>
          </a:bodyPr>
          <a:lstStyle/>
          <a:p>
            <a:r>
              <a:rPr sz="800" b="1">
                <a:solidFill>
                  <a:srgbClr val="7F8C8D"/>
                </a:solidFill>
              </a:rPr>
              <a:t>[HackerNews]  </a:t>
            </a:r>
            <a:r>
              <a:rPr sz="1000" b="1">
                <a:solidFill>
                  <a:srgbClr val="CCDDEE"/>
                </a:solidFill>
              </a:rPr>
              <a:t>Show HN: ChatGPT and Claude export viewer that runs locally in the browser</a:t>
            </a:r>
          </a:p>
        </p:txBody>
      </p:sp>
      <p:sp>
        <p:nvSpPr>
          <p:cNvPr id="29" name="TextBox 28"/>
          <p:cNvSpPr txBox="1"/>
          <p:nvPr/>
        </p:nvSpPr>
        <p:spPr>
          <a:xfrm>
            <a:off x="640080" y="5980747"/>
            <a:ext cx="11155680" cy="214312"/>
          </a:xfrm>
          <a:prstGeom prst="rect">
            <a:avLst/>
          </a:prstGeom>
          <a:noFill/>
        </p:spPr>
        <p:txBody>
          <a:bodyPr wrap="none">
            <a:spAutoFit/>
          </a:bodyPr>
          <a:lstStyle/>
          <a:p>
            <a:r>
              <a:rPr sz="800">
                <a:solidFill>
                  <a:srgbClr val="5DADE8"/>
                </a:solidFill>
                <a:hlinkClick r:id="rId13"/>
              </a:rPr>
              <a:t>https://www.vinaa.ai/tools/ai-chat-history-browser/</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1A25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960120"/>
          </a:xfrm>
          <a:prstGeom prst="rect">
            <a:avLst/>
          </a:prstGeom>
          <a:solidFill>
            <a:srgbClr val="2C3C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64592" cy="960120"/>
          </a:xfrm>
          <a:prstGeom prst="rect">
            <a:avLst/>
          </a:prstGeom>
          <a:solidFill>
            <a:srgbClr val="7F8C8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118872"/>
            <a:ext cx="11430000" cy="749808"/>
          </a:xfrm>
          <a:prstGeom prst="rect">
            <a:avLst/>
          </a:prstGeom>
          <a:noFill/>
        </p:spPr>
        <p:txBody>
          <a:bodyPr wrap="square">
            <a:spAutoFit/>
          </a:bodyPr>
          <a:lstStyle/>
          <a:p>
            <a:pPr algn="l"/>
            <a:r>
              <a:rPr sz="2000" b="1">
                <a:solidFill>
                  <a:srgbClr val="FFFFFF"/>
                </a:solidFill>
              </a:rPr>
              <a:t>その他の記事　(2 / 9)</a:t>
            </a:r>
          </a:p>
        </p:txBody>
      </p:sp>
      <p:sp>
        <p:nvSpPr>
          <p:cNvPr id="6" name="TextBox 5"/>
          <p:cNvSpPr txBox="1"/>
          <p:nvPr/>
        </p:nvSpPr>
        <p:spPr>
          <a:xfrm>
            <a:off x="365760" y="1051560"/>
            <a:ext cx="11430000" cy="214312"/>
          </a:xfrm>
          <a:prstGeom prst="rect">
            <a:avLst/>
          </a:prstGeom>
          <a:noFill/>
        </p:spPr>
        <p:txBody>
          <a:bodyPr wrap="none">
            <a:spAutoFit/>
          </a:bodyPr>
          <a:lstStyle/>
          <a:p>
            <a:r>
              <a:rPr sz="800" b="1">
                <a:solidFill>
                  <a:srgbClr val="7F8C8D"/>
                </a:solidFill>
              </a:rPr>
              <a:t>[HackerNews]  </a:t>
            </a:r>
            <a:r>
              <a:rPr sz="1000" b="1">
                <a:solidFill>
                  <a:srgbClr val="CCDDEE"/>
                </a:solidFill>
              </a:rPr>
              <a:t>Anthropic's 'Watermark' Text Adulteration in Claude Is a Perversion of Writ…</a:t>
            </a:r>
          </a:p>
        </p:txBody>
      </p:sp>
      <p:sp>
        <p:nvSpPr>
          <p:cNvPr id="7" name="TextBox 6"/>
          <p:cNvSpPr txBox="1"/>
          <p:nvPr/>
        </p:nvSpPr>
        <p:spPr>
          <a:xfrm>
            <a:off x="640080" y="1265872"/>
            <a:ext cx="11155680" cy="214312"/>
          </a:xfrm>
          <a:prstGeom prst="rect">
            <a:avLst/>
          </a:prstGeom>
          <a:noFill/>
        </p:spPr>
        <p:txBody>
          <a:bodyPr wrap="none">
            <a:spAutoFit/>
          </a:bodyPr>
          <a:lstStyle/>
          <a:p>
            <a:r>
              <a:rPr sz="800">
                <a:solidFill>
                  <a:srgbClr val="5DADE8"/>
                </a:solidFill>
                <a:hlinkClick r:id="rId2"/>
              </a:rPr>
              <a:t>https://daringfireball.net/2026/08/anthropics_watermark_text_adulteration_in_cla…</a:t>
            </a:r>
          </a:p>
        </p:txBody>
      </p:sp>
      <p:sp>
        <p:nvSpPr>
          <p:cNvPr id="8" name="TextBox 7"/>
          <p:cNvSpPr txBox="1"/>
          <p:nvPr/>
        </p:nvSpPr>
        <p:spPr>
          <a:xfrm>
            <a:off x="365760" y="1480185"/>
            <a:ext cx="11430000" cy="214312"/>
          </a:xfrm>
          <a:prstGeom prst="rect">
            <a:avLst/>
          </a:prstGeom>
          <a:noFill/>
        </p:spPr>
        <p:txBody>
          <a:bodyPr wrap="none">
            <a:spAutoFit/>
          </a:bodyPr>
          <a:lstStyle/>
          <a:p>
            <a:r>
              <a:rPr sz="800" b="1">
                <a:solidFill>
                  <a:srgbClr val="7F8C8D"/>
                </a:solidFill>
              </a:rPr>
              <a:t>[Qiita]  </a:t>
            </a:r>
            <a:r>
              <a:rPr sz="1000" b="1">
                <a:solidFill>
                  <a:srgbClr val="CCDDEE"/>
                </a:solidFill>
              </a:rPr>
              <a:t>その問題、本当に解くべき問題ですか？ ～GPT-Liveで鍛える論点思考～</a:t>
            </a:r>
          </a:p>
        </p:txBody>
      </p:sp>
      <p:sp>
        <p:nvSpPr>
          <p:cNvPr id="9" name="TextBox 8"/>
          <p:cNvSpPr txBox="1"/>
          <p:nvPr/>
        </p:nvSpPr>
        <p:spPr>
          <a:xfrm>
            <a:off x="640080" y="1694497"/>
            <a:ext cx="11155680" cy="214312"/>
          </a:xfrm>
          <a:prstGeom prst="rect">
            <a:avLst/>
          </a:prstGeom>
          <a:noFill/>
        </p:spPr>
        <p:txBody>
          <a:bodyPr wrap="none">
            <a:spAutoFit/>
          </a:bodyPr>
          <a:lstStyle/>
          <a:p>
            <a:r>
              <a:rPr sz="800">
                <a:solidFill>
                  <a:srgbClr val="5DADE8"/>
                </a:solidFill>
                <a:hlinkClick r:id="rId3"/>
              </a:rPr>
              <a:t>https://qiita.com/papi_tokei/items/1e15ecbe1e46acc10d05</a:t>
            </a:r>
          </a:p>
        </p:txBody>
      </p:sp>
      <p:sp>
        <p:nvSpPr>
          <p:cNvPr id="10" name="TextBox 9"/>
          <p:cNvSpPr txBox="1"/>
          <p:nvPr/>
        </p:nvSpPr>
        <p:spPr>
          <a:xfrm>
            <a:off x="365760" y="1908810"/>
            <a:ext cx="11430000" cy="214312"/>
          </a:xfrm>
          <a:prstGeom prst="rect">
            <a:avLst/>
          </a:prstGeom>
          <a:noFill/>
        </p:spPr>
        <p:txBody>
          <a:bodyPr wrap="none">
            <a:spAutoFit/>
          </a:bodyPr>
          <a:lstStyle/>
          <a:p>
            <a:r>
              <a:rPr sz="800" b="1">
                <a:solidFill>
                  <a:srgbClr val="7F8C8D"/>
                </a:solidFill>
              </a:rPr>
              <a:t>[Qiita]  </a:t>
            </a:r>
            <a:r>
              <a:rPr sz="1000" b="1">
                <a:solidFill>
                  <a:srgbClr val="CCDDEE"/>
                </a:solidFill>
              </a:rPr>
              <a:t>TTSで作った音声では「互角」だった。生の会議音声で測り直したら、前回の結論がひっくり返った話</a:t>
            </a:r>
          </a:p>
        </p:txBody>
      </p:sp>
      <p:sp>
        <p:nvSpPr>
          <p:cNvPr id="11" name="TextBox 10"/>
          <p:cNvSpPr txBox="1"/>
          <p:nvPr/>
        </p:nvSpPr>
        <p:spPr>
          <a:xfrm>
            <a:off x="640080" y="2123122"/>
            <a:ext cx="11155680" cy="214312"/>
          </a:xfrm>
          <a:prstGeom prst="rect">
            <a:avLst/>
          </a:prstGeom>
          <a:noFill/>
        </p:spPr>
        <p:txBody>
          <a:bodyPr wrap="none">
            <a:spAutoFit/>
          </a:bodyPr>
          <a:lstStyle/>
          <a:p>
            <a:r>
              <a:rPr sz="800">
                <a:solidFill>
                  <a:srgbClr val="5DADE8"/>
                </a:solidFill>
                <a:hlinkClick r:id="rId4"/>
              </a:rPr>
              <a:t>https://qiita.com/macchan_ai_dev/items/eb8c584aa9b10f81ccd8</a:t>
            </a:r>
          </a:p>
        </p:txBody>
      </p:sp>
      <p:sp>
        <p:nvSpPr>
          <p:cNvPr id="12" name="TextBox 11"/>
          <p:cNvSpPr txBox="1"/>
          <p:nvPr/>
        </p:nvSpPr>
        <p:spPr>
          <a:xfrm>
            <a:off x="365760" y="2337435"/>
            <a:ext cx="11430000" cy="214312"/>
          </a:xfrm>
          <a:prstGeom prst="rect">
            <a:avLst/>
          </a:prstGeom>
          <a:noFill/>
        </p:spPr>
        <p:txBody>
          <a:bodyPr wrap="none">
            <a:spAutoFit/>
          </a:bodyPr>
          <a:lstStyle/>
          <a:p>
            <a:r>
              <a:rPr sz="800" b="1">
                <a:solidFill>
                  <a:srgbClr val="7F8C8D"/>
                </a:solidFill>
              </a:rPr>
              <a:t>[Qiita]  </a:t>
            </a:r>
            <a:r>
              <a:rPr sz="1000" b="1">
                <a:solidFill>
                  <a:srgbClr val="CCDDEE"/>
                </a:solidFill>
              </a:rPr>
              <a:t>大人用です。「【誰も解けなかった算◯◯◯◯◯◯ク】難しい図形問題に必要な発想力を身につける授業」様を、計算はsympyで作図は手抜きのつもりでした。</a:t>
            </a:r>
          </a:p>
        </p:txBody>
      </p:sp>
      <p:sp>
        <p:nvSpPr>
          <p:cNvPr id="13" name="TextBox 12"/>
          <p:cNvSpPr txBox="1"/>
          <p:nvPr/>
        </p:nvSpPr>
        <p:spPr>
          <a:xfrm>
            <a:off x="640080" y="2551747"/>
            <a:ext cx="11155680" cy="214312"/>
          </a:xfrm>
          <a:prstGeom prst="rect">
            <a:avLst/>
          </a:prstGeom>
          <a:noFill/>
        </p:spPr>
        <p:txBody>
          <a:bodyPr wrap="none">
            <a:spAutoFit/>
          </a:bodyPr>
          <a:lstStyle/>
          <a:p>
            <a:r>
              <a:rPr sz="800">
                <a:solidFill>
                  <a:srgbClr val="5DADE8"/>
                </a:solidFill>
                <a:hlinkClick r:id="rId5"/>
              </a:rPr>
              <a:t>https://qiita.com/mrrclb48z/items/7f6c8bc6d69f63a20fb4</a:t>
            </a:r>
          </a:p>
        </p:txBody>
      </p:sp>
      <p:sp>
        <p:nvSpPr>
          <p:cNvPr id="14" name="TextBox 13"/>
          <p:cNvSpPr txBox="1"/>
          <p:nvPr/>
        </p:nvSpPr>
        <p:spPr>
          <a:xfrm>
            <a:off x="365760" y="2766060"/>
            <a:ext cx="11430000" cy="214312"/>
          </a:xfrm>
          <a:prstGeom prst="rect">
            <a:avLst/>
          </a:prstGeom>
          <a:noFill/>
        </p:spPr>
        <p:txBody>
          <a:bodyPr wrap="none">
            <a:spAutoFit/>
          </a:bodyPr>
          <a:lstStyle/>
          <a:p>
            <a:r>
              <a:rPr sz="800" b="1">
                <a:solidFill>
                  <a:srgbClr val="7F8C8D"/>
                </a:solidFill>
              </a:rPr>
              <a:t>[Qiita]  </a:t>
            </a:r>
            <a:r>
              <a:rPr sz="1000" b="1">
                <a:solidFill>
                  <a:srgbClr val="CCDDEE"/>
                </a:solidFill>
              </a:rPr>
              <a:t>GeminiちゃんにiPhoine Appをつくってもらった</a:t>
            </a:r>
          </a:p>
        </p:txBody>
      </p:sp>
      <p:sp>
        <p:nvSpPr>
          <p:cNvPr id="15" name="TextBox 14"/>
          <p:cNvSpPr txBox="1"/>
          <p:nvPr/>
        </p:nvSpPr>
        <p:spPr>
          <a:xfrm>
            <a:off x="640080" y="2980372"/>
            <a:ext cx="11155680" cy="214312"/>
          </a:xfrm>
          <a:prstGeom prst="rect">
            <a:avLst/>
          </a:prstGeom>
          <a:noFill/>
        </p:spPr>
        <p:txBody>
          <a:bodyPr wrap="none">
            <a:spAutoFit/>
          </a:bodyPr>
          <a:lstStyle/>
          <a:p>
            <a:r>
              <a:rPr sz="800">
                <a:solidFill>
                  <a:srgbClr val="5DADE8"/>
                </a:solidFill>
                <a:hlinkClick r:id="rId6"/>
              </a:rPr>
              <a:t>https://qiita.com/hase-k0x01/items/1980764fe9c694b6fd77</a:t>
            </a:r>
          </a:p>
        </p:txBody>
      </p:sp>
      <p:sp>
        <p:nvSpPr>
          <p:cNvPr id="16" name="TextBox 15"/>
          <p:cNvSpPr txBox="1"/>
          <p:nvPr/>
        </p:nvSpPr>
        <p:spPr>
          <a:xfrm>
            <a:off x="365760" y="3194685"/>
            <a:ext cx="11430000" cy="214312"/>
          </a:xfrm>
          <a:prstGeom prst="rect">
            <a:avLst/>
          </a:prstGeom>
          <a:noFill/>
        </p:spPr>
        <p:txBody>
          <a:bodyPr wrap="none">
            <a:spAutoFit/>
          </a:bodyPr>
          <a:lstStyle/>
          <a:p>
            <a:r>
              <a:rPr sz="800" b="1">
                <a:solidFill>
                  <a:srgbClr val="7F8C8D"/>
                </a:solidFill>
              </a:rPr>
              <a:t>[Qiita]  </a:t>
            </a:r>
            <a:r>
              <a:rPr sz="1000" b="1">
                <a:solidFill>
                  <a:srgbClr val="CCDDEE"/>
                </a:solidFill>
              </a:rPr>
              <a:t>「忖度なしで指摘して」と頼んでも、AIは一般論を当てはめた指摘ばかりを返してくる。一般論＝客観的とは限らない</a:t>
            </a:r>
          </a:p>
        </p:txBody>
      </p:sp>
      <p:sp>
        <p:nvSpPr>
          <p:cNvPr id="17" name="TextBox 16"/>
          <p:cNvSpPr txBox="1"/>
          <p:nvPr/>
        </p:nvSpPr>
        <p:spPr>
          <a:xfrm>
            <a:off x="640080" y="3408997"/>
            <a:ext cx="11155680" cy="214312"/>
          </a:xfrm>
          <a:prstGeom prst="rect">
            <a:avLst/>
          </a:prstGeom>
          <a:noFill/>
        </p:spPr>
        <p:txBody>
          <a:bodyPr wrap="none">
            <a:spAutoFit/>
          </a:bodyPr>
          <a:lstStyle/>
          <a:p>
            <a:r>
              <a:rPr sz="800">
                <a:solidFill>
                  <a:srgbClr val="5DADE8"/>
                </a:solidFill>
                <a:hlinkClick r:id="rId7"/>
              </a:rPr>
              <a:t>https://qiita.com/777atsushi/items/e14e46b3cc7e48422a80</a:t>
            </a:r>
          </a:p>
        </p:txBody>
      </p:sp>
      <p:sp>
        <p:nvSpPr>
          <p:cNvPr id="18" name="TextBox 17"/>
          <p:cNvSpPr txBox="1"/>
          <p:nvPr/>
        </p:nvSpPr>
        <p:spPr>
          <a:xfrm>
            <a:off x="365760" y="3623310"/>
            <a:ext cx="11430000" cy="214312"/>
          </a:xfrm>
          <a:prstGeom prst="rect">
            <a:avLst/>
          </a:prstGeom>
          <a:noFill/>
        </p:spPr>
        <p:txBody>
          <a:bodyPr wrap="none">
            <a:spAutoFit/>
          </a:bodyPr>
          <a:lstStyle/>
          <a:p>
            <a:r>
              <a:rPr sz="800" b="1">
                <a:solidFill>
                  <a:srgbClr val="7F8C8D"/>
                </a:solidFill>
              </a:rPr>
              <a:t>[Qiita]  </a:t>
            </a:r>
            <a:r>
              <a:rPr sz="1000" b="1">
                <a:solidFill>
                  <a:srgbClr val="CCDDEE"/>
                </a:solidFill>
              </a:rPr>
              <a:t>テストコードで性格が出る？ ChatGPT・Claude・Gemini三者三様（3部作の1作目）</a:t>
            </a:r>
          </a:p>
        </p:txBody>
      </p:sp>
      <p:sp>
        <p:nvSpPr>
          <p:cNvPr id="19" name="TextBox 18"/>
          <p:cNvSpPr txBox="1"/>
          <p:nvPr/>
        </p:nvSpPr>
        <p:spPr>
          <a:xfrm>
            <a:off x="640080" y="3837622"/>
            <a:ext cx="11155680" cy="214312"/>
          </a:xfrm>
          <a:prstGeom prst="rect">
            <a:avLst/>
          </a:prstGeom>
          <a:noFill/>
        </p:spPr>
        <p:txBody>
          <a:bodyPr wrap="none">
            <a:spAutoFit/>
          </a:bodyPr>
          <a:lstStyle/>
          <a:p>
            <a:r>
              <a:rPr sz="800">
                <a:solidFill>
                  <a:srgbClr val="5DADE8"/>
                </a:solidFill>
                <a:hlinkClick r:id="rId8"/>
              </a:rPr>
              <a:t>https://qiita.com/0903osa/items/053eb1bcbca9ad1b5b55</a:t>
            </a:r>
          </a:p>
        </p:txBody>
      </p:sp>
      <p:sp>
        <p:nvSpPr>
          <p:cNvPr id="20" name="TextBox 19"/>
          <p:cNvSpPr txBox="1"/>
          <p:nvPr/>
        </p:nvSpPr>
        <p:spPr>
          <a:xfrm>
            <a:off x="365760" y="4051935"/>
            <a:ext cx="11430000" cy="214312"/>
          </a:xfrm>
          <a:prstGeom prst="rect">
            <a:avLst/>
          </a:prstGeom>
          <a:noFill/>
        </p:spPr>
        <p:txBody>
          <a:bodyPr wrap="none">
            <a:spAutoFit/>
          </a:bodyPr>
          <a:lstStyle/>
          <a:p>
            <a:r>
              <a:rPr sz="800" b="1">
                <a:solidFill>
                  <a:srgbClr val="7F8C8D"/>
                </a:solidFill>
              </a:rPr>
              <a:t>[Qiita]  </a:t>
            </a:r>
            <a:r>
              <a:rPr sz="1000" b="1">
                <a:solidFill>
                  <a:srgbClr val="CCDDEE"/>
                </a:solidFill>
              </a:rPr>
              <a:t>AIに「正解より良い訳」を選ばせる</a:t>
            </a:r>
          </a:p>
        </p:txBody>
      </p:sp>
      <p:sp>
        <p:nvSpPr>
          <p:cNvPr id="21" name="TextBox 20"/>
          <p:cNvSpPr txBox="1"/>
          <p:nvPr/>
        </p:nvSpPr>
        <p:spPr>
          <a:xfrm>
            <a:off x="640080" y="4266247"/>
            <a:ext cx="11155680" cy="214312"/>
          </a:xfrm>
          <a:prstGeom prst="rect">
            <a:avLst/>
          </a:prstGeom>
          <a:noFill/>
        </p:spPr>
        <p:txBody>
          <a:bodyPr wrap="none">
            <a:spAutoFit/>
          </a:bodyPr>
          <a:lstStyle/>
          <a:p>
            <a:r>
              <a:rPr sz="800">
                <a:solidFill>
                  <a:srgbClr val="5DADE8"/>
                </a:solidFill>
                <a:hlinkClick r:id="rId9"/>
              </a:rPr>
              <a:t>https://qiita.com/lyr/items/dac4ab97548c31da0245</a:t>
            </a:r>
          </a:p>
        </p:txBody>
      </p:sp>
      <p:sp>
        <p:nvSpPr>
          <p:cNvPr id="22" name="TextBox 21"/>
          <p:cNvSpPr txBox="1"/>
          <p:nvPr/>
        </p:nvSpPr>
        <p:spPr>
          <a:xfrm>
            <a:off x="365760" y="4480560"/>
            <a:ext cx="11430000" cy="214312"/>
          </a:xfrm>
          <a:prstGeom prst="rect">
            <a:avLst/>
          </a:prstGeom>
          <a:noFill/>
        </p:spPr>
        <p:txBody>
          <a:bodyPr wrap="none">
            <a:spAutoFit/>
          </a:bodyPr>
          <a:lstStyle/>
          <a:p>
            <a:r>
              <a:rPr sz="800" b="1">
                <a:solidFill>
                  <a:srgbClr val="7F8C8D"/>
                </a:solidFill>
              </a:rPr>
              <a:t>[Qiita]  </a:t>
            </a:r>
            <a:r>
              <a:rPr sz="1000" b="1">
                <a:solidFill>
                  <a:srgbClr val="CCDDEE"/>
                </a:solidFill>
              </a:rPr>
              <a:t>AI君の書いたコードを読んでみた。（動画自動生成編）</a:t>
            </a:r>
          </a:p>
        </p:txBody>
      </p:sp>
      <p:sp>
        <p:nvSpPr>
          <p:cNvPr id="23" name="TextBox 22"/>
          <p:cNvSpPr txBox="1"/>
          <p:nvPr/>
        </p:nvSpPr>
        <p:spPr>
          <a:xfrm>
            <a:off x="640080" y="4694872"/>
            <a:ext cx="11155680" cy="214312"/>
          </a:xfrm>
          <a:prstGeom prst="rect">
            <a:avLst/>
          </a:prstGeom>
          <a:noFill/>
        </p:spPr>
        <p:txBody>
          <a:bodyPr wrap="none">
            <a:spAutoFit/>
          </a:bodyPr>
          <a:lstStyle/>
          <a:p>
            <a:r>
              <a:rPr sz="800">
                <a:solidFill>
                  <a:srgbClr val="5DADE8"/>
                </a:solidFill>
                <a:hlinkClick r:id="rId10"/>
              </a:rPr>
              <a:t>https://qiita.com/inonedimention/items/7ab5799cece4743f82b2</a:t>
            </a:r>
          </a:p>
        </p:txBody>
      </p:sp>
      <p:sp>
        <p:nvSpPr>
          <p:cNvPr id="24" name="TextBox 23"/>
          <p:cNvSpPr txBox="1"/>
          <p:nvPr/>
        </p:nvSpPr>
        <p:spPr>
          <a:xfrm>
            <a:off x="365760" y="4909185"/>
            <a:ext cx="11430000" cy="214312"/>
          </a:xfrm>
          <a:prstGeom prst="rect">
            <a:avLst/>
          </a:prstGeom>
          <a:noFill/>
        </p:spPr>
        <p:txBody>
          <a:bodyPr wrap="none">
            <a:spAutoFit/>
          </a:bodyPr>
          <a:lstStyle/>
          <a:p>
            <a:r>
              <a:rPr sz="800" b="1">
                <a:solidFill>
                  <a:srgbClr val="7F8C8D"/>
                </a:solidFill>
              </a:rPr>
              <a:t>[Qiita]  </a:t>
            </a:r>
            <a:r>
              <a:rPr sz="1000" b="1">
                <a:solidFill>
                  <a:srgbClr val="CCDDEE"/>
                </a:solidFill>
              </a:rPr>
              <a:t>スワヒリ語を0%→30%に。だが価値は点数でなく、失敗の中身が変わったこと</a:t>
            </a:r>
          </a:p>
        </p:txBody>
      </p:sp>
      <p:sp>
        <p:nvSpPr>
          <p:cNvPr id="25" name="TextBox 24"/>
          <p:cNvSpPr txBox="1"/>
          <p:nvPr/>
        </p:nvSpPr>
        <p:spPr>
          <a:xfrm>
            <a:off x="640080" y="5123497"/>
            <a:ext cx="11155680" cy="214312"/>
          </a:xfrm>
          <a:prstGeom prst="rect">
            <a:avLst/>
          </a:prstGeom>
          <a:noFill/>
        </p:spPr>
        <p:txBody>
          <a:bodyPr wrap="none">
            <a:spAutoFit/>
          </a:bodyPr>
          <a:lstStyle/>
          <a:p>
            <a:r>
              <a:rPr sz="800">
                <a:solidFill>
                  <a:srgbClr val="5DADE8"/>
                </a:solidFill>
                <a:hlinkClick r:id="rId11"/>
              </a:rPr>
              <a:t>https://qiita.com/lyr/items/febeabe6315263b07d1c</a:t>
            </a:r>
          </a:p>
        </p:txBody>
      </p:sp>
      <p:sp>
        <p:nvSpPr>
          <p:cNvPr id="26" name="TextBox 25"/>
          <p:cNvSpPr txBox="1"/>
          <p:nvPr/>
        </p:nvSpPr>
        <p:spPr>
          <a:xfrm>
            <a:off x="365760" y="5337810"/>
            <a:ext cx="11430000" cy="214312"/>
          </a:xfrm>
          <a:prstGeom prst="rect">
            <a:avLst/>
          </a:prstGeom>
          <a:noFill/>
        </p:spPr>
        <p:txBody>
          <a:bodyPr wrap="none">
            <a:spAutoFit/>
          </a:bodyPr>
          <a:lstStyle/>
          <a:p>
            <a:r>
              <a:rPr sz="800" b="1">
                <a:solidFill>
                  <a:srgbClr val="7F8C8D"/>
                </a:solidFill>
              </a:rPr>
              <a:t>[Qiita]  </a:t>
            </a:r>
            <a:r>
              <a:rPr sz="1000" b="1">
                <a:solidFill>
                  <a:srgbClr val="CCDDEE"/>
                </a:solidFill>
              </a:rPr>
              <a:t>最下位率を64%→24%に下げ、最上位率の低下は12ptに抑えた</a:t>
            </a:r>
          </a:p>
        </p:txBody>
      </p:sp>
      <p:sp>
        <p:nvSpPr>
          <p:cNvPr id="27" name="TextBox 26"/>
          <p:cNvSpPr txBox="1"/>
          <p:nvPr/>
        </p:nvSpPr>
        <p:spPr>
          <a:xfrm>
            <a:off x="640080" y="5552122"/>
            <a:ext cx="11155680" cy="214312"/>
          </a:xfrm>
          <a:prstGeom prst="rect">
            <a:avLst/>
          </a:prstGeom>
          <a:noFill/>
        </p:spPr>
        <p:txBody>
          <a:bodyPr wrap="none">
            <a:spAutoFit/>
          </a:bodyPr>
          <a:lstStyle/>
          <a:p>
            <a:r>
              <a:rPr sz="800">
                <a:solidFill>
                  <a:srgbClr val="5DADE8"/>
                </a:solidFill>
                <a:hlinkClick r:id="rId12"/>
              </a:rPr>
              <a:t>https://qiita.com/lyr/items/d1d64f5411ddab4f7c53</a:t>
            </a:r>
          </a:p>
        </p:txBody>
      </p:sp>
      <p:sp>
        <p:nvSpPr>
          <p:cNvPr id="28" name="TextBox 27"/>
          <p:cNvSpPr txBox="1"/>
          <p:nvPr/>
        </p:nvSpPr>
        <p:spPr>
          <a:xfrm>
            <a:off x="365760" y="5766435"/>
            <a:ext cx="11430000" cy="214312"/>
          </a:xfrm>
          <a:prstGeom prst="rect">
            <a:avLst/>
          </a:prstGeom>
          <a:noFill/>
        </p:spPr>
        <p:txBody>
          <a:bodyPr wrap="none">
            <a:spAutoFit/>
          </a:bodyPr>
          <a:lstStyle/>
          <a:p>
            <a:r>
              <a:rPr sz="800" b="1">
                <a:solidFill>
                  <a:srgbClr val="7F8C8D"/>
                </a:solidFill>
              </a:rPr>
              <a:t>[Zenn]  </a:t>
            </a:r>
            <a:r>
              <a:rPr sz="1000" b="1">
                <a:solidFill>
                  <a:srgbClr val="CCDDEE"/>
                </a:solidFill>
              </a:rPr>
              <a:t>Codexを節約するAI開発のススメ ― ChatGPTを司令塔にGitHubとPCを動かす</a:t>
            </a:r>
          </a:p>
        </p:txBody>
      </p:sp>
      <p:sp>
        <p:nvSpPr>
          <p:cNvPr id="29" name="TextBox 28"/>
          <p:cNvSpPr txBox="1"/>
          <p:nvPr/>
        </p:nvSpPr>
        <p:spPr>
          <a:xfrm>
            <a:off x="640080" y="5980747"/>
            <a:ext cx="11155680" cy="214312"/>
          </a:xfrm>
          <a:prstGeom prst="rect">
            <a:avLst/>
          </a:prstGeom>
          <a:noFill/>
        </p:spPr>
        <p:txBody>
          <a:bodyPr wrap="none">
            <a:spAutoFit/>
          </a:bodyPr>
          <a:lstStyle/>
          <a:p>
            <a:r>
              <a:rPr sz="800">
                <a:solidFill>
                  <a:srgbClr val="5DADE8"/>
                </a:solidFill>
                <a:hlinkClick r:id="rId13"/>
              </a:rPr>
              <a:t>https://zenn.dev/shige111111324/articles/c27df84f5fff95</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1A25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960120"/>
          </a:xfrm>
          <a:prstGeom prst="rect">
            <a:avLst/>
          </a:prstGeom>
          <a:solidFill>
            <a:srgbClr val="2C3C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64592" cy="960120"/>
          </a:xfrm>
          <a:prstGeom prst="rect">
            <a:avLst/>
          </a:prstGeom>
          <a:solidFill>
            <a:srgbClr val="7F8C8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118872"/>
            <a:ext cx="11430000" cy="749808"/>
          </a:xfrm>
          <a:prstGeom prst="rect">
            <a:avLst/>
          </a:prstGeom>
          <a:noFill/>
        </p:spPr>
        <p:txBody>
          <a:bodyPr wrap="square">
            <a:spAutoFit/>
          </a:bodyPr>
          <a:lstStyle/>
          <a:p>
            <a:pPr algn="l"/>
            <a:r>
              <a:rPr sz="2000" b="1">
                <a:solidFill>
                  <a:srgbClr val="FFFFFF"/>
                </a:solidFill>
              </a:rPr>
              <a:t>その他の記事　(3 / 9)</a:t>
            </a:r>
          </a:p>
        </p:txBody>
      </p:sp>
      <p:sp>
        <p:nvSpPr>
          <p:cNvPr id="6" name="TextBox 5"/>
          <p:cNvSpPr txBox="1"/>
          <p:nvPr/>
        </p:nvSpPr>
        <p:spPr>
          <a:xfrm>
            <a:off x="365760" y="1051560"/>
            <a:ext cx="11430000" cy="214312"/>
          </a:xfrm>
          <a:prstGeom prst="rect">
            <a:avLst/>
          </a:prstGeom>
          <a:noFill/>
        </p:spPr>
        <p:txBody>
          <a:bodyPr wrap="none">
            <a:spAutoFit/>
          </a:bodyPr>
          <a:lstStyle/>
          <a:p>
            <a:r>
              <a:rPr sz="800" b="1">
                <a:solidFill>
                  <a:srgbClr val="7F8C8D"/>
                </a:solidFill>
              </a:rPr>
              <a:t>[Zenn]  </a:t>
            </a:r>
            <a:r>
              <a:rPr sz="1000" b="1">
                <a:solidFill>
                  <a:srgbClr val="CCDDEE"/>
                </a:solidFill>
              </a:rPr>
              <a:t>Qwen3.8-27BをRX6800 16GBで動かしてローカルモデルを比較してみた</a:t>
            </a:r>
          </a:p>
        </p:txBody>
      </p:sp>
      <p:sp>
        <p:nvSpPr>
          <p:cNvPr id="7" name="TextBox 6"/>
          <p:cNvSpPr txBox="1"/>
          <p:nvPr/>
        </p:nvSpPr>
        <p:spPr>
          <a:xfrm>
            <a:off x="640080" y="1265872"/>
            <a:ext cx="11155680" cy="214312"/>
          </a:xfrm>
          <a:prstGeom prst="rect">
            <a:avLst/>
          </a:prstGeom>
          <a:noFill/>
        </p:spPr>
        <p:txBody>
          <a:bodyPr wrap="none">
            <a:spAutoFit/>
          </a:bodyPr>
          <a:lstStyle/>
          <a:p>
            <a:r>
              <a:rPr sz="800">
                <a:solidFill>
                  <a:srgbClr val="5DADE8"/>
                </a:solidFill>
                <a:hlinkClick r:id="rId2"/>
              </a:rPr>
              <a:t>https://zenn.dev/omohikane/articles/qwen38-test-my-rx6800</a:t>
            </a:r>
          </a:p>
        </p:txBody>
      </p:sp>
      <p:sp>
        <p:nvSpPr>
          <p:cNvPr id="8" name="TextBox 7"/>
          <p:cNvSpPr txBox="1"/>
          <p:nvPr/>
        </p:nvSpPr>
        <p:spPr>
          <a:xfrm>
            <a:off x="365760" y="1480185"/>
            <a:ext cx="11430000" cy="214312"/>
          </a:xfrm>
          <a:prstGeom prst="rect">
            <a:avLst/>
          </a:prstGeom>
          <a:noFill/>
        </p:spPr>
        <p:txBody>
          <a:bodyPr wrap="none">
            <a:spAutoFit/>
          </a:bodyPr>
          <a:lstStyle/>
          <a:p>
            <a:r>
              <a:rPr sz="800" b="1">
                <a:solidFill>
                  <a:srgbClr val="7F8C8D"/>
                </a:solidFill>
              </a:rPr>
              <a:t>[Zenn]  </a:t>
            </a:r>
            <a:r>
              <a:rPr sz="1000" b="1">
                <a:solidFill>
                  <a:srgbClr val="CCDDEE"/>
                </a:solidFill>
              </a:rPr>
              <a:t>ValueSim：LLMで個人の価値観をシミュレーションする手法を整理する</a:t>
            </a:r>
          </a:p>
        </p:txBody>
      </p:sp>
      <p:sp>
        <p:nvSpPr>
          <p:cNvPr id="9" name="TextBox 8"/>
          <p:cNvSpPr txBox="1"/>
          <p:nvPr/>
        </p:nvSpPr>
        <p:spPr>
          <a:xfrm>
            <a:off x="640080" y="1694497"/>
            <a:ext cx="11155680" cy="214312"/>
          </a:xfrm>
          <a:prstGeom prst="rect">
            <a:avLst/>
          </a:prstGeom>
          <a:noFill/>
        </p:spPr>
        <p:txBody>
          <a:bodyPr wrap="none">
            <a:spAutoFit/>
          </a:bodyPr>
          <a:lstStyle/>
          <a:p>
            <a:r>
              <a:rPr sz="800">
                <a:solidFill>
                  <a:srgbClr val="5DADE8"/>
                </a:solidFill>
                <a:hlinkClick r:id="rId3"/>
              </a:rPr>
              <a:t>https://zenn.dev/shogo_h/articles/valuesim-llm-value-simulation</a:t>
            </a:r>
          </a:p>
        </p:txBody>
      </p:sp>
      <p:sp>
        <p:nvSpPr>
          <p:cNvPr id="10" name="TextBox 9"/>
          <p:cNvSpPr txBox="1"/>
          <p:nvPr/>
        </p:nvSpPr>
        <p:spPr>
          <a:xfrm>
            <a:off x="365760" y="1908810"/>
            <a:ext cx="11430000" cy="214312"/>
          </a:xfrm>
          <a:prstGeom prst="rect">
            <a:avLst/>
          </a:prstGeom>
          <a:noFill/>
        </p:spPr>
        <p:txBody>
          <a:bodyPr wrap="none">
            <a:spAutoFit/>
          </a:bodyPr>
          <a:lstStyle/>
          <a:p>
            <a:r>
              <a:rPr sz="800" b="1">
                <a:solidFill>
                  <a:srgbClr val="7F8C8D"/>
                </a:solidFill>
              </a:rPr>
              <a:t>[Zenn]  </a:t>
            </a:r>
            <a:r>
              <a:rPr sz="1000" b="1">
                <a:solidFill>
                  <a:srgbClr val="CCDDEE"/>
                </a:solidFill>
              </a:rPr>
              <a:t>動画生成AIの使い分け — アニメはVidu、リアルはKling</a:t>
            </a:r>
          </a:p>
        </p:txBody>
      </p:sp>
      <p:sp>
        <p:nvSpPr>
          <p:cNvPr id="11" name="TextBox 10"/>
          <p:cNvSpPr txBox="1"/>
          <p:nvPr/>
        </p:nvSpPr>
        <p:spPr>
          <a:xfrm>
            <a:off x="640080" y="2123122"/>
            <a:ext cx="11155680" cy="214312"/>
          </a:xfrm>
          <a:prstGeom prst="rect">
            <a:avLst/>
          </a:prstGeom>
          <a:noFill/>
        </p:spPr>
        <p:txBody>
          <a:bodyPr wrap="none">
            <a:spAutoFit/>
          </a:bodyPr>
          <a:lstStyle/>
          <a:p>
            <a:r>
              <a:rPr sz="800">
                <a:solidFill>
                  <a:srgbClr val="5DADE8"/>
                </a:solidFill>
                <a:hlinkClick r:id="rId4"/>
              </a:rPr>
              <a:t>https://zenn.dev/kiraki/articles/video-ai-comparison</a:t>
            </a:r>
          </a:p>
        </p:txBody>
      </p:sp>
      <p:sp>
        <p:nvSpPr>
          <p:cNvPr id="12" name="TextBox 11"/>
          <p:cNvSpPr txBox="1"/>
          <p:nvPr/>
        </p:nvSpPr>
        <p:spPr>
          <a:xfrm>
            <a:off x="365760" y="2337435"/>
            <a:ext cx="11430000" cy="214312"/>
          </a:xfrm>
          <a:prstGeom prst="rect">
            <a:avLst/>
          </a:prstGeom>
          <a:noFill/>
        </p:spPr>
        <p:txBody>
          <a:bodyPr wrap="none">
            <a:spAutoFit/>
          </a:bodyPr>
          <a:lstStyle/>
          <a:p>
            <a:r>
              <a:rPr sz="800" b="1">
                <a:solidFill>
                  <a:srgbClr val="7F8C8D"/>
                </a:solidFill>
              </a:rPr>
              <a:t>[Zenn]  </a:t>
            </a:r>
            <a:r>
              <a:rPr sz="1000" b="1">
                <a:solidFill>
                  <a:srgbClr val="CCDDEE"/>
                </a:solidFill>
              </a:rPr>
              <a:t>GPT-5.6が最大14倍速に、GLM-5.3はウェイト公開延期 週刊AIニュース(8/10-15)</a:t>
            </a:r>
          </a:p>
        </p:txBody>
      </p:sp>
      <p:sp>
        <p:nvSpPr>
          <p:cNvPr id="13" name="TextBox 12"/>
          <p:cNvSpPr txBox="1"/>
          <p:nvPr/>
        </p:nvSpPr>
        <p:spPr>
          <a:xfrm>
            <a:off x="640080" y="2551747"/>
            <a:ext cx="11155680" cy="214312"/>
          </a:xfrm>
          <a:prstGeom prst="rect">
            <a:avLst/>
          </a:prstGeom>
          <a:noFill/>
        </p:spPr>
        <p:txBody>
          <a:bodyPr wrap="none">
            <a:spAutoFit/>
          </a:bodyPr>
          <a:lstStyle/>
          <a:p>
            <a:r>
              <a:rPr sz="800">
                <a:solidFill>
                  <a:srgbClr val="5DADE8"/>
                </a:solidFill>
                <a:hlinkClick r:id="rId5"/>
              </a:rPr>
              <a:t>https://zenn.dev/ainewsdaily/articles/20260816_general_t1</a:t>
            </a:r>
          </a:p>
        </p:txBody>
      </p:sp>
      <p:sp>
        <p:nvSpPr>
          <p:cNvPr id="14" name="TextBox 13"/>
          <p:cNvSpPr txBox="1"/>
          <p:nvPr/>
        </p:nvSpPr>
        <p:spPr>
          <a:xfrm>
            <a:off x="365760" y="2766060"/>
            <a:ext cx="11430000" cy="214312"/>
          </a:xfrm>
          <a:prstGeom prst="rect">
            <a:avLst/>
          </a:prstGeom>
          <a:noFill/>
        </p:spPr>
        <p:txBody>
          <a:bodyPr wrap="none">
            <a:spAutoFit/>
          </a:bodyPr>
          <a:lstStyle/>
          <a:p>
            <a:r>
              <a:rPr sz="800" b="1">
                <a:solidFill>
                  <a:srgbClr val="7F8C8D"/>
                </a:solidFill>
              </a:rPr>
              <a:t>[HackerNews]  </a:t>
            </a:r>
            <a:r>
              <a:rPr sz="1000" b="1">
                <a:solidFill>
                  <a:srgbClr val="CCDDEE"/>
                </a:solidFill>
              </a:rPr>
              <a:t>Claude: System Prompts</a:t>
            </a:r>
          </a:p>
        </p:txBody>
      </p:sp>
      <p:sp>
        <p:nvSpPr>
          <p:cNvPr id="15" name="TextBox 14"/>
          <p:cNvSpPr txBox="1"/>
          <p:nvPr/>
        </p:nvSpPr>
        <p:spPr>
          <a:xfrm>
            <a:off x="640080" y="2980372"/>
            <a:ext cx="11155680" cy="214312"/>
          </a:xfrm>
          <a:prstGeom prst="rect">
            <a:avLst/>
          </a:prstGeom>
          <a:noFill/>
        </p:spPr>
        <p:txBody>
          <a:bodyPr wrap="none">
            <a:spAutoFit/>
          </a:bodyPr>
          <a:lstStyle/>
          <a:p>
            <a:r>
              <a:rPr sz="800">
                <a:solidFill>
                  <a:srgbClr val="5DADE8"/>
                </a:solidFill>
                <a:hlinkClick r:id="rId6"/>
              </a:rPr>
              <a:t>https://platform.claude.com/docs/en/release-notes/system-prompts</a:t>
            </a:r>
          </a:p>
        </p:txBody>
      </p:sp>
      <p:sp>
        <p:nvSpPr>
          <p:cNvPr id="16" name="TextBox 15"/>
          <p:cNvSpPr txBox="1"/>
          <p:nvPr/>
        </p:nvSpPr>
        <p:spPr>
          <a:xfrm>
            <a:off x="365760" y="3194685"/>
            <a:ext cx="11430000" cy="214312"/>
          </a:xfrm>
          <a:prstGeom prst="rect">
            <a:avLst/>
          </a:prstGeom>
          <a:noFill/>
        </p:spPr>
        <p:txBody>
          <a:bodyPr wrap="none">
            <a:spAutoFit/>
          </a:bodyPr>
          <a:lstStyle/>
          <a:p>
            <a:r>
              <a:rPr sz="800" b="1">
                <a:solidFill>
                  <a:srgbClr val="7F8C8D"/>
                </a:solidFill>
              </a:rPr>
              <a:t>[Zenn]  </a:t>
            </a:r>
            <a:r>
              <a:rPr sz="1000" b="1">
                <a:solidFill>
                  <a:srgbClr val="CCDDEE"/>
                </a:solidFill>
              </a:rPr>
              <a:t>待ち時間を予測してLLM推論を振り分ける、llm-dの予測レイテンシ・ルーティング</a:t>
            </a:r>
          </a:p>
        </p:txBody>
      </p:sp>
      <p:sp>
        <p:nvSpPr>
          <p:cNvPr id="17" name="TextBox 16"/>
          <p:cNvSpPr txBox="1"/>
          <p:nvPr/>
        </p:nvSpPr>
        <p:spPr>
          <a:xfrm>
            <a:off x="640080" y="3408997"/>
            <a:ext cx="11155680" cy="214312"/>
          </a:xfrm>
          <a:prstGeom prst="rect">
            <a:avLst/>
          </a:prstGeom>
          <a:noFill/>
        </p:spPr>
        <p:txBody>
          <a:bodyPr wrap="none">
            <a:spAutoFit/>
          </a:bodyPr>
          <a:lstStyle/>
          <a:p>
            <a:r>
              <a:rPr sz="800">
                <a:solidFill>
                  <a:srgbClr val="5DADE8"/>
                </a:solidFill>
                <a:hlinkClick r:id="rId7"/>
              </a:rPr>
              <a:t>https://zenn.dev/okssusucha/articles/20260709-llm-d-predicted-latency-scheduling</a:t>
            </a:r>
          </a:p>
        </p:txBody>
      </p:sp>
      <p:sp>
        <p:nvSpPr>
          <p:cNvPr id="18" name="TextBox 17"/>
          <p:cNvSpPr txBox="1"/>
          <p:nvPr/>
        </p:nvSpPr>
        <p:spPr>
          <a:xfrm>
            <a:off x="365760" y="3623310"/>
            <a:ext cx="11430000" cy="214312"/>
          </a:xfrm>
          <a:prstGeom prst="rect">
            <a:avLst/>
          </a:prstGeom>
          <a:noFill/>
        </p:spPr>
        <p:txBody>
          <a:bodyPr wrap="none">
            <a:spAutoFit/>
          </a:bodyPr>
          <a:lstStyle/>
          <a:p>
            <a:r>
              <a:rPr sz="800" b="1">
                <a:solidFill>
                  <a:srgbClr val="7F8C8D"/>
                </a:solidFill>
              </a:rPr>
              <a:t>[Zenn]  </a:t>
            </a:r>
            <a:r>
              <a:rPr sz="1000" b="1">
                <a:solidFill>
                  <a:srgbClr val="CCDDEE"/>
                </a:solidFill>
              </a:rPr>
              <a:t>LLM出力を承認してから実行するフローの状態遷移・期限切れ・Revertを3場面で比較する</a:t>
            </a:r>
          </a:p>
        </p:txBody>
      </p:sp>
      <p:sp>
        <p:nvSpPr>
          <p:cNvPr id="19" name="TextBox 18"/>
          <p:cNvSpPr txBox="1"/>
          <p:nvPr/>
        </p:nvSpPr>
        <p:spPr>
          <a:xfrm>
            <a:off x="640080" y="3837622"/>
            <a:ext cx="11155680" cy="214312"/>
          </a:xfrm>
          <a:prstGeom prst="rect">
            <a:avLst/>
          </a:prstGeom>
          <a:noFill/>
        </p:spPr>
        <p:txBody>
          <a:bodyPr wrap="none">
            <a:spAutoFit/>
          </a:bodyPr>
          <a:lstStyle/>
          <a:p>
            <a:r>
              <a:rPr sz="800">
                <a:solidFill>
                  <a:srgbClr val="5DADE8"/>
                </a:solidFill>
                <a:hlinkClick r:id="rId8"/>
              </a:rPr>
              <a:t>https://zenn.dev/nerisakana/articles/11017ca5cf7511</a:t>
            </a:r>
          </a:p>
        </p:txBody>
      </p:sp>
      <p:sp>
        <p:nvSpPr>
          <p:cNvPr id="20" name="TextBox 19"/>
          <p:cNvSpPr txBox="1"/>
          <p:nvPr/>
        </p:nvSpPr>
        <p:spPr>
          <a:xfrm>
            <a:off x="365760" y="4051935"/>
            <a:ext cx="11430000" cy="214312"/>
          </a:xfrm>
          <a:prstGeom prst="rect">
            <a:avLst/>
          </a:prstGeom>
          <a:noFill/>
        </p:spPr>
        <p:txBody>
          <a:bodyPr wrap="none">
            <a:spAutoFit/>
          </a:bodyPr>
          <a:lstStyle/>
          <a:p>
            <a:r>
              <a:rPr sz="800" b="1">
                <a:solidFill>
                  <a:srgbClr val="7F8C8D"/>
                </a:solidFill>
              </a:rPr>
              <a:t>[Zenn]  </a:t>
            </a:r>
            <a:r>
              <a:rPr sz="1000" b="1">
                <a:solidFill>
                  <a:srgbClr val="CCDDEE"/>
                </a:solidFill>
              </a:rPr>
              <a:t>ローカルLLMだけで「はんこ・レ点・和暦」入りの申込書を読むAI-OCRを作った</a:t>
            </a:r>
          </a:p>
        </p:txBody>
      </p:sp>
      <p:sp>
        <p:nvSpPr>
          <p:cNvPr id="21" name="TextBox 20"/>
          <p:cNvSpPr txBox="1"/>
          <p:nvPr/>
        </p:nvSpPr>
        <p:spPr>
          <a:xfrm>
            <a:off x="640080" y="4266247"/>
            <a:ext cx="11155680" cy="214312"/>
          </a:xfrm>
          <a:prstGeom prst="rect">
            <a:avLst/>
          </a:prstGeom>
          <a:noFill/>
        </p:spPr>
        <p:txBody>
          <a:bodyPr wrap="none">
            <a:spAutoFit/>
          </a:bodyPr>
          <a:lstStyle/>
          <a:p>
            <a:r>
              <a:rPr sz="800">
                <a:solidFill>
                  <a:srgbClr val="5DADE8"/>
                </a:solidFill>
                <a:hlinkClick r:id="rId9"/>
              </a:rPr>
              <a:t>https://zenn.dev/polargiver/articles/kamiscan-local-llm-ocr</a:t>
            </a:r>
          </a:p>
        </p:txBody>
      </p:sp>
      <p:sp>
        <p:nvSpPr>
          <p:cNvPr id="22" name="TextBox 21"/>
          <p:cNvSpPr txBox="1"/>
          <p:nvPr/>
        </p:nvSpPr>
        <p:spPr>
          <a:xfrm>
            <a:off x="365760" y="4480560"/>
            <a:ext cx="11430000" cy="214312"/>
          </a:xfrm>
          <a:prstGeom prst="rect">
            <a:avLst/>
          </a:prstGeom>
          <a:noFill/>
        </p:spPr>
        <p:txBody>
          <a:bodyPr wrap="none">
            <a:spAutoFit/>
          </a:bodyPr>
          <a:lstStyle/>
          <a:p>
            <a:r>
              <a:rPr sz="800" b="1">
                <a:solidFill>
                  <a:srgbClr val="7F8C8D"/>
                </a:solidFill>
              </a:rPr>
              <a:t>[Qiita]  </a:t>
            </a:r>
            <a:r>
              <a:rPr sz="1000" b="1">
                <a:solidFill>
                  <a:srgbClr val="CCDDEE"/>
                </a:solidFill>
              </a:rPr>
              <a:t>20年前に衝撃を受けたBrainGate 脳でPCカーソルを動かすBCIとAI時代</a:t>
            </a:r>
          </a:p>
        </p:txBody>
      </p:sp>
      <p:sp>
        <p:nvSpPr>
          <p:cNvPr id="23" name="TextBox 22"/>
          <p:cNvSpPr txBox="1"/>
          <p:nvPr/>
        </p:nvSpPr>
        <p:spPr>
          <a:xfrm>
            <a:off x="640080" y="4694872"/>
            <a:ext cx="11155680" cy="214312"/>
          </a:xfrm>
          <a:prstGeom prst="rect">
            <a:avLst/>
          </a:prstGeom>
          <a:noFill/>
        </p:spPr>
        <p:txBody>
          <a:bodyPr wrap="none">
            <a:spAutoFit/>
          </a:bodyPr>
          <a:lstStyle/>
          <a:p>
            <a:r>
              <a:rPr sz="800">
                <a:solidFill>
                  <a:srgbClr val="5DADE8"/>
                </a:solidFill>
                <a:hlinkClick r:id="rId10"/>
              </a:rPr>
              <a:t>https://qiita.com/s_horikoshi/items/22804dfa955e2ce46255</a:t>
            </a:r>
          </a:p>
        </p:txBody>
      </p:sp>
      <p:sp>
        <p:nvSpPr>
          <p:cNvPr id="24" name="TextBox 23"/>
          <p:cNvSpPr txBox="1"/>
          <p:nvPr/>
        </p:nvSpPr>
        <p:spPr>
          <a:xfrm>
            <a:off x="365760" y="4909185"/>
            <a:ext cx="11430000" cy="214312"/>
          </a:xfrm>
          <a:prstGeom prst="rect">
            <a:avLst/>
          </a:prstGeom>
          <a:noFill/>
        </p:spPr>
        <p:txBody>
          <a:bodyPr wrap="none">
            <a:spAutoFit/>
          </a:bodyPr>
          <a:lstStyle/>
          <a:p>
            <a:r>
              <a:rPr sz="800" b="1">
                <a:solidFill>
                  <a:srgbClr val="7F8C8D"/>
                </a:solidFill>
              </a:rPr>
              <a:t>[Zenn]  </a:t>
            </a:r>
            <a:r>
              <a:rPr sz="1000" b="1">
                <a:solidFill>
                  <a:srgbClr val="CCDDEE"/>
                </a:solidFill>
              </a:rPr>
              <a:t>AIコーディングブームの反動——Notebook LM要約</a:t>
            </a:r>
          </a:p>
        </p:txBody>
      </p:sp>
      <p:sp>
        <p:nvSpPr>
          <p:cNvPr id="25" name="TextBox 24"/>
          <p:cNvSpPr txBox="1"/>
          <p:nvPr/>
        </p:nvSpPr>
        <p:spPr>
          <a:xfrm>
            <a:off x="640080" y="5123497"/>
            <a:ext cx="11155680" cy="214312"/>
          </a:xfrm>
          <a:prstGeom prst="rect">
            <a:avLst/>
          </a:prstGeom>
          <a:noFill/>
        </p:spPr>
        <p:txBody>
          <a:bodyPr wrap="none">
            <a:spAutoFit/>
          </a:bodyPr>
          <a:lstStyle/>
          <a:p>
            <a:r>
              <a:rPr sz="800">
                <a:solidFill>
                  <a:srgbClr val="5DADE8"/>
                </a:solidFill>
                <a:hlinkClick r:id="rId11"/>
              </a:rPr>
              <a:t>https://zenn.dev/hai08320/articles/def4326c4cf293</a:t>
            </a:r>
          </a:p>
        </p:txBody>
      </p:sp>
      <p:sp>
        <p:nvSpPr>
          <p:cNvPr id="26" name="TextBox 25"/>
          <p:cNvSpPr txBox="1"/>
          <p:nvPr/>
        </p:nvSpPr>
        <p:spPr>
          <a:xfrm>
            <a:off x="365760" y="5337810"/>
            <a:ext cx="11430000" cy="214312"/>
          </a:xfrm>
          <a:prstGeom prst="rect">
            <a:avLst/>
          </a:prstGeom>
          <a:noFill/>
        </p:spPr>
        <p:txBody>
          <a:bodyPr wrap="none">
            <a:spAutoFit/>
          </a:bodyPr>
          <a:lstStyle/>
          <a:p>
            <a:r>
              <a:rPr sz="800" b="1">
                <a:solidFill>
                  <a:srgbClr val="7F8C8D"/>
                </a:solidFill>
              </a:rPr>
              <a:t>[Zenn]  </a:t>
            </a:r>
            <a:r>
              <a:rPr sz="1000" b="1">
                <a:solidFill>
                  <a:srgbClr val="CCDDEE"/>
                </a:solidFill>
              </a:rPr>
              <a:t>Google Colabで最新LLMを試す #9 ― Microsoft Fara1.5-4Bで「画面を見て次の操作を考える」</a:t>
            </a:r>
          </a:p>
        </p:txBody>
      </p:sp>
      <p:sp>
        <p:nvSpPr>
          <p:cNvPr id="27" name="TextBox 26"/>
          <p:cNvSpPr txBox="1"/>
          <p:nvPr/>
        </p:nvSpPr>
        <p:spPr>
          <a:xfrm>
            <a:off x="640080" y="5552122"/>
            <a:ext cx="11155680" cy="214312"/>
          </a:xfrm>
          <a:prstGeom prst="rect">
            <a:avLst/>
          </a:prstGeom>
          <a:noFill/>
        </p:spPr>
        <p:txBody>
          <a:bodyPr wrap="none">
            <a:spAutoFit/>
          </a:bodyPr>
          <a:lstStyle/>
          <a:p>
            <a:r>
              <a:rPr sz="800">
                <a:solidFill>
                  <a:srgbClr val="5DADE8"/>
                </a:solidFill>
                <a:hlinkClick r:id="rId12"/>
              </a:rPr>
              <a:t>https://zenn.dev/nakanishitf/articles/1fb37c945cf663</a:t>
            </a:r>
          </a:p>
        </p:txBody>
      </p:sp>
      <p:sp>
        <p:nvSpPr>
          <p:cNvPr id="28" name="TextBox 27"/>
          <p:cNvSpPr txBox="1"/>
          <p:nvPr/>
        </p:nvSpPr>
        <p:spPr>
          <a:xfrm>
            <a:off x="365760" y="5766435"/>
            <a:ext cx="11430000" cy="214312"/>
          </a:xfrm>
          <a:prstGeom prst="rect">
            <a:avLst/>
          </a:prstGeom>
          <a:noFill/>
        </p:spPr>
        <p:txBody>
          <a:bodyPr wrap="none">
            <a:spAutoFit/>
          </a:bodyPr>
          <a:lstStyle/>
          <a:p>
            <a:r>
              <a:rPr sz="800" b="1">
                <a:solidFill>
                  <a:srgbClr val="7F8C8D"/>
                </a:solidFill>
              </a:rPr>
              <a:t>[Qiita]  </a:t>
            </a:r>
            <a:r>
              <a:rPr sz="1000" b="1">
                <a:solidFill>
                  <a:srgbClr val="CCDDEE"/>
                </a:solidFill>
              </a:rPr>
              <a:t>MLflow GUIで始めるプロンプト改善 #1：なろう系小説の第一話を生成してトレースする</a:t>
            </a:r>
          </a:p>
        </p:txBody>
      </p:sp>
      <p:sp>
        <p:nvSpPr>
          <p:cNvPr id="29" name="TextBox 28"/>
          <p:cNvSpPr txBox="1"/>
          <p:nvPr/>
        </p:nvSpPr>
        <p:spPr>
          <a:xfrm>
            <a:off x="640080" y="5980747"/>
            <a:ext cx="11155680" cy="214312"/>
          </a:xfrm>
          <a:prstGeom prst="rect">
            <a:avLst/>
          </a:prstGeom>
          <a:noFill/>
        </p:spPr>
        <p:txBody>
          <a:bodyPr wrap="none">
            <a:spAutoFit/>
          </a:bodyPr>
          <a:lstStyle/>
          <a:p>
            <a:r>
              <a:rPr sz="800">
                <a:solidFill>
                  <a:srgbClr val="5DADE8"/>
                </a:solidFill>
                <a:hlinkClick r:id="rId13"/>
              </a:rPr>
              <a:t>https://qiita.com/kazuharu2022/items/ceb01f303fa8ac1acccd</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1A25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960120"/>
          </a:xfrm>
          <a:prstGeom prst="rect">
            <a:avLst/>
          </a:prstGeom>
          <a:solidFill>
            <a:srgbClr val="2C3C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64592" cy="960120"/>
          </a:xfrm>
          <a:prstGeom prst="rect">
            <a:avLst/>
          </a:prstGeom>
          <a:solidFill>
            <a:srgbClr val="7F8C8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118872"/>
            <a:ext cx="11430000" cy="749808"/>
          </a:xfrm>
          <a:prstGeom prst="rect">
            <a:avLst/>
          </a:prstGeom>
          <a:noFill/>
        </p:spPr>
        <p:txBody>
          <a:bodyPr wrap="square">
            <a:spAutoFit/>
          </a:bodyPr>
          <a:lstStyle/>
          <a:p>
            <a:pPr algn="l"/>
            <a:r>
              <a:rPr sz="2000" b="1">
                <a:solidFill>
                  <a:srgbClr val="FFFFFF"/>
                </a:solidFill>
              </a:rPr>
              <a:t>その他の記事　(4 / 9)</a:t>
            </a:r>
          </a:p>
        </p:txBody>
      </p:sp>
      <p:sp>
        <p:nvSpPr>
          <p:cNvPr id="6" name="TextBox 5"/>
          <p:cNvSpPr txBox="1"/>
          <p:nvPr/>
        </p:nvSpPr>
        <p:spPr>
          <a:xfrm>
            <a:off x="365760" y="1051560"/>
            <a:ext cx="11430000" cy="214312"/>
          </a:xfrm>
          <a:prstGeom prst="rect">
            <a:avLst/>
          </a:prstGeom>
          <a:noFill/>
        </p:spPr>
        <p:txBody>
          <a:bodyPr wrap="none">
            <a:spAutoFit/>
          </a:bodyPr>
          <a:lstStyle/>
          <a:p>
            <a:r>
              <a:rPr sz="800" b="1">
                <a:solidFill>
                  <a:srgbClr val="7F8C8D"/>
                </a:solidFill>
              </a:rPr>
              <a:t>[Zenn]  </a:t>
            </a:r>
            <a:r>
              <a:rPr sz="1000" b="1">
                <a:solidFill>
                  <a:srgbClr val="CCDDEE"/>
                </a:solidFill>
              </a:rPr>
              <a:t>AI自動投稿の「誤公開・事故」を防ぐ！GitHub Actions × Zennの2リポジトリ安全運用術</a:t>
            </a:r>
          </a:p>
        </p:txBody>
      </p:sp>
      <p:sp>
        <p:nvSpPr>
          <p:cNvPr id="7" name="TextBox 6"/>
          <p:cNvSpPr txBox="1"/>
          <p:nvPr/>
        </p:nvSpPr>
        <p:spPr>
          <a:xfrm>
            <a:off x="640080" y="1265872"/>
            <a:ext cx="11155680" cy="214312"/>
          </a:xfrm>
          <a:prstGeom prst="rect">
            <a:avLst/>
          </a:prstGeom>
          <a:noFill/>
        </p:spPr>
        <p:txBody>
          <a:bodyPr wrap="none">
            <a:spAutoFit/>
          </a:bodyPr>
          <a:lstStyle/>
          <a:p>
            <a:r>
              <a:rPr sz="800">
                <a:solidFill>
                  <a:srgbClr val="5DADE8"/>
                </a:solidFill>
                <a:hlinkClick r:id="rId2"/>
              </a:rPr>
              <a:t>https://zenn.dev/yusamore/articles/zenn-2026-08-16-safe-publish</a:t>
            </a:r>
          </a:p>
        </p:txBody>
      </p:sp>
      <p:sp>
        <p:nvSpPr>
          <p:cNvPr id="8" name="TextBox 7"/>
          <p:cNvSpPr txBox="1"/>
          <p:nvPr/>
        </p:nvSpPr>
        <p:spPr>
          <a:xfrm>
            <a:off x="365760" y="1480185"/>
            <a:ext cx="11430000" cy="214312"/>
          </a:xfrm>
          <a:prstGeom prst="rect">
            <a:avLst/>
          </a:prstGeom>
          <a:noFill/>
        </p:spPr>
        <p:txBody>
          <a:bodyPr wrap="none">
            <a:spAutoFit/>
          </a:bodyPr>
          <a:lstStyle/>
          <a:p>
            <a:r>
              <a:rPr sz="800" b="1">
                <a:solidFill>
                  <a:srgbClr val="7F8C8D"/>
                </a:solidFill>
              </a:rPr>
              <a:t>[Zenn]  </a:t>
            </a:r>
            <a:r>
              <a:rPr sz="1000" b="1">
                <a:solidFill>
                  <a:srgbClr val="CCDDEE"/>
                </a:solidFill>
              </a:rPr>
              <a:t>スクレイピングは壊れる前提で設計する ― 他人のHTMLに依存する機能の立て直し</a:t>
            </a:r>
          </a:p>
        </p:txBody>
      </p:sp>
      <p:sp>
        <p:nvSpPr>
          <p:cNvPr id="9" name="TextBox 8"/>
          <p:cNvSpPr txBox="1"/>
          <p:nvPr/>
        </p:nvSpPr>
        <p:spPr>
          <a:xfrm>
            <a:off x="640080" y="1694497"/>
            <a:ext cx="11155680" cy="214312"/>
          </a:xfrm>
          <a:prstGeom prst="rect">
            <a:avLst/>
          </a:prstGeom>
          <a:noFill/>
        </p:spPr>
        <p:txBody>
          <a:bodyPr wrap="none">
            <a:spAutoFit/>
          </a:bodyPr>
          <a:lstStyle/>
          <a:p>
            <a:r>
              <a:rPr sz="800">
                <a:solidFill>
                  <a:srgbClr val="5DADE8"/>
                </a:solidFill>
                <a:hlinkClick r:id="rId3"/>
              </a:rPr>
              <a:t>https://zenn.dev/tanishi_z/articles/11-jin-local-model-selection-ux-design</a:t>
            </a:r>
          </a:p>
        </p:txBody>
      </p:sp>
      <p:sp>
        <p:nvSpPr>
          <p:cNvPr id="10" name="TextBox 9"/>
          <p:cNvSpPr txBox="1"/>
          <p:nvPr/>
        </p:nvSpPr>
        <p:spPr>
          <a:xfrm>
            <a:off x="365760" y="1908810"/>
            <a:ext cx="11430000" cy="214312"/>
          </a:xfrm>
          <a:prstGeom prst="rect">
            <a:avLst/>
          </a:prstGeom>
          <a:noFill/>
        </p:spPr>
        <p:txBody>
          <a:bodyPr wrap="none">
            <a:spAutoFit/>
          </a:bodyPr>
          <a:lstStyle/>
          <a:p>
            <a:r>
              <a:rPr sz="800" b="1">
                <a:solidFill>
                  <a:srgbClr val="7F8C8D"/>
                </a:solidFill>
              </a:rPr>
              <a:t>[Zenn]  </a:t>
            </a:r>
            <a:r>
              <a:rPr sz="1000" b="1">
                <a:solidFill>
                  <a:srgbClr val="CCDDEE"/>
                </a:solidFill>
              </a:rPr>
              <a:t>寝ている間にPCを動かすAIと、「諦めないで」で難問を解いたAIのお話（2026年8月AIトレンド3選）</a:t>
            </a:r>
          </a:p>
        </p:txBody>
      </p:sp>
      <p:sp>
        <p:nvSpPr>
          <p:cNvPr id="11" name="TextBox 10"/>
          <p:cNvSpPr txBox="1"/>
          <p:nvPr/>
        </p:nvSpPr>
        <p:spPr>
          <a:xfrm>
            <a:off x="640080" y="2123122"/>
            <a:ext cx="11155680" cy="214312"/>
          </a:xfrm>
          <a:prstGeom prst="rect">
            <a:avLst/>
          </a:prstGeom>
          <a:noFill/>
        </p:spPr>
        <p:txBody>
          <a:bodyPr wrap="none">
            <a:spAutoFit/>
          </a:bodyPr>
          <a:lstStyle/>
          <a:p>
            <a:r>
              <a:rPr sz="800">
                <a:solidFill>
                  <a:srgbClr val="5DADE8"/>
                </a:solidFill>
                <a:hlinkClick r:id="rId4"/>
              </a:rPr>
              <a:t>https://zenn.dev/yusamore/articles/zenn-2026-08-16-ai-agent-frontier-3-news</a:t>
            </a:r>
          </a:p>
        </p:txBody>
      </p:sp>
      <p:sp>
        <p:nvSpPr>
          <p:cNvPr id="12" name="TextBox 11"/>
          <p:cNvSpPr txBox="1"/>
          <p:nvPr/>
        </p:nvSpPr>
        <p:spPr>
          <a:xfrm>
            <a:off x="365760" y="2337435"/>
            <a:ext cx="11430000" cy="214312"/>
          </a:xfrm>
          <a:prstGeom prst="rect">
            <a:avLst/>
          </a:prstGeom>
          <a:noFill/>
        </p:spPr>
        <p:txBody>
          <a:bodyPr wrap="none">
            <a:spAutoFit/>
          </a:bodyPr>
          <a:lstStyle/>
          <a:p>
            <a:r>
              <a:rPr sz="800" b="1">
                <a:solidFill>
                  <a:srgbClr val="7F8C8D"/>
                </a:solidFill>
              </a:rPr>
              <a:t>[Zenn]  </a:t>
            </a:r>
            <a:r>
              <a:rPr sz="1000" b="1">
                <a:solidFill>
                  <a:srgbClr val="CCDDEE"/>
                </a:solidFill>
              </a:rPr>
              <a:t>MacBook Air M5 RAM32GBで実用的なローカルLLMを探す 生成速度測定編</a:t>
            </a:r>
          </a:p>
        </p:txBody>
      </p:sp>
      <p:sp>
        <p:nvSpPr>
          <p:cNvPr id="13" name="TextBox 12"/>
          <p:cNvSpPr txBox="1"/>
          <p:nvPr/>
        </p:nvSpPr>
        <p:spPr>
          <a:xfrm>
            <a:off x="640080" y="2551747"/>
            <a:ext cx="11155680" cy="214312"/>
          </a:xfrm>
          <a:prstGeom prst="rect">
            <a:avLst/>
          </a:prstGeom>
          <a:noFill/>
        </p:spPr>
        <p:txBody>
          <a:bodyPr wrap="none">
            <a:spAutoFit/>
          </a:bodyPr>
          <a:lstStyle/>
          <a:p>
            <a:r>
              <a:rPr sz="800">
                <a:solidFill>
                  <a:srgbClr val="5DADE8"/>
                </a:solidFill>
                <a:hlinkClick r:id="rId5"/>
              </a:rPr>
              <a:t>https://zenn.dev/koki_n22/articles/493f85b9f875ca</a:t>
            </a:r>
          </a:p>
        </p:txBody>
      </p:sp>
      <p:sp>
        <p:nvSpPr>
          <p:cNvPr id="14" name="TextBox 13"/>
          <p:cNvSpPr txBox="1"/>
          <p:nvPr/>
        </p:nvSpPr>
        <p:spPr>
          <a:xfrm>
            <a:off x="365760" y="2766060"/>
            <a:ext cx="11430000" cy="214312"/>
          </a:xfrm>
          <a:prstGeom prst="rect">
            <a:avLst/>
          </a:prstGeom>
          <a:noFill/>
        </p:spPr>
        <p:txBody>
          <a:bodyPr wrap="none">
            <a:spAutoFit/>
          </a:bodyPr>
          <a:lstStyle/>
          <a:p>
            <a:r>
              <a:rPr sz="800" b="1">
                <a:solidFill>
                  <a:srgbClr val="7F8C8D"/>
                </a:solidFill>
              </a:rPr>
              <a:t>[Zenn]  </a:t>
            </a:r>
            <a:r>
              <a:rPr sz="1000" b="1">
                <a:solidFill>
                  <a:srgbClr val="CCDDEE"/>
                </a:solidFill>
              </a:rPr>
              <a:t>SynthIDとは何か</a:t>
            </a:r>
          </a:p>
        </p:txBody>
      </p:sp>
      <p:sp>
        <p:nvSpPr>
          <p:cNvPr id="15" name="TextBox 14"/>
          <p:cNvSpPr txBox="1"/>
          <p:nvPr/>
        </p:nvSpPr>
        <p:spPr>
          <a:xfrm>
            <a:off x="640080" y="2980372"/>
            <a:ext cx="11155680" cy="214312"/>
          </a:xfrm>
          <a:prstGeom prst="rect">
            <a:avLst/>
          </a:prstGeom>
          <a:noFill/>
        </p:spPr>
        <p:txBody>
          <a:bodyPr wrap="none">
            <a:spAutoFit/>
          </a:bodyPr>
          <a:lstStyle/>
          <a:p>
            <a:r>
              <a:rPr sz="800">
                <a:solidFill>
                  <a:srgbClr val="5DADE8"/>
                </a:solidFill>
                <a:hlinkClick r:id="rId6"/>
              </a:rPr>
              <a:t>https://zenn.dev/todesking/articles/d23fd40b319388</a:t>
            </a:r>
          </a:p>
        </p:txBody>
      </p:sp>
      <p:sp>
        <p:nvSpPr>
          <p:cNvPr id="16" name="TextBox 15"/>
          <p:cNvSpPr txBox="1"/>
          <p:nvPr/>
        </p:nvSpPr>
        <p:spPr>
          <a:xfrm>
            <a:off x="365760" y="3194685"/>
            <a:ext cx="11430000" cy="214312"/>
          </a:xfrm>
          <a:prstGeom prst="rect">
            <a:avLst/>
          </a:prstGeom>
          <a:noFill/>
        </p:spPr>
        <p:txBody>
          <a:bodyPr wrap="none">
            <a:spAutoFit/>
          </a:bodyPr>
          <a:lstStyle/>
          <a:p>
            <a:r>
              <a:rPr sz="800" b="1">
                <a:solidFill>
                  <a:srgbClr val="7F8C8D"/>
                </a:solidFill>
              </a:rPr>
              <a:t>[Zenn]  </a:t>
            </a:r>
            <a:r>
              <a:rPr sz="1000" b="1">
                <a:solidFill>
                  <a:srgbClr val="CCDDEE"/>
                </a:solidFill>
              </a:rPr>
              <a:t>Claudeの「見えない透かし」はどこに入る？ ―  SynthID-TextのSamplingを理解する</a:t>
            </a:r>
          </a:p>
        </p:txBody>
      </p:sp>
      <p:sp>
        <p:nvSpPr>
          <p:cNvPr id="17" name="TextBox 16"/>
          <p:cNvSpPr txBox="1"/>
          <p:nvPr/>
        </p:nvSpPr>
        <p:spPr>
          <a:xfrm>
            <a:off x="640080" y="3408997"/>
            <a:ext cx="11155680" cy="214312"/>
          </a:xfrm>
          <a:prstGeom prst="rect">
            <a:avLst/>
          </a:prstGeom>
          <a:noFill/>
        </p:spPr>
        <p:txBody>
          <a:bodyPr wrap="none">
            <a:spAutoFit/>
          </a:bodyPr>
          <a:lstStyle/>
          <a:p>
            <a:r>
              <a:rPr sz="800">
                <a:solidFill>
                  <a:srgbClr val="5DADE8"/>
                </a:solidFill>
                <a:hlinkClick r:id="rId7"/>
              </a:rPr>
              <a:t>https://zenn.dev/50s_zerotohero/articles/e5198b07a3c9f0</a:t>
            </a:r>
          </a:p>
        </p:txBody>
      </p:sp>
      <p:sp>
        <p:nvSpPr>
          <p:cNvPr id="18" name="TextBox 17"/>
          <p:cNvSpPr txBox="1"/>
          <p:nvPr/>
        </p:nvSpPr>
        <p:spPr>
          <a:xfrm>
            <a:off x="365760" y="3623310"/>
            <a:ext cx="11430000" cy="214312"/>
          </a:xfrm>
          <a:prstGeom prst="rect">
            <a:avLst/>
          </a:prstGeom>
          <a:noFill/>
        </p:spPr>
        <p:txBody>
          <a:bodyPr wrap="none">
            <a:spAutoFit/>
          </a:bodyPr>
          <a:lstStyle/>
          <a:p>
            <a:r>
              <a:rPr sz="800" b="1">
                <a:solidFill>
                  <a:srgbClr val="7F8C8D"/>
                </a:solidFill>
              </a:rPr>
              <a:t>[Zenn]  </a:t>
            </a:r>
            <a:r>
              <a:rPr sz="1000" b="1">
                <a:solidFill>
                  <a:srgbClr val="CCDDEE"/>
                </a:solidFill>
              </a:rPr>
              <a:t>Microsoft 365 Apps for business の Excel で ChatGPT アドインを使う</a:t>
            </a:r>
          </a:p>
        </p:txBody>
      </p:sp>
      <p:sp>
        <p:nvSpPr>
          <p:cNvPr id="19" name="TextBox 18"/>
          <p:cNvSpPr txBox="1"/>
          <p:nvPr/>
        </p:nvSpPr>
        <p:spPr>
          <a:xfrm>
            <a:off x="640080" y="3837622"/>
            <a:ext cx="11155680" cy="214312"/>
          </a:xfrm>
          <a:prstGeom prst="rect">
            <a:avLst/>
          </a:prstGeom>
          <a:noFill/>
        </p:spPr>
        <p:txBody>
          <a:bodyPr wrap="none">
            <a:spAutoFit/>
          </a:bodyPr>
          <a:lstStyle/>
          <a:p>
            <a:r>
              <a:rPr sz="800">
                <a:solidFill>
                  <a:srgbClr val="5DADE8"/>
                </a:solidFill>
                <a:hlinkClick r:id="rId8"/>
              </a:rPr>
              <a:t>https://zenn.dev/nishimo/articles/m365-apps-excel-chatgpt-addin</a:t>
            </a:r>
          </a:p>
        </p:txBody>
      </p:sp>
      <p:sp>
        <p:nvSpPr>
          <p:cNvPr id="20" name="TextBox 19"/>
          <p:cNvSpPr txBox="1"/>
          <p:nvPr/>
        </p:nvSpPr>
        <p:spPr>
          <a:xfrm>
            <a:off x="365760" y="4051935"/>
            <a:ext cx="11430000" cy="214312"/>
          </a:xfrm>
          <a:prstGeom prst="rect">
            <a:avLst/>
          </a:prstGeom>
          <a:noFill/>
        </p:spPr>
        <p:txBody>
          <a:bodyPr wrap="none">
            <a:spAutoFit/>
          </a:bodyPr>
          <a:lstStyle/>
          <a:p>
            <a:r>
              <a:rPr sz="800" b="1">
                <a:solidFill>
                  <a:srgbClr val="7F8C8D"/>
                </a:solidFill>
              </a:rPr>
              <a:t>[Qiita]  </a:t>
            </a:r>
            <a:r>
              <a:rPr sz="1000" b="1">
                <a:solidFill>
                  <a:srgbClr val="CCDDEE"/>
                </a:solidFill>
              </a:rPr>
              <a:t>Midnight AI Groove 26-08-12</a:t>
            </a:r>
          </a:p>
        </p:txBody>
      </p:sp>
      <p:sp>
        <p:nvSpPr>
          <p:cNvPr id="21" name="TextBox 20"/>
          <p:cNvSpPr txBox="1"/>
          <p:nvPr/>
        </p:nvSpPr>
        <p:spPr>
          <a:xfrm>
            <a:off x="640080" y="4266247"/>
            <a:ext cx="11155680" cy="214312"/>
          </a:xfrm>
          <a:prstGeom prst="rect">
            <a:avLst/>
          </a:prstGeom>
          <a:noFill/>
        </p:spPr>
        <p:txBody>
          <a:bodyPr wrap="none">
            <a:spAutoFit/>
          </a:bodyPr>
          <a:lstStyle/>
          <a:p>
            <a:r>
              <a:rPr sz="800">
                <a:solidFill>
                  <a:srgbClr val="5DADE8"/>
                </a:solidFill>
                <a:hlinkClick r:id="rId9"/>
              </a:rPr>
              <a:t>https://qiita.com/masykot582/items/50842233a34211a81b4c</a:t>
            </a:r>
          </a:p>
        </p:txBody>
      </p:sp>
      <p:sp>
        <p:nvSpPr>
          <p:cNvPr id="22" name="TextBox 21"/>
          <p:cNvSpPr txBox="1"/>
          <p:nvPr/>
        </p:nvSpPr>
        <p:spPr>
          <a:xfrm>
            <a:off x="365760" y="4480560"/>
            <a:ext cx="11430000" cy="214312"/>
          </a:xfrm>
          <a:prstGeom prst="rect">
            <a:avLst/>
          </a:prstGeom>
          <a:noFill/>
        </p:spPr>
        <p:txBody>
          <a:bodyPr wrap="none">
            <a:spAutoFit/>
          </a:bodyPr>
          <a:lstStyle/>
          <a:p>
            <a:r>
              <a:rPr sz="800" b="1">
                <a:solidFill>
                  <a:srgbClr val="7F8C8D"/>
                </a:solidFill>
              </a:rPr>
              <a:t>[Qiita]  </a:t>
            </a:r>
            <a:r>
              <a:rPr sz="1000" b="1">
                <a:solidFill>
                  <a:srgbClr val="CCDDEE"/>
                </a:solidFill>
              </a:rPr>
              <a:t>Claudeが自分のコードの80%を書く時代 — それは『AIの再帰的自己改善』の入り口なのか</a:t>
            </a:r>
          </a:p>
        </p:txBody>
      </p:sp>
      <p:sp>
        <p:nvSpPr>
          <p:cNvPr id="23" name="TextBox 22"/>
          <p:cNvSpPr txBox="1"/>
          <p:nvPr/>
        </p:nvSpPr>
        <p:spPr>
          <a:xfrm>
            <a:off x="640080" y="4694872"/>
            <a:ext cx="11155680" cy="214312"/>
          </a:xfrm>
          <a:prstGeom prst="rect">
            <a:avLst/>
          </a:prstGeom>
          <a:noFill/>
        </p:spPr>
        <p:txBody>
          <a:bodyPr wrap="none">
            <a:spAutoFit/>
          </a:bodyPr>
          <a:lstStyle/>
          <a:p>
            <a:r>
              <a:rPr sz="800">
                <a:solidFill>
                  <a:srgbClr val="5DADE8"/>
                </a:solidFill>
                <a:hlinkClick r:id="rId10"/>
              </a:rPr>
              <a:t>https://qiita.com/kinamocchi_tech/items/9246f34a3577db6485ff</a:t>
            </a:r>
          </a:p>
        </p:txBody>
      </p:sp>
      <p:sp>
        <p:nvSpPr>
          <p:cNvPr id="24" name="TextBox 23"/>
          <p:cNvSpPr txBox="1"/>
          <p:nvPr/>
        </p:nvSpPr>
        <p:spPr>
          <a:xfrm>
            <a:off x="365760" y="4909185"/>
            <a:ext cx="11430000" cy="214312"/>
          </a:xfrm>
          <a:prstGeom prst="rect">
            <a:avLst/>
          </a:prstGeom>
          <a:noFill/>
        </p:spPr>
        <p:txBody>
          <a:bodyPr wrap="none">
            <a:spAutoFit/>
          </a:bodyPr>
          <a:lstStyle/>
          <a:p>
            <a:r>
              <a:rPr sz="800" b="1">
                <a:solidFill>
                  <a:srgbClr val="7F8C8D"/>
                </a:solidFill>
              </a:rPr>
              <a:t>[Zenn]  </a:t>
            </a:r>
            <a:r>
              <a:rPr sz="1000" b="1">
                <a:solidFill>
                  <a:srgbClr val="CCDDEE"/>
                </a:solidFill>
              </a:rPr>
              <a:t>TabPFN v2.5 vs GBDT：表データの主役は入れ替わったのか</a:t>
            </a:r>
          </a:p>
        </p:txBody>
      </p:sp>
      <p:sp>
        <p:nvSpPr>
          <p:cNvPr id="25" name="TextBox 24"/>
          <p:cNvSpPr txBox="1"/>
          <p:nvPr/>
        </p:nvSpPr>
        <p:spPr>
          <a:xfrm>
            <a:off x="640080" y="5123497"/>
            <a:ext cx="11155680" cy="214312"/>
          </a:xfrm>
          <a:prstGeom prst="rect">
            <a:avLst/>
          </a:prstGeom>
          <a:noFill/>
        </p:spPr>
        <p:txBody>
          <a:bodyPr wrap="none">
            <a:spAutoFit/>
          </a:bodyPr>
          <a:lstStyle/>
          <a:p>
            <a:r>
              <a:rPr sz="800">
                <a:solidFill>
                  <a:srgbClr val="5DADE8"/>
                </a:solidFill>
                <a:hlinkClick r:id="rId11"/>
              </a:rPr>
              <a:t>https://zenn.dev/libercraft/articles/20260816-tabpfn-v2-5-vs-gbdt</a:t>
            </a:r>
          </a:p>
        </p:txBody>
      </p:sp>
      <p:sp>
        <p:nvSpPr>
          <p:cNvPr id="26" name="TextBox 25"/>
          <p:cNvSpPr txBox="1"/>
          <p:nvPr/>
        </p:nvSpPr>
        <p:spPr>
          <a:xfrm>
            <a:off x="365760" y="5337810"/>
            <a:ext cx="11430000" cy="214312"/>
          </a:xfrm>
          <a:prstGeom prst="rect">
            <a:avLst/>
          </a:prstGeom>
          <a:noFill/>
        </p:spPr>
        <p:txBody>
          <a:bodyPr wrap="none">
            <a:spAutoFit/>
          </a:bodyPr>
          <a:lstStyle/>
          <a:p>
            <a:r>
              <a:rPr sz="800" b="1">
                <a:solidFill>
                  <a:srgbClr val="7F8C8D"/>
                </a:solidFill>
              </a:rPr>
              <a:t>[Qiita]  </a:t>
            </a:r>
            <a:r>
              <a:rPr sz="1000" b="1">
                <a:solidFill>
                  <a:srgbClr val="CCDDEE"/>
                </a:solidFill>
              </a:rPr>
              <a:t>Google Calendar → Google Sheets → NotebookLM：Apps Scriptで予定を定期同期してAIに読ませる</a:t>
            </a:r>
          </a:p>
        </p:txBody>
      </p:sp>
      <p:sp>
        <p:nvSpPr>
          <p:cNvPr id="27" name="TextBox 26"/>
          <p:cNvSpPr txBox="1"/>
          <p:nvPr/>
        </p:nvSpPr>
        <p:spPr>
          <a:xfrm>
            <a:off x="640080" y="5552122"/>
            <a:ext cx="11155680" cy="214312"/>
          </a:xfrm>
          <a:prstGeom prst="rect">
            <a:avLst/>
          </a:prstGeom>
          <a:noFill/>
        </p:spPr>
        <p:txBody>
          <a:bodyPr wrap="none">
            <a:spAutoFit/>
          </a:bodyPr>
          <a:lstStyle/>
          <a:p>
            <a:r>
              <a:rPr sz="800">
                <a:solidFill>
                  <a:srgbClr val="5DADE8"/>
                </a:solidFill>
                <a:hlinkClick r:id="rId12"/>
              </a:rPr>
              <a:t>https://qiita.com/maskot1977/items/896983eb88aff4efcd08</a:t>
            </a:r>
          </a:p>
        </p:txBody>
      </p:sp>
      <p:sp>
        <p:nvSpPr>
          <p:cNvPr id="28" name="TextBox 27"/>
          <p:cNvSpPr txBox="1"/>
          <p:nvPr/>
        </p:nvSpPr>
        <p:spPr>
          <a:xfrm>
            <a:off x="365760" y="5766435"/>
            <a:ext cx="11430000" cy="214312"/>
          </a:xfrm>
          <a:prstGeom prst="rect">
            <a:avLst/>
          </a:prstGeom>
          <a:noFill/>
        </p:spPr>
        <p:txBody>
          <a:bodyPr wrap="none">
            <a:spAutoFit/>
          </a:bodyPr>
          <a:lstStyle/>
          <a:p>
            <a:r>
              <a:rPr sz="800" b="1">
                <a:solidFill>
                  <a:srgbClr val="7F8C8D"/>
                </a:solidFill>
              </a:rPr>
              <a:t>[Qiita]  </a:t>
            </a:r>
            <a:r>
              <a:rPr sz="1000" b="1">
                <a:solidFill>
                  <a:srgbClr val="CCDDEE"/>
                </a:solidFill>
              </a:rPr>
              <a:t>【書評】 PythonによるAIプログラミング入門 ―ディープラーニングを始める前に身につけておくべき15の基礎技術</a:t>
            </a:r>
          </a:p>
        </p:txBody>
      </p:sp>
      <p:sp>
        <p:nvSpPr>
          <p:cNvPr id="29" name="TextBox 28"/>
          <p:cNvSpPr txBox="1"/>
          <p:nvPr/>
        </p:nvSpPr>
        <p:spPr>
          <a:xfrm>
            <a:off x="640080" y="5980747"/>
            <a:ext cx="11155680" cy="214312"/>
          </a:xfrm>
          <a:prstGeom prst="rect">
            <a:avLst/>
          </a:prstGeom>
          <a:noFill/>
        </p:spPr>
        <p:txBody>
          <a:bodyPr wrap="none">
            <a:spAutoFit/>
          </a:bodyPr>
          <a:lstStyle/>
          <a:p>
            <a:r>
              <a:rPr sz="800">
                <a:solidFill>
                  <a:srgbClr val="5DADE8"/>
                </a:solidFill>
                <a:hlinkClick r:id="rId13"/>
              </a:rPr>
              <a:t>https://qiita.com/io0323/items/13ed440ae2282311f49f</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1A25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960120"/>
          </a:xfrm>
          <a:prstGeom prst="rect">
            <a:avLst/>
          </a:prstGeom>
          <a:solidFill>
            <a:srgbClr val="2C3C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64592" cy="960120"/>
          </a:xfrm>
          <a:prstGeom prst="rect">
            <a:avLst/>
          </a:prstGeom>
          <a:solidFill>
            <a:srgbClr val="7F8C8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118872"/>
            <a:ext cx="11430000" cy="749808"/>
          </a:xfrm>
          <a:prstGeom prst="rect">
            <a:avLst/>
          </a:prstGeom>
          <a:noFill/>
        </p:spPr>
        <p:txBody>
          <a:bodyPr wrap="square">
            <a:spAutoFit/>
          </a:bodyPr>
          <a:lstStyle/>
          <a:p>
            <a:pPr algn="l"/>
            <a:r>
              <a:rPr sz="2000" b="1">
                <a:solidFill>
                  <a:srgbClr val="FFFFFF"/>
                </a:solidFill>
              </a:rPr>
              <a:t>その他の記事　(5 / 9)</a:t>
            </a:r>
          </a:p>
        </p:txBody>
      </p:sp>
      <p:sp>
        <p:nvSpPr>
          <p:cNvPr id="6" name="TextBox 5"/>
          <p:cNvSpPr txBox="1"/>
          <p:nvPr/>
        </p:nvSpPr>
        <p:spPr>
          <a:xfrm>
            <a:off x="365760" y="1051560"/>
            <a:ext cx="11430000" cy="214312"/>
          </a:xfrm>
          <a:prstGeom prst="rect">
            <a:avLst/>
          </a:prstGeom>
          <a:noFill/>
        </p:spPr>
        <p:txBody>
          <a:bodyPr wrap="none">
            <a:spAutoFit/>
          </a:bodyPr>
          <a:lstStyle/>
          <a:p>
            <a:r>
              <a:rPr sz="800" b="1">
                <a:solidFill>
                  <a:srgbClr val="7F8C8D"/>
                </a:solidFill>
              </a:rPr>
              <a:t>[Qiita]  </a:t>
            </a:r>
            <a:r>
              <a:rPr sz="1000" b="1">
                <a:solidFill>
                  <a:srgbClr val="CCDDEE"/>
                </a:solidFill>
              </a:rPr>
              <a:t>大人用です。中学受験2025年東海中「【2025年度最高のヒラメキ図形】これぞ図形の真骨頂！難関中学の問題で力試ししよう」様を、計算はsympyで作図…</a:t>
            </a:r>
          </a:p>
        </p:txBody>
      </p:sp>
      <p:sp>
        <p:nvSpPr>
          <p:cNvPr id="7" name="TextBox 6"/>
          <p:cNvSpPr txBox="1"/>
          <p:nvPr/>
        </p:nvSpPr>
        <p:spPr>
          <a:xfrm>
            <a:off x="640080" y="1265872"/>
            <a:ext cx="11155680" cy="214312"/>
          </a:xfrm>
          <a:prstGeom prst="rect">
            <a:avLst/>
          </a:prstGeom>
          <a:noFill/>
        </p:spPr>
        <p:txBody>
          <a:bodyPr wrap="none">
            <a:spAutoFit/>
          </a:bodyPr>
          <a:lstStyle/>
          <a:p>
            <a:r>
              <a:rPr sz="800">
                <a:solidFill>
                  <a:srgbClr val="5DADE8"/>
                </a:solidFill>
                <a:hlinkClick r:id="rId2"/>
              </a:rPr>
              <a:t>https://qiita.com/mrrclb48z/items/eb9d50fab4421249a927</a:t>
            </a:r>
          </a:p>
        </p:txBody>
      </p:sp>
      <p:sp>
        <p:nvSpPr>
          <p:cNvPr id="8" name="TextBox 7"/>
          <p:cNvSpPr txBox="1"/>
          <p:nvPr/>
        </p:nvSpPr>
        <p:spPr>
          <a:xfrm>
            <a:off x="365760" y="1480185"/>
            <a:ext cx="11430000" cy="214312"/>
          </a:xfrm>
          <a:prstGeom prst="rect">
            <a:avLst/>
          </a:prstGeom>
          <a:noFill/>
        </p:spPr>
        <p:txBody>
          <a:bodyPr wrap="none">
            <a:spAutoFit/>
          </a:bodyPr>
          <a:lstStyle/>
          <a:p>
            <a:r>
              <a:rPr sz="800" b="1">
                <a:solidFill>
                  <a:srgbClr val="7F8C8D"/>
                </a:solidFill>
              </a:rPr>
              <a:t>[Qiita]  </a:t>
            </a:r>
            <a:r>
              <a:rPr sz="1000" b="1">
                <a:solidFill>
                  <a:srgbClr val="CCDDEE"/>
                </a:solidFill>
              </a:rPr>
              <a:t>大人用です。半円に直角三角形「高校入試チャレンジ問題 赤い部分の面積は？」様を、計算はsympyで作図は手抜きのつもりでした。</a:t>
            </a:r>
          </a:p>
        </p:txBody>
      </p:sp>
      <p:sp>
        <p:nvSpPr>
          <p:cNvPr id="9" name="TextBox 8"/>
          <p:cNvSpPr txBox="1"/>
          <p:nvPr/>
        </p:nvSpPr>
        <p:spPr>
          <a:xfrm>
            <a:off x="640080" y="1694497"/>
            <a:ext cx="11155680" cy="214312"/>
          </a:xfrm>
          <a:prstGeom prst="rect">
            <a:avLst/>
          </a:prstGeom>
          <a:noFill/>
        </p:spPr>
        <p:txBody>
          <a:bodyPr wrap="none">
            <a:spAutoFit/>
          </a:bodyPr>
          <a:lstStyle/>
          <a:p>
            <a:r>
              <a:rPr sz="800">
                <a:solidFill>
                  <a:srgbClr val="5DADE8"/>
                </a:solidFill>
                <a:hlinkClick r:id="rId3"/>
              </a:rPr>
              <a:t>https://qiita.com/mrrclb48z/items/da90844a7876409858e4</a:t>
            </a:r>
          </a:p>
        </p:txBody>
      </p:sp>
      <p:sp>
        <p:nvSpPr>
          <p:cNvPr id="10" name="TextBox 9"/>
          <p:cNvSpPr txBox="1"/>
          <p:nvPr/>
        </p:nvSpPr>
        <p:spPr>
          <a:xfrm>
            <a:off x="365760" y="1908810"/>
            <a:ext cx="11430000" cy="214312"/>
          </a:xfrm>
          <a:prstGeom prst="rect">
            <a:avLst/>
          </a:prstGeom>
          <a:noFill/>
        </p:spPr>
        <p:txBody>
          <a:bodyPr wrap="none">
            <a:spAutoFit/>
          </a:bodyPr>
          <a:lstStyle/>
          <a:p>
            <a:r>
              <a:rPr sz="800" b="1">
                <a:solidFill>
                  <a:srgbClr val="7F8C8D"/>
                </a:solidFill>
              </a:rPr>
              <a:t>[Qiita]  </a:t>
            </a:r>
            <a:r>
              <a:rPr sz="1000" b="1">
                <a:solidFill>
                  <a:srgbClr val="CCDDEE"/>
                </a:solidFill>
              </a:rPr>
              <a:t>Right triangle altitude theorem（直角三角形の高度定理） / Geometric mean theorem（相乗平均定理…</a:t>
            </a:r>
          </a:p>
        </p:txBody>
      </p:sp>
      <p:sp>
        <p:nvSpPr>
          <p:cNvPr id="11" name="TextBox 10"/>
          <p:cNvSpPr txBox="1"/>
          <p:nvPr/>
        </p:nvSpPr>
        <p:spPr>
          <a:xfrm>
            <a:off x="640080" y="2123122"/>
            <a:ext cx="11155680" cy="214312"/>
          </a:xfrm>
          <a:prstGeom prst="rect">
            <a:avLst/>
          </a:prstGeom>
          <a:noFill/>
        </p:spPr>
        <p:txBody>
          <a:bodyPr wrap="none">
            <a:spAutoFit/>
          </a:bodyPr>
          <a:lstStyle/>
          <a:p>
            <a:r>
              <a:rPr sz="800">
                <a:solidFill>
                  <a:srgbClr val="5DADE8"/>
                </a:solidFill>
                <a:hlinkClick r:id="rId4"/>
              </a:rPr>
              <a:t>https://qiita.com/mrrclb48z/items/7d7f880494536ee7cf06</a:t>
            </a:r>
          </a:p>
        </p:txBody>
      </p:sp>
      <p:sp>
        <p:nvSpPr>
          <p:cNvPr id="12" name="TextBox 11"/>
          <p:cNvSpPr txBox="1"/>
          <p:nvPr/>
        </p:nvSpPr>
        <p:spPr>
          <a:xfrm>
            <a:off x="365760" y="2337435"/>
            <a:ext cx="11430000" cy="214312"/>
          </a:xfrm>
          <a:prstGeom prst="rect">
            <a:avLst/>
          </a:prstGeom>
          <a:noFill/>
        </p:spPr>
        <p:txBody>
          <a:bodyPr wrap="none">
            <a:spAutoFit/>
          </a:bodyPr>
          <a:lstStyle/>
          <a:p>
            <a:r>
              <a:rPr sz="800" b="1">
                <a:solidFill>
                  <a:srgbClr val="7F8C8D"/>
                </a:solidFill>
              </a:rPr>
              <a:t>[Qiita]  </a:t>
            </a:r>
            <a:r>
              <a:rPr sz="1000" b="1">
                <a:solidFill>
                  <a:srgbClr val="CCDDEE"/>
                </a:solidFill>
              </a:rPr>
              <a:t>ゼロから学ぶローカルLLM #3 LLMの「モデル」とは？ 7B・14B・32Bの違いを理解する</a:t>
            </a:r>
          </a:p>
        </p:txBody>
      </p:sp>
      <p:sp>
        <p:nvSpPr>
          <p:cNvPr id="13" name="TextBox 12"/>
          <p:cNvSpPr txBox="1"/>
          <p:nvPr/>
        </p:nvSpPr>
        <p:spPr>
          <a:xfrm>
            <a:off x="640080" y="2551747"/>
            <a:ext cx="11155680" cy="214312"/>
          </a:xfrm>
          <a:prstGeom prst="rect">
            <a:avLst/>
          </a:prstGeom>
          <a:noFill/>
        </p:spPr>
        <p:txBody>
          <a:bodyPr wrap="none">
            <a:spAutoFit/>
          </a:bodyPr>
          <a:lstStyle/>
          <a:p>
            <a:r>
              <a:rPr sz="800">
                <a:solidFill>
                  <a:srgbClr val="5DADE8"/>
                </a:solidFill>
                <a:hlinkClick r:id="rId5"/>
              </a:rPr>
              <a:t>https://qiita.com/YuukiYoshida/items/a36aef013f2b486642fb</a:t>
            </a:r>
          </a:p>
        </p:txBody>
      </p:sp>
      <p:sp>
        <p:nvSpPr>
          <p:cNvPr id="14" name="TextBox 13"/>
          <p:cNvSpPr txBox="1"/>
          <p:nvPr/>
        </p:nvSpPr>
        <p:spPr>
          <a:xfrm>
            <a:off x="365760" y="2766060"/>
            <a:ext cx="11430000" cy="214312"/>
          </a:xfrm>
          <a:prstGeom prst="rect">
            <a:avLst/>
          </a:prstGeom>
          <a:noFill/>
        </p:spPr>
        <p:txBody>
          <a:bodyPr wrap="none">
            <a:spAutoFit/>
          </a:bodyPr>
          <a:lstStyle/>
          <a:p>
            <a:r>
              <a:rPr sz="800" b="1">
                <a:solidFill>
                  <a:srgbClr val="7F8C8D"/>
                </a:solidFill>
              </a:rPr>
              <a:t>[Qiita]  </a:t>
            </a:r>
            <a:r>
              <a:rPr sz="1000" b="1">
                <a:solidFill>
                  <a:srgbClr val="CCDDEE"/>
                </a:solidFill>
              </a:rPr>
              <a:t>ゼロから学ぶローカルLLM #2 LLMはどうやって文章を生成しているのか？ トークンと推論の仕組みを理解する</a:t>
            </a:r>
          </a:p>
        </p:txBody>
      </p:sp>
      <p:sp>
        <p:nvSpPr>
          <p:cNvPr id="15" name="TextBox 14"/>
          <p:cNvSpPr txBox="1"/>
          <p:nvPr/>
        </p:nvSpPr>
        <p:spPr>
          <a:xfrm>
            <a:off x="640080" y="2980372"/>
            <a:ext cx="11155680" cy="214312"/>
          </a:xfrm>
          <a:prstGeom prst="rect">
            <a:avLst/>
          </a:prstGeom>
          <a:noFill/>
        </p:spPr>
        <p:txBody>
          <a:bodyPr wrap="none">
            <a:spAutoFit/>
          </a:bodyPr>
          <a:lstStyle/>
          <a:p>
            <a:r>
              <a:rPr sz="800">
                <a:solidFill>
                  <a:srgbClr val="5DADE8"/>
                </a:solidFill>
                <a:hlinkClick r:id="rId6"/>
              </a:rPr>
              <a:t>https://qiita.com/YuukiYoshida/items/68aa14df457be0eea1c6</a:t>
            </a:r>
          </a:p>
        </p:txBody>
      </p:sp>
      <p:sp>
        <p:nvSpPr>
          <p:cNvPr id="16" name="TextBox 15"/>
          <p:cNvSpPr txBox="1"/>
          <p:nvPr/>
        </p:nvSpPr>
        <p:spPr>
          <a:xfrm>
            <a:off x="365760" y="3194685"/>
            <a:ext cx="11430000" cy="214312"/>
          </a:xfrm>
          <a:prstGeom prst="rect">
            <a:avLst/>
          </a:prstGeom>
          <a:noFill/>
        </p:spPr>
        <p:txBody>
          <a:bodyPr wrap="none">
            <a:spAutoFit/>
          </a:bodyPr>
          <a:lstStyle/>
          <a:p>
            <a:r>
              <a:rPr sz="800" b="1">
                <a:solidFill>
                  <a:srgbClr val="7F8C8D"/>
                </a:solidFill>
              </a:rPr>
              <a:t>[Qiita]  </a:t>
            </a:r>
            <a:r>
              <a:rPr sz="1000" b="1">
                <a:solidFill>
                  <a:srgbClr val="CCDDEE"/>
                </a:solidFill>
              </a:rPr>
              <a:t>ホスティング環境とローカル開発環境の構成</a:t>
            </a:r>
          </a:p>
        </p:txBody>
      </p:sp>
      <p:sp>
        <p:nvSpPr>
          <p:cNvPr id="17" name="TextBox 16"/>
          <p:cNvSpPr txBox="1"/>
          <p:nvPr/>
        </p:nvSpPr>
        <p:spPr>
          <a:xfrm>
            <a:off x="640080" y="3408997"/>
            <a:ext cx="11155680" cy="214312"/>
          </a:xfrm>
          <a:prstGeom prst="rect">
            <a:avLst/>
          </a:prstGeom>
          <a:noFill/>
        </p:spPr>
        <p:txBody>
          <a:bodyPr wrap="none">
            <a:spAutoFit/>
          </a:bodyPr>
          <a:lstStyle/>
          <a:p>
            <a:r>
              <a:rPr sz="800">
                <a:solidFill>
                  <a:srgbClr val="5DADE8"/>
                </a:solidFill>
                <a:hlinkClick r:id="rId7"/>
              </a:rPr>
              <a:t>https://qiita.com/equeko99/items/a2161450968135f7066b</a:t>
            </a:r>
          </a:p>
        </p:txBody>
      </p:sp>
      <p:sp>
        <p:nvSpPr>
          <p:cNvPr id="18" name="TextBox 17"/>
          <p:cNvSpPr txBox="1"/>
          <p:nvPr/>
        </p:nvSpPr>
        <p:spPr>
          <a:xfrm>
            <a:off x="365760" y="3623310"/>
            <a:ext cx="11430000" cy="214312"/>
          </a:xfrm>
          <a:prstGeom prst="rect">
            <a:avLst/>
          </a:prstGeom>
          <a:noFill/>
        </p:spPr>
        <p:txBody>
          <a:bodyPr wrap="none">
            <a:spAutoFit/>
          </a:bodyPr>
          <a:lstStyle/>
          <a:p>
            <a:r>
              <a:rPr sz="800" b="1">
                <a:solidFill>
                  <a:srgbClr val="7F8C8D"/>
                </a:solidFill>
              </a:rPr>
              <a:t>[Qiita]  </a:t>
            </a:r>
            <a:r>
              <a:rPr sz="1000" b="1">
                <a:solidFill>
                  <a:srgbClr val="CCDDEE"/>
                </a:solidFill>
              </a:rPr>
              <a:t>本家のChatGPT/Claude/Copilot/Gemini/Grokを全て利用した感想</a:t>
            </a:r>
          </a:p>
        </p:txBody>
      </p:sp>
      <p:sp>
        <p:nvSpPr>
          <p:cNvPr id="19" name="TextBox 18"/>
          <p:cNvSpPr txBox="1"/>
          <p:nvPr/>
        </p:nvSpPr>
        <p:spPr>
          <a:xfrm>
            <a:off x="640080" y="3837622"/>
            <a:ext cx="11155680" cy="214312"/>
          </a:xfrm>
          <a:prstGeom prst="rect">
            <a:avLst/>
          </a:prstGeom>
          <a:noFill/>
        </p:spPr>
        <p:txBody>
          <a:bodyPr wrap="none">
            <a:spAutoFit/>
          </a:bodyPr>
          <a:lstStyle/>
          <a:p>
            <a:r>
              <a:rPr sz="800">
                <a:solidFill>
                  <a:srgbClr val="5DADE8"/>
                </a:solidFill>
                <a:hlinkClick r:id="rId8"/>
              </a:rPr>
              <a:t>https://qiita.com/mnoda/items/63dec7a4b38d7abf414a</a:t>
            </a:r>
          </a:p>
        </p:txBody>
      </p:sp>
      <p:sp>
        <p:nvSpPr>
          <p:cNvPr id="20" name="TextBox 19"/>
          <p:cNvSpPr txBox="1"/>
          <p:nvPr/>
        </p:nvSpPr>
        <p:spPr>
          <a:xfrm>
            <a:off x="365760" y="4051935"/>
            <a:ext cx="11430000" cy="214312"/>
          </a:xfrm>
          <a:prstGeom prst="rect">
            <a:avLst/>
          </a:prstGeom>
          <a:noFill/>
        </p:spPr>
        <p:txBody>
          <a:bodyPr wrap="none">
            <a:spAutoFit/>
          </a:bodyPr>
          <a:lstStyle/>
          <a:p>
            <a:r>
              <a:rPr sz="800" b="1">
                <a:solidFill>
                  <a:srgbClr val="7F8C8D"/>
                </a:solidFill>
              </a:rPr>
              <a:t>[Qiita]  </a:t>
            </a:r>
            <a:r>
              <a:rPr sz="1000" b="1">
                <a:solidFill>
                  <a:srgbClr val="CCDDEE"/>
                </a:solidFill>
              </a:rPr>
              <a:t>RTX 5090 でゼロから言語モデルを1分で学習する — Windows ネイティブと Blackwell (sm_120) の落とし穴</a:t>
            </a:r>
          </a:p>
        </p:txBody>
      </p:sp>
      <p:sp>
        <p:nvSpPr>
          <p:cNvPr id="21" name="TextBox 20"/>
          <p:cNvSpPr txBox="1"/>
          <p:nvPr/>
        </p:nvSpPr>
        <p:spPr>
          <a:xfrm>
            <a:off x="640080" y="4266247"/>
            <a:ext cx="11155680" cy="214312"/>
          </a:xfrm>
          <a:prstGeom prst="rect">
            <a:avLst/>
          </a:prstGeom>
          <a:noFill/>
        </p:spPr>
        <p:txBody>
          <a:bodyPr wrap="none">
            <a:spAutoFit/>
          </a:bodyPr>
          <a:lstStyle/>
          <a:p>
            <a:r>
              <a:rPr sz="800">
                <a:solidFill>
                  <a:srgbClr val="5DADE8"/>
                </a:solidFill>
                <a:hlinkClick r:id="rId9"/>
              </a:rPr>
              <a:t>https://qiita.com/GeneLab_999/items/f2456b1657e2ac94003d</a:t>
            </a:r>
          </a:p>
        </p:txBody>
      </p:sp>
      <p:sp>
        <p:nvSpPr>
          <p:cNvPr id="22" name="TextBox 21"/>
          <p:cNvSpPr txBox="1"/>
          <p:nvPr/>
        </p:nvSpPr>
        <p:spPr>
          <a:xfrm>
            <a:off x="365760" y="4480560"/>
            <a:ext cx="11430000" cy="214312"/>
          </a:xfrm>
          <a:prstGeom prst="rect">
            <a:avLst/>
          </a:prstGeom>
          <a:noFill/>
        </p:spPr>
        <p:txBody>
          <a:bodyPr wrap="none">
            <a:spAutoFit/>
          </a:bodyPr>
          <a:lstStyle/>
          <a:p>
            <a:r>
              <a:rPr sz="800" b="1">
                <a:solidFill>
                  <a:srgbClr val="7F8C8D"/>
                </a:solidFill>
              </a:rPr>
              <a:t>[Qiita]  </a:t>
            </a:r>
            <a:r>
              <a:rPr sz="1000" b="1">
                <a:solidFill>
                  <a:srgbClr val="CCDDEE"/>
                </a:solidFill>
              </a:rPr>
              <a:t>Xのアルゴリズムがまた公開されたので、今回何が増えて、結局どんな投稿が表示されるのかコードを読んで調べた</a:t>
            </a:r>
          </a:p>
        </p:txBody>
      </p:sp>
      <p:sp>
        <p:nvSpPr>
          <p:cNvPr id="23" name="TextBox 22"/>
          <p:cNvSpPr txBox="1"/>
          <p:nvPr/>
        </p:nvSpPr>
        <p:spPr>
          <a:xfrm>
            <a:off x="640080" y="4694872"/>
            <a:ext cx="11155680" cy="214312"/>
          </a:xfrm>
          <a:prstGeom prst="rect">
            <a:avLst/>
          </a:prstGeom>
          <a:noFill/>
        </p:spPr>
        <p:txBody>
          <a:bodyPr wrap="none">
            <a:spAutoFit/>
          </a:bodyPr>
          <a:lstStyle/>
          <a:p>
            <a:r>
              <a:rPr sz="800">
                <a:solidFill>
                  <a:srgbClr val="5DADE8"/>
                </a:solidFill>
                <a:hlinkClick r:id="rId10"/>
              </a:rPr>
              <a:t>https://qiita.com/sutaminajing40/items/4aca440dfaf01cc989a6</a:t>
            </a:r>
          </a:p>
        </p:txBody>
      </p:sp>
      <p:sp>
        <p:nvSpPr>
          <p:cNvPr id="24" name="TextBox 23"/>
          <p:cNvSpPr txBox="1"/>
          <p:nvPr/>
        </p:nvSpPr>
        <p:spPr>
          <a:xfrm>
            <a:off x="365760" y="4909185"/>
            <a:ext cx="11430000" cy="214312"/>
          </a:xfrm>
          <a:prstGeom prst="rect">
            <a:avLst/>
          </a:prstGeom>
          <a:noFill/>
        </p:spPr>
        <p:txBody>
          <a:bodyPr wrap="none">
            <a:spAutoFit/>
          </a:bodyPr>
          <a:lstStyle/>
          <a:p>
            <a:r>
              <a:rPr sz="800" b="1">
                <a:solidFill>
                  <a:srgbClr val="7F8C8D"/>
                </a:solidFill>
              </a:rPr>
              <a:t>[Qiita]  </a:t>
            </a:r>
            <a:r>
              <a:rPr sz="1000" b="1">
                <a:solidFill>
                  <a:srgbClr val="CCDDEE"/>
                </a:solidFill>
              </a:rPr>
              <a:t>【人生ログ開発 #4】Markdownをポータブルにする独自エディタ「HASM Markdown」の設計とAIとの開発プロセス</a:t>
            </a:r>
          </a:p>
        </p:txBody>
      </p:sp>
      <p:sp>
        <p:nvSpPr>
          <p:cNvPr id="25" name="TextBox 24"/>
          <p:cNvSpPr txBox="1"/>
          <p:nvPr/>
        </p:nvSpPr>
        <p:spPr>
          <a:xfrm>
            <a:off x="640080" y="5123497"/>
            <a:ext cx="11155680" cy="214312"/>
          </a:xfrm>
          <a:prstGeom prst="rect">
            <a:avLst/>
          </a:prstGeom>
          <a:noFill/>
        </p:spPr>
        <p:txBody>
          <a:bodyPr wrap="none">
            <a:spAutoFit/>
          </a:bodyPr>
          <a:lstStyle/>
          <a:p>
            <a:r>
              <a:rPr sz="800">
                <a:solidFill>
                  <a:srgbClr val="5DADE8"/>
                </a:solidFill>
                <a:hlinkClick r:id="rId11"/>
              </a:rPr>
              <a:t>https://qiita.com/Hibs/items/a98acd52ce0a4642b67e</a:t>
            </a:r>
          </a:p>
        </p:txBody>
      </p:sp>
      <p:sp>
        <p:nvSpPr>
          <p:cNvPr id="26" name="TextBox 25"/>
          <p:cNvSpPr txBox="1"/>
          <p:nvPr/>
        </p:nvSpPr>
        <p:spPr>
          <a:xfrm>
            <a:off x="365760" y="5337810"/>
            <a:ext cx="11430000" cy="214312"/>
          </a:xfrm>
          <a:prstGeom prst="rect">
            <a:avLst/>
          </a:prstGeom>
          <a:noFill/>
        </p:spPr>
        <p:txBody>
          <a:bodyPr wrap="none">
            <a:spAutoFit/>
          </a:bodyPr>
          <a:lstStyle/>
          <a:p>
            <a:r>
              <a:rPr sz="800" b="1">
                <a:solidFill>
                  <a:srgbClr val="7F8C8D"/>
                </a:solidFill>
              </a:rPr>
              <a:t>[Qiita]  </a:t>
            </a:r>
            <a:r>
              <a:rPr sz="1000" b="1">
                <a:solidFill>
                  <a:srgbClr val="CCDDEE"/>
                </a:solidFill>
              </a:rPr>
              <a:t>Trueful番外編2：ドキュメントが散らかった話、あるいは「正本」をどこに置くか</a:t>
            </a:r>
          </a:p>
        </p:txBody>
      </p:sp>
      <p:sp>
        <p:nvSpPr>
          <p:cNvPr id="27" name="TextBox 26"/>
          <p:cNvSpPr txBox="1"/>
          <p:nvPr/>
        </p:nvSpPr>
        <p:spPr>
          <a:xfrm>
            <a:off x="640080" y="5552122"/>
            <a:ext cx="11155680" cy="214312"/>
          </a:xfrm>
          <a:prstGeom prst="rect">
            <a:avLst/>
          </a:prstGeom>
          <a:noFill/>
        </p:spPr>
        <p:txBody>
          <a:bodyPr wrap="none">
            <a:spAutoFit/>
          </a:bodyPr>
          <a:lstStyle/>
          <a:p>
            <a:r>
              <a:rPr sz="800">
                <a:solidFill>
                  <a:srgbClr val="5DADE8"/>
                </a:solidFill>
                <a:hlinkClick r:id="rId12"/>
              </a:rPr>
              <a:t>https://qiita.com/Ruria1024/items/6e4df2d763f22d77157e</a:t>
            </a:r>
          </a:p>
        </p:txBody>
      </p:sp>
      <p:sp>
        <p:nvSpPr>
          <p:cNvPr id="28" name="TextBox 27"/>
          <p:cNvSpPr txBox="1"/>
          <p:nvPr/>
        </p:nvSpPr>
        <p:spPr>
          <a:xfrm>
            <a:off x="365760" y="5766435"/>
            <a:ext cx="11430000" cy="214312"/>
          </a:xfrm>
          <a:prstGeom prst="rect">
            <a:avLst/>
          </a:prstGeom>
          <a:noFill/>
        </p:spPr>
        <p:txBody>
          <a:bodyPr wrap="none">
            <a:spAutoFit/>
          </a:bodyPr>
          <a:lstStyle/>
          <a:p>
            <a:r>
              <a:rPr sz="800" b="1">
                <a:solidFill>
                  <a:srgbClr val="7F8C8D"/>
                </a:solidFill>
              </a:rPr>
              <a:t>[Zenn]  </a:t>
            </a:r>
            <a:r>
              <a:rPr sz="1000" b="1">
                <a:solidFill>
                  <a:srgbClr val="CCDDEE"/>
                </a:solidFill>
              </a:rPr>
              <a:t>L1 vs L2正則化、CNNの重みはどう変わる？【Keras×CIFAR-10実験】</a:t>
            </a:r>
          </a:p>
        </p:txBody>
      </p:sp>
      <p:sp>
        <p:nvSpPr>
          <p:cNvPr id="29" name="TextBox 28"/>
          <p:cNvSpPr txBox="1"/>
          <p:nvPr/>
        </p:nvSpPr>
        <p:spPr>
          <a:xfrm>
            <a:off x="640080" y="5980747"/>
            <a:ext cx="11155680" cy="214312"/>
          </a:xfrm>
          <a:prstGeom prst="rect">
            <a:avLst/>
          </a:prstGeom>
          <a:noFill/>
        </p:spPr>
        <p:txBody>
          <a:bodyPr wrap="none">
            <a:spAutoFit/>
          </a:bodyPr>
          <a:lstStyle/>
          <a:p>
            <a:r>
              <a:rPr sz="800">
                <a:solidFill>
                  <a:srgbClr val="5DADE8"/>
                </a:solidFill>
                <a:hlinkClick r:id="rId13"/>
              </a:rPr>
              <a:t>https://zenn.dev/wasurenamemo/articles/b56c8c73b44add</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1A25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960120"/>
          </a:xfrm>
          <a:prstGeom prst="rect">
            <a:avLst/>
          </a:prstGeom>
          <a:solidFill>
            <a:srgbClr val="2C3C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64592" cy="960120"/>
          </a:xfrm>
          <a:prstGeom prst="rect">
            <a:avLst/>
          </a:prstGeom>
          <a:solidFill>
            <a:srgbClr val="7F8C8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118872"/>
            <a:ext cx="11430000" cy="749808"/>
          </a:xfrm>
          <a:prstGeom prst="rect">
            <a:avLst/>
          </a:prstGeom>
          <a:noFill/>
        </p:spPr>
        <p:txBody>
          <a:bodyPr wrap="square">
            <a:spAutoFit/>
          </a:bodyPr>
          <a:lstStyle/>
          <a:p>
            <a:pPr algn="l"/>
            <a:r>
              <a:rPr sz="2000" b="1">
                <a:solidFill>
                  <a:srgbClr val="FFFFFF"/>
                </a:solidFill>
              </a:rPr>
              <a:t>その他の記事　(6 / 9)</a:t>
            </a:r>
          </a:p>
        </p:txBody>
      </p:sp>
      <p:sp>
        <p:nvSpPr>
          <p:cNvPr id="6" name="TextBox 5"/>
          <p:cNvSpPr txBox="1"/>
          <p:nvPr/>
        </p:nvSpPr>
        <p:spPr>
          <a:xfrm>
            <a:off x="365760" y="1051560"/>
            <a:ext cx="11430000" cy="214312"/>
          </a:xfrm>
          <a:prstGeom prst="rect">
            <a:avLst/>
          </a:prstGeom>
          <a:noFill/>
        </p:spPr>
        <p:txBody>
          <a:bodyPr wrap="none">
            <a:spAutoFit/>
          </a:bodyPr>
          <a:lstStyle/>
          <a:p>
            <a:r>
              <a:rPr sz="800" b="1">
                <a:solidFill>
                  <a:srgbClr val="7F8C8D"/>
                </a:solidFill>
              </a:rPr>
              <a:t>[Zenn]  </a:t>
            </a:r>
            <a:r>
              <a:rPr sz="1000" b="1">
                <a:solidFill>
                  <a:srgbClr val="CCDDEE"/>
                </a:solidFill>
              </a:rPr>
              <a:t>ブラジルの首都をAIに聞くと、なぜ自信満々で間違えるのか</a:t>
            </a:r>
          </a:p>
        </p:txBody>
      </p:sp>
      <p:sp>
        <p:nvSpPr>
          <p:cNvPr id="7" name="TextBox 6"/>
          <p:cNvSpPr txBox="1"/>
          <p:nvPr/>
        </p:nvSpPr>
        <p:spPr>
          <a:xfrm>
            <a:off x="640080" y="1265872"/>
            <a:ext cx="11155680" cy="214312"/>
          </a:xfrm>
          <a:prstGeom prst="rect">
            <a:avLst/>
          </a:prstGeom>
          <a:noFill/>
        </p:spPr>
        <p:txBody>
          <a:bodyPr wrap="none">
            <a:spAutoFit/>
          </a:bodyPr>
          <a:lstStyle/>
          <a:p>
            <a:r>
              <a:rPr sz="800">
                <a:solidFill>
                  <a:srgbClr val="5DADE8"/>
                </a:solidFill>
                <a:hlinkClick r:id="rId2"/>
              </a:rPr>
              <a:t>https://zenn.dev/m2yagyu/articles/llm-hallucination-confidence</a:t>
            </a:r>
          </a:p>
        </p:txBody>
      </p:sp>
      <p:sp>
        <p:nvSpPr>
          <p:cNvPr id="8" name="TextBox 7"/>
          <p:cNvSpPr txBox="1"/>
          <p:nvPr/>
        </p:nvSpPr>
        <p:spPr>
          <a:xfrm>
            <a:off x="365760" y="1480185"/>
            <a:ext cx="11430000" cy="214312"/>
          </a:xfrm>
          <a:prstGeom prst="rect">
            <a:avLst/>
          </a:prstGeom>
          <a:noFill/>
        </p:spPr>
        <p:txBody>
          <a:bodyPr wrap="none">
            <a:spAutoFit/>
          </a:bodyPr>
          <a:lstStyle/>
          <a:p>
            <a:r>
              <a:rPr sz="800" b="1">
                <a:solidFill>
                  <a:srgbClr val="7F8C8D"/>
                </a:solidFill>
              </a:rPr>
              <a:t>[Zenn]  </a:t>
            </a:r>
            <a:r>
              <a:rPr sz="1000" b="1">
                <a:solidFill>
                  <a:srgbClr val="CCDDEE"/>
                </a:solidFill>
              </a:rPr>
              <a:t>材料データのクレンジング——手法より先に決める順番</a:t>
            </a:r>
          </a:p>
        </p:txBody>
      </p:sp>
      <p:sp>
        <p:nvSpPr>
          <p:cNvPr id="9" name="TextBox 8"/>
          <p:cNvSpPr txBox="1"/>
          <p:nvPr/>
        </p:nvSpPr>
        <p:spPr>
          <a:xfrm>
            <a:off x="640080" y="1694497"/>
            <a:ext cx="11155680" cy="214312"/>
          </a:xfrm>
          <a:prstGeom prst="rect">
            <a:avLst/>
          </a:prstGeom>
          <a:noFill/>
        </p:spPr>
        <p:txBody>
          <a:bodyPr wrap="none">
            <a:spAutoFit/>
          </a:bodyPr>
          <a:lstStyle/>
          <a:p>
            <a:r>
              <a:rPr sz="800">
                <a:solidFill>
                  <a:srgbClr val="5DADE8"/>
                </a:solidFill>
                <a:hlinkClick r:id="rId3"/>
              </a:rPr>
              <a:t>https://zenn.dev/efta1989/articles/cleansing-order-bdl-for-materials</a:t>
            </a:r>
          </a:p>
        </p:txBody>
      </p:sp>
      <p:sp>
        <p:nvSpPr>
          <p:cNvPr id="10" name="TextBox 9"/>
          <p:cNvSpPr txBox="1"/>
          <p:nvPr/>
        </p:nvSpPr>
        <p:spPr>
          <a:xfrm>
            <a:off x="365760" y="1908810"/>
            <a:ext cx="11430000" cy="214312"/>
          </a:xfrm>
          <a:prstGeom prst="rect">
            <a:avLst/>
          </a:prstGeom>
          <a:noFill/>
        </p:spPr>
        <p:txBody>
          <a:bodyPr wrap="none">
            <a:spAutoFit/>
          </a:bodyPr>
          <a:lstStyle/>
          <a:p>
            <a:r>
              <a:rPr sz="800" b="1">
                <a:solidFill>
                  <a:srgbClr val="7F8C8D"/>
                </a:solidFill>
              </a:rPr>
              <a:t>[Qiita]  </a:t>
            </a:r>
            <a:r>
              <a:rPr sz="1000" b="1">
                <a:solidFill>
                  <a:srgbClr val="CCDDEE"/>
                </a:solidFill>
              </a:rPr>
              <a:t>Copilot Studioの生成AI回答は「ナレッジソース」で根拠を決める</a:t>
            </a:r>
          </a:p>
        </p:txBody>
      </p:sp>
      <p:sp>
        <p:nvSpPr>
          <p:cNvPr id="11" name="TextBox 10"/>
          <p:cNvSpPr txBox="1"/>
          <p:nvPr/>
        </p:nvSpPr>
        <p:spPr>
          <a:xfrm>
            <a:off x="640080" y="2123122"/>
            <a:ext cx="11155680" cy="214312"/>
          </a:xfrm>
          <a:prstGeom prst="rect">
            <a:avLst/>
          </a:prstGeom>
          <a:noFill/>
        </p:spPr>
        <p:txBody>
          <a:bodyPr wrap="none">
            <a:spAutoFit/>
          </a:bodyPr>
          <a:lstStyle/>
          <a:p>
            <a:r>
              <a:rPr sz="800">
                <a:solidFill>
                  <a:srgbClr val="5DADE8"/>
                </a:solidFill>
                <a:hlinkClick r:id="rId4"/>
              </a:rPr>
              <a:t>https://qiita.com/YushiYamamoto/items/b07e4fffc72a6b8a8f7f</a:t>
            </a:r>
          </a:p>
        </p:txBody>
      </p:sp>
      <p:sp>
        <p:nvSpPr>
          <p:cNvPr id="12" name="TextBox 11"/>
          <p:cNvSpPr txBox="1"/>
          <p:nvPr/>
        </p:nvSpPr>
        <p:spPr>
          <a:xfrm>
            <a:off x="365760" y="2337435"/>
            <a:ext cx="11430000" cy="214312"/>
          </a:xfrm>
          <a:prstGeom prst="rect">
            <a:avLst/>
          </a:prstGeom>
          <a:noFill/>
        </p:spPr>
        <p:txBody>
          <a:bodyPr wrap="none">
            <a:spAutoFit/>
          </a:bodyPr>
          <a:lstStyle/>
          <a:p>
            <a:r>
              <a:rPr sz="800" b="1">
                <a:solidFill>
                  <a:srgbClr val="7F8C8D"/>
                </a:solidFill>
              </a:rPr>
              <a:t>[Qiita]  </a:t>
            </a:r>
            <a:r>
              <a:rPr sz="1000" b="1">
                <a:solidFill>
                  <a:srgbClr val="CCDDEE"/>
                </a:solidFill>
              </a:rPr>
              <a:t>Gemini 3.7 Flash登場、Googleの高速・低コストAIモデル最新版を解説</a:t>
            </a:r>
          </a:p>
        </p:txBody>
      </p:sp>
      <p:sp>
        <p:nvSpPr>
          <p:cNvPr id="13" name="TextBox 12"/>
          <p:cNvSpPr txBox="1"/>
          <p:nvPr/>
        </p:nvSpPr>
        <p:spPr>
          <a:xfrm>
            <a:off x="640080" y="2551747"/>
            <a:ext cx="11155680" cy="214312"/>
          </a:xfrm>
          <a:prstGeom prst="rect">
            <a:avLst/>
          </a:prstGeom>
          <a:noFill/>
        </p:spPr>
        <p:txBody>
          <a:bodyPr wrap="none">
            <a:spAutoFit/>
          </a:bodyPr>
          <a:lstStyle/>
          <a:p>
            <a:r>
              <a:rPr sz="800">
                <a:solidFill>
                  <a:srgbClr val="5DADE8"/>
                </a:solidFill>
                <a:hlinkClick r:id="rId5"/>
              </a:rPr>
              <a:t>https://qiita.com/picnic/items/e30e0b288d37719cbcd2</a:t>
            </a:r>
          </a:p>
        </p:txBody>
      </p:sp>
      <p:sp>
        <p:nvSpPr>
          <p:cNvPr id="14" name="TextBox 13"/>
          <p:cNvSpPr txBox="1"/>
          <p:nvPr/>
        </p:nvSpPr>
        <p:spPr>
          <a:xfrm>
            <a:off x="365760" y="2766060"/>
            <a:ext cx="11430000" cy="214312"/>
          </a:xfrm>
          <a:prstGeom prst="rect">
            <a:avLst/>
          </a:prstGeom>
          <a:noFill/>
        </p:spPr>
        <p:txBody>
          <a:bodyPr wrap="none">
            <a:spAutoFit/>
          </a:bodyPr>
          <a:lstStyle/>
          <a:p>
            <a:r>
              <a:rPr sz="800" b="1">
                <a:solidFill>
                  <a:srgbClr val="7F8C8D"/>
                </a:solidFill>
              </a:rPr>
              <a:t>[Zenn]  </a:t>
            </a:r>
            <a:r>
              <a:rPr sz="1000" b="1">
                <a:solidFill>
                  <a:srgbClr val="CCDDEE"/>
                </a:solidFill>
              </a:rPr>
              <a:t>OpenAIが最大14倍速の「Ultrafast」を限定公開 — 速さは何を変えるのか</a:t>
            </a:r>
          </a:p>
        </p:txBody>
      </p:sp>
      <p:sp>
        <p:nvSpPr>
          <p:cNvPr id="15" name="TextBox 14"/>
          <p:cNvSpPr txBox="1"/>
          <p:nvPr/>
        </p:nvSpPr>
        <p:spPr>
          <a:xfrm>
            <a:off x="640080" y="2980372"/>
            <a:ext cx="11155680" cy="214312"/>
          </a:xfrm>
          <a:prstGeom prst="rect">
            <a:avLst/>
          </a:prstGeom>
          <a:noFill/>
        </p:spPr>
        <p:txBody>
          <a:bodyPr wrap="none">
            <a:spAutoFit/>
          </a:bodyPr>
          <a:lstStyle/>
          <a:p>
            <a:r>
              <a:rPr sz="800">
                <a:solidFill>
                  <a:srgbClr val="5DADE8"/>
                </a:solidFill>
                <a:hlinkClick r:id="rId6"/>
              </a:rPr>
              <a:t>https://zenn.dev/kairosai/articles/9bd3f257e61640</a:t>
            </a:r>
          </a:p>
        </p:txBody>
      </p:sp>
      <p:sp>
        <p:nvSpPr>
          <p:cNvPr id="16" name="TextBox 15"/>
          <p:cNvSpPr txBox="1"/>
          <p:nvPr/>
        </p:nvSpPr>
        <p:spPr>
          <a:xfrm>
            <a:off x="365760" y="3194685"/>
            <a:ext cx="11430000" cy="214312"/>
          </a:xfrm>
          <a:prstGeom prst="rect">
            <a:avLst/>
          </a:prstGeom>
          <a:noFill/>
        </p:spPr>
        <p:txBody>
          <a:bodyPr wrap="none">
            <a:spAutoFit/>
          </a:bodyPr>
          <a:lstStyle/>
          <a:p>
            <a:r>
              <a:rPr sz="800" b="1">
                <a:solidFill>
                  <a:srgbClr val="7F8C8D"/>
                </a:solidFill>
              </a:rPr>
              <a:t>[Qiita]  </a:t>
            </a:r>
            <a:r>
              <a:rPr sz="1000" b="1">
                <a:solidFill>
                  <a:srgbClr val="CCDDEE"/>
                </a:solidFill>
              </a:rPr>
              <a:t>Apple公式にGeminiの文字が無い謎｜WWDC2026で本当に変わったのはSiriじゃない</a:t>
            </a:r>
          </a:p>
        </p:txBody>
      </p:sp>
      <p:sp>
        <p:nvSpPr>
          <p:cNvPr id="17" name="TextBox 16"/>
          <p:cNvSpPr txBox="1"/>
          <p:nvPr/>
        </p:nvSpPr>
        <p:spPr>
          <a:xfrm>
            <a:off x="640080" y="3408997"/>
            <a:ext cx="11155680" cy="214312"/>
          </a:xfrm>
          <a:prstGeom prst="rect">
            <a:avLst/>
          </a:prstGeom>
          <a:noFill/>
        </p:spPr>
        <p:txBody>
          <a:bodyPr wrap="none">
            <a:spAutoFit/>
          </a:bodyPr>
          <a:lstStyle/>
          <a:p>
            <a:r>
              <a:rPr sz="800">
                <a:solidFill>
                  <a:srgbClr val="5DADE8"/>
                </a:solidFill>
                <a:hlinkClick r:id="rId7"/>
              </a:rPr>
              <a:t>https://qiita.com/kinamocchi_tech/items/018633eb53f8b2bb4125</a:t>
            </a:r>
          </a:p>
        </p:txBody>
      </p:sp>
      <p:sp>
        <p:nvSpPr>
          <p:cNvPr id="18" name="TextBox 17"/>
          <p:cNvSpPr txBox="1"/>
          <p:nvPr/>
        </p:nvSpPr>
        <p:spPr>
          <a:xfrm>
            <a:off x="365760" y="3623310"/>
            <a:ext cx="11430000" cy="214312"/>
          </a:xfrm>
          <a:prstGeom prst="rect">
            <a:avLst/>
          </a:prstGeom>
          <a:noFill/>
        </p:spPr>
        <p:txBody>
          <a:bodyPr wrap="none">
            <a:spAutoFit/>
          </a:bodyPr>
          <a:lstStyle/>
          <a:p>
            <a:r>
              <a:rPr sz="800" b="1">
                <a:solidFill>
                  <a:srgbClr val="7F8C8D"/>
                </a:solidFill>
              </a:rPr>
              <a:t>[Qiita]  </a:t>
            </a:r>
            <a:r>
              <a:rPr sz="1000" b="1">
                <a:solidFill>
                  <a:srgbClr val="CCDDEE"/>
                </a:solidFill>
              </a:rPr>
              <a:t>Midnight AI Groove 26-08-11</a:t>
            </a:r>
          </a:p>
        </p:txBody>
      </p:sp>
      <p:sp>
        <p:nvSpPr>
          <p:cNvPr id="19" name="TextBox 18"/>
          <p:cNvSpPr txBox="1"/>
          <p:nvPr/>
        </p:nvSpPr>
        <p:spPr>
          <a:xfrm>
            <a:off x="640080" y="3837622"/>
            <a:ext cx="11155680" cy="214312"/>
          </a:xfrm>
          <a:prstGeom prst="rect">
            <a:avLst/>
          </a:prstGeom>
          <a:noFill/>
        </p:spPr>
        <p:txBody>
          <a:bodyPr wrap="none">
            <a:spAutoFit/>
          </a:bodyPr>
          <a:lstStyle/>
          <a:p>
            <a:r>
              <a:rPr sz="800">
                <a:solidFill>
                  <a:srgbClr val="5DADE8"/>
                </a:solidFill>
                <a:hlinkClick r:id="rId8"/>
              </a:rPr>
              <a:t>https://qiita.com/masykot582/items/2cf35beb2c917a513d93</a:t>
            </a:r>
          </a:p>
        </p:txBody>
      </p:sp>
      <p:sp>
        <p:nvSpPr>
          <p:cNvPr id="20" name="TextBox 19"/>
          <p:cNvSpPr txBox="1"/>
          <p:nvPr/>
        </p:nvSpPr>
        <p:spPr>
          <a:xfrm>
            <a:off x="365760" y="4051935"/>
            <a:ext cx="11430000" cy="214312"/>
          </a:xfrm>
          <a:prstGeom prst="rect">
            <a:avLst/>
          </a:prstGeom>
          <a:noFill/>
        </p:spPr>
        <p:txBody>
          <a:bodyPr wrap="none">
            <a:spAutoFit/>
          </a:bodyPr>
          <a:lstStyle/>
          <a:p>
            <a:r>
              <a:rPr sz="800" b="1">
                <a:solidFill>
                  <a:srgbClr val="7F8C8D"/>
                </a:solidFill>
              </a:rPr>
              <a:t>[Qiita]  </a:t>
            </a:r>
            <a:r>
              <a:rPr sz="1000" b="1">
                <a:solidFill>
                  <a:srgbClr val="CCDDEE"/>
                </a:solidFill>
              </a:rPr>
              <a:t>消費税を上げるか下げるか、その前に ― 財源幻想から考える国家OSのリファクタリング : システム設計視点の行動経済学 (15)</a:t>
            </a:r>
          </a:p>
        </p:txBody>
      </p:sp>
      <p:sp>
        <p:nvSpPr>
          <p:cNvPr id="21" name="TextBox 20"/>
          <p:cNvSpPr txBox="1"/>
          <p:nvPr/>
        </p:nvSpPr>
        <p:spPr>
          <a:xfrm>
            <a:off x="640080" y="4266247"/>
            <a:ext cx="11155680" cy="214312"/>
          </a:xfrm>
          <a:prstGeom prst="rect">
            <a:avLst/>
          </a:prstGeom>
          <a:noFill/>
        </p:spPr>
        <p:txBody>
          <a:bodyPr wrap="none">
            <a:spAutoFit/>
          </a:bodyPr>
          <a:lstStyle/>
          <a:p>
            <a:r>
              <a:rPr sz="800">
                <a:solidFill>
                  <a:srgbClr val="5DADE8"/>
                </a:solidFill>
                <a:hlinkClick r:id="rId9"/>
              </a:rPr>
              <a:t>https://qiita.com/maskot1977/items/309d01d1e9d6ce527152</a:t>
            </a:r>
          </a:p>
        </p:txBody>
      </p:sp>
      <p:sp>
        <p:nvSpPr>
          <p:cNvPr id="22" name="TextBox 21"/>
          <p:cNvSpPr txBox="1"/>
          <p:nvPr/>
        </p:nvSpPr>
        <p:spPr>
          <a:xfrm>
            <a:off x="365760" y="4480560"/>
            <a:ext cx="11430000" cy="214312"/>
          </a:xfrm>
          <a:prstGeom prst="rect">
            <a:avLst/>
          </a:prstGeom>
          <a:noFill/>
        </p:spPr>
        <p:txBody>
          <a:bodyPr wrap="none">
            <a:spAutoFit/>
          </a:bodyPr>
          <a:lstStyle/>
          <a:p>
            <a:r>
              <a:rPr sz="800" b="1">
                <a:solidFill>
                  <a:srgbClr val="7F8C8D"/>
                </a:solidFill>
              </a:rPr>
              <a:t>[Qiita]  </a:t>
            </a:r>
            <a:r>
              <a:rPr sz="1000" b="1">
                <a:solidFill>
                  <a:srgbClr val="CCDDEE"/>
                </a:solidFill>
              </a:rPr>
              <a:t>Chat GPT sitesを使ってWebサイトを制作～公開</a:t>
            </a:r>
          </a:p>
        </p:txBody>
      </p:sp>
      <p:sp>
        <p:nvSpPr>
          <p:cNvPr id="23" name="TextBox 22"/>
          <p:cNvSpPr txBox="1"/>
          <p:nvPr/>
        </p:nvSpPr>
        <p:spPr>
          <a:xfrm>
            <a:off x="640080" y="4694872"/>
            <a:ext cx="11155680" cy="214312"/>
          </a:xfrm>
          <a:prstGeom prst="rect">
            <a:avLst/>
          </a:prstGeom>
          <a:noFill/>
        </p:spPr>
        <p:txBody>
          <a:bodyPr wrap="none">
            <a:spAutoFit/>
          </a:bodyPr>
          <a:lstStyle/>
          <a:p>
            <a:r>
              <a:rPr sz="800">
                <a:solidFill>
                  <a:srgbClr val="5DADE8"/>
                </a:solidFill>
                <a:hlinkClick r:id="rId10"/>
              </a:rPr>
              <a:t>https://qiita.com/sotaro-matsushita/items/088a5c9f770ee98de97b</a:t>
            </a:r>
          </a:p>
        </p:txBody>
      </p:sp>
      <p:sp>
        <p:nvSpPr>
          <p:cNvPr id="24" name="TextBox 23"/>
          <p:cNvSpPr txBox="1"/>
          <p:nvPr/>
        </p:nvSpPr>
        <p:spPr>
          <a:xfrm>
            <a:off x="365760" y="4909185"/>
            <a:ext cx="11430000" cy="214312"/>
          </a:xfrm>
          <a:prstGeom prst="rect">
            <a:avLst/>
          </a:prstGeom>
          <a:noFill/>
        </p:spPr>
        <p:txBody>
          <a:bodyPr wrap="none">
            <a:spAutoFit/>
          </a:bodyPr>
          <a:lstStyle/>
          <a:p>
            <a:r>
              <a:rPr sz="800" b="1">
                <a:solidFill>
                  <a:srgbClr val="7F8C8D"/>
                </a:solidFill>
              </a:rPr>
              <a:t>[Qiita]  </a:t>
            </a:r>
            <a:r>
              <a:rPr sz="1000" b="1">
                <a:solidFill>
                  <a:srgbClr val="CCDDEE"/>
                </a:solidFill>
              </a:rPr>
              <a:t>【書評】 Hands-On Machine Learning with Scikit-Learn, Keras, and TensorFlow, 3r…</a:t>
            </a:r>
          </a:p>
        </p:txBody>
      </p:sp>
      <p:sp>
        <p:nvSpPr>
          <p:cNvPr id="25" name="TextBox 24"/>
          <p:cNvSpPr txBox="1"/>
          <p:nvPr/>
        </p:nvSpPr>
        <p:spPr>
          <a:xfrm>
            <a:off x="640080" y="5123497"/>
            <a:ext cx="11155680" cy="214312"/>
          </a:xfrm>
          <a:prstGeom prst="rect">
            <a:avLst/>
          </a:prstGeom>
          <a:noFill/>
        </p:spPr>
        <p:txBody>
          <a:bodyPr wrap="none">
            <a:spAutoFit/>
          </a:bodyPr>
          <a:lstStyle/>
          <a:p>
            <a:r>
              <a:rPr sz="800">
                <a:solidFill>
                  <a:srgbClr val="5DADE8"/>
                </a:solidFill>
                <a:hlinkClick r:id="rId11"/>
              </a:rPr>
              <a:t>https://qiita.com/io0323/items/cf840c2857c8df39ec99</a:t>
            </a:r>
          </a:p>
        </p:txBody>
      </p:sp>
      <p:sp>
        <p:nvSpPr>
          <p:cNvPr id="26" name="TextBox 25"/>
          <p:cNvSpPr txBox="1"/>
          <p:nvPr/>
        </p:nvSpPr>
        <p:spPr>
          <a:xfrm>
            <a:off x="365760" y="5337810"/>
            <a:ext cx="11430000" cy="214312"/>
          </a:xfrm>
          <a:prstGeom prst="rect">
            <a:avLst/>
          </a:prstGeom>
          <a:noFill/>
        </p:spPr>
        <p:txBody>
          <a:bodyPr wrap="none">
            <a:spAutoFit/>
          </a:bodyPr>
          <a:lstStyle/>
          <a:p>
            <a:r>
              <a:rPr sz="800" b="1">
                <a:solidFill>
                  <a:srgbClr val="7F8C8D"/>
                </a:solidFill>
              </a:rPr>
              <a:t>[Qiita]  </a:t>
            </a:r>
            <a:r>
              <a:rPr sz="1000" b="1">
                <a:solidFill>
                  <a:srgbClr val="CCDDEE"/>
                </a:solidFill>
              </a:rPr>
              <a:t>温泉トロジーでオントロジーの効能に思いを馳せてみた</a:t>
            </a:r>
          </a:p>
        </p:txBody>
      </p:sp>
      <p:sp>
        <p:nvSpPr>
          <p:cNvPr id="27" name="TextBox 26"/>
          <p:cNvSpPr txBox="1"/>
          <p:nvPr/>
        </p:nvSpPr>
        <p:spPr>
          <a:xfrm>
            <a:off x="640080" y="5552122"/>
            <a:ext cx="11155680" cy="214312"/>
          </a:xfrm>
          <a:prstGeom prst="rect">
            <a:avLst/>
          </a:prstGeom>
          <a:noFill/>
        </p:spPr>
        <p:txBody>
          <a:bodyPr wrap="none">
            <a:spAutoFit/>
          </a:bodyPr>
          <a:lstStyle/>
          <a:p>
            <a:r>
              <a:rPr sz="800">
                <a:solidFill>
                  <a:srgbClr val="5DADE8"/>
                </a:solidFill>
                <a:hlinkClick r:id="rId12"/>
              </a:rPr>
              <a:t>https://qiita.com/kazuneet/items/8b890ba7903326209729</a:t>
            </a:r>
          </a:p>
        </p:txBody>
      </p:sp>
      <p:sp>
        <p:nvSpPr>
          <p:cNvPr id="28" name="TextBox 27"/>
          <p:cNvSpPr txBox="1"/>
          <p:nvPr/>
        </p:nvSpPr>
        <p:spPr>
          <a:xfrm>
            <a:off x="365760" y="5766435"/>
            <a:ext cx="11430000" cy="214312"/>
          </a:xfrm>
          <a:prstGeom prst="rect">
            <a:avLst/>
          </a:prstGeom>
          <a:noFill/>
        </p:spPr>
        <p:txBody>
          <a:bodyPr wrap="none">
            <a:spAutoFit/>
          </a:bodyPr>
          <a:lstStyle/>
          <a:p>
            <a:r>
              <a:rPr sz="800" b="1">
                <a:solidFill>
                  <a:srgbClr val="7F8C8D"/>
                </a:solidFill>
              </a:rPr>
              <a:t>[Zenn]  </a:t>
            </a:r>
            <a:r>
              <a:rPr sz="1000" b="1">
                <a:solidFill>
                  <a:srgbClr val="CCDDEE"/>
                </a:solidFill>
              </a:rPr>
              <a:t>自動検索されるLLMメモリと、明示的呼び出しのメモリの設計差</a:t>
            </a:r>
          </a:p>
        </p:txBody>
      </p:sp>
      <p:sp>
        <p:nvSpPr>
          <p:cNvPr id="29" name="TextBox 28"/>
          <p:cNvSpPr txBox="1"/>
          <p:nvPr/>
        </p:nvSpPr>
        <p:spPr>
          <a:xfrm>
            <a:off x="640080" y="5980747"/>
            <a:ext cx="11155680" cy="214312"/>
          </a:xfrm>
          <a:prstGeom prst="rect">
            <a:avLst/>
          </a:prstGeom>
          <a:noFill/>
        </p:spPr>
        <p:txBody>
          <a:bodyPr wrap="none">
            <a:spAutoFit/>
          </a:bodyPr>
          <a:lstStyle/>
          <a:p>
            <a:r>
              <a:rPr sz="800">
                <a:solidFill>
                  <a:srgbClr val="5DADE8"/>
                </a:solidFill>
                <a:hlinkClick r:id="rId13"/>
              </a:rPr>
              <a:t>https://zenn.dev/every_ai_recipe/articles/ai-memory-work-mode-settings</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1A25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960120"/>
          </a:xfrm>
          <a:prstGeom prst="rect">
            <a:avLst/>
          </a:prstGeom>
          <a:solidFill>
            <a:srgbClr val="2C3C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64592" cy="960120"/>
          </a:xfrm>
          <a:prstGeom prst="rect">
            <a:avLst/>
          </a:prstGeom>
          <a:solidFill>
            <a:srgbClr val="7F8C8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118872"/>
            <a:ext cx="11430000" cy="749808"/>
          </a:xfrm>
          <a:prstGeom prst="rect">
            <a:avLst/>
          </a:prstGeom>
          <a:noFill/>
        </p:spPr>
        <p:txBody>
          <a:bodyPr wrap="square">
            <a:spAutoFit/>
          </a:bodyPr>
          <a:lstStyle/>
          <a:p>
            <a:pPr algn="l"/>
            <a:r>
              <a:rPr sz="2000" b="1">
                <a:solidFill>
                  <a:srgbClr val="FFFFFF"/>
                </a:solidFill>
              </a:rPr>
              <a:t>その他の記事　(7 / 9)</a:t>
            </a:r>
          </a:p>
        </p:txBody>
      </p:sp>
      <p:sp>
        <p:nvSpPr>
          <p:cNvPr id="6" name="TextBox 5"/>
          <p:cNvSpPr txBox="1"/>
          <p:nvPr/>
        </p:nvSpPr>
        <p:spPr>
          <a:xfrm>
            <a:off x="365760" y="1051560"/>
            <a:ext cx="11430000" cy="214312"/>
          </a:xfrm>
          <a:prstGeom prst="rect">
            <a:avLst/>
          </a:prstGeom>
          <a:noFill/>
        </p:spPr>
        <p:txBody>
          <a:bodyPr wrap="none">
            <a:spAutoFit/>
          </a:bodyPr>
          <a:lstStyle/>
          <a:p>
            <a:r>
              <a:rPr sz="800" b="1">
                <a:solidFill>
                  <a:srgbClr val="7F8C8D"/>
                </a:solidFill>
              </a:rPr>
              <a:t>[Zenn]  </a:t>
            </a:r>
            <a:r>
              <a:rPr sz="1000" b="1">
                <a:solidFill>
                  <a:srgbClr val="CCDDEE"/>
                </a:solidFill>
              </a:rPr>
              <a:t>ChatGPTを長期利用していたら、「記憶」より奇妙なものが見えてきた</a:t>
            </a:r>
          </a:p>
        </p:txBody>
      </p:sp>
      <p:sp>
        <p:nvSpPr>
          <p:cNvPr id="7" name="TextBox 6"/>
          <p:cNvSpPr txBox="1"/>
          <p:nvPr/>
        </p:nvSpPr>
        <p:spPr>
          <a:xfrm>
            <a:off x="640080" y="1265872"/>
            <a:ext cx="11155680" cy="214312"/>
          </a:xfrm>
          <a:prstGeom prst="rect">
            <a:avLst/>
          </a:prstGeom>
          <a:noFill/>
        </p:spPr>
        <p:txBody>
          <a:bodyPr wrap="none">
            <a:spAutoFit/>
          </a:bodyPr>
          <a:lstStyle/>
          <a:p>
            <a:r>
              <a:rPr sz="800">
                <a:solidFill>
                  <a:srgbClr val="5DADE8"/>
                </a:solidFill>
                <a:hlinkClick r:id="rId2"/>
              </a:rPr>
              <a:t>https://zenn.dev/chalcedony/articles/892dd57656c2b4</a:t>
            </a:r>
          </a:p>
        </p:txBody>
      </p:sp>
      <p:sp>
        <p:nvSpPr>
          <p:cNvPr id="8" name="TextBox 7"/>
          <p:cNvSpPr txBox="1"/>
          <p:nvPr/>
        </p:nvSpPr>
        <p:spPr>
          <a:xfrm>
            <a:off x="365760" y="1480185"/>
            <a:ext cx="11430000" cy="214312"/>
          </a:xfrm>
          <a:prstGeom prst="rect">
            <a:avLst/>
          </a:prstGeom>
          <a:noFill/>
        </p:spPr>
        <p:txBody>
          <a:bodyPr wrap="none">
            <a:spAutoFit/>
          </a:bodyPr>
          <a:lstStyle/>
          <a:p>
            <a:r>
              <a:rPr sz="800" b="1">
                <a:solidFill>
                  <a:srgbClr val="7F8C8D"/>
                </a:solidFill>
              </a:rPr>
              <a:t>[Qiita]  </a:t>
            </a:r>
            <a:r>
              <a:rPr sz="1000" b="1">
                <a:solidFill>
                  <a:srgbClr val="CCDDEE"/>
                </a:solidFill>
              </a:rPr>
              <a:t>【2026年版】Claudeモデル徹底比較 — ChatGPT・Geminiとの違いと使い分けガイド</a:t>
            </a:r>
          </a:p>
        </p:txBody>
      </p:sp>
      <p:sp>
        <p:nvSpPr>
          <p:cNvPr id="9" name="TextBox 8"/>
          <p:cNvSpPr txBox="1"/>
          <p:nvPr/>
        </p:nvSpPr>
        <p:spPr>
          <a:xfrm>
            <a:off x="640080" y="1694497"/>
            <a:ext cx="11155680" cy="214312"/>
          </a:xfrm>
          <a:prstGeom prst="rect">
            <a:avLst/>
          </a:prstGeom>
          <a:noFill/>
        </p:spPr>
        <p:txBody>
          <a:bodyPr wrap="none">
            <a:spAutoFit/>
          </a:bodyPr>
          <a:lstStyle/>
          <a:p>
            <a:r>
              <a:rPr sz="800">
                <a:solidFill>
                  <a:srgbClr val="5DADE8"/>
                </a:solidFill>
                <a:hlinkClick r:id="rId3"/>
              </a:rPr>
              <a:t>https://qiita.com/nakahashi-naoto/items/597e06b90a8f10e2947e</a:t>
            </a:r>
          </a:p>
        </p:txBody>
      </p:sp>
      <p:sp>
        <p:nvSpPr>
          <p:cNvPr id="10" name="TextBox 9"/>
          <p:cNvSpPr txBox="1"/>
          <p:nvPr/>
        </p:nvSpPr>
        <p:spPr>
          <a:xfrm>
            <a:off x="365760" y="1908810"/>
            <a:ext cx="11430000" cy="214312"/>
          </a:xfrm>
          <a:prstGeom prst="rect">
            <a:avLst/>
          </a:prstGeom>
          <a:noFill/>
        </p:spPr>
        <p:txBody>
          <a:bodyPr wrap="none">
            <a:spAutoFit/>
          </a:bodyPr>
          <a:lstStyle/>
          <a:p>
            <a:r>
              <a:rPr sz="800" b="1">
                <a:solidFill>
                  <a:srgbClr val="7F8C8D"/>
                </a:solidFill>
              </a:rPr>
              <a:t>[Qiita]  </a:t>
            </a:r>
            <a:r>
              <a:rPr sz="1000" b="1">
                <a:solidFill>
                  <a:srgbClr val="CCDDEE"/>
                </a:solidFill>
              </a:rPr>
              <a:t>2026/08/14 今日のQiitaトレンド記事をポッドキャストで聴こう！</a:t>
            </a:r>
          </a:p>
        </p:txBody>
      </p:sp>
      <p:sp>
        <p:nvSpPr>
          <p:cNvPr id="11" name="TextBox 10"/>
          <p:cNvSpPr txBox="1"/>
          <p:nvPr/>
        </p:nvSpPr>
        <p:spPr>
          <a:xfrm>
            <a:off x="640080" y="2123122"/>
            <a:ext cx="11155680" cy="214312"/>
          </a:xfrm>
          <a:prstGeom prst="rect">
            <a:avLst/>
          </a:prstGeom>
          <a:noFill/>
        </p:spPr>
        <p:txBody>
          <a:bodyPr wrap="none">
            <a:spAutoFit/>
          </a:bodyPr>
          <a:lstStyle/>
          <a:p>
            <a:r>
              <a:rPr sz="800">
                <a:solidFill>
                  <a:srgbClr val="5DADE8"/>
                </a:solidFill>
                <a:hlinkClick r:id="rId4"/>
              </a:rPr>
              <a:t>https://qiita.com/ennagara128/items/ac5346391df3f0dabd54</a:t>
            </a:r>
          </a:p>
        </p:txBody>
      </p:sp>
      <p:sp>
        <p:nvSpPr>
          <p:cNvPr id="12" name="TextBox 11"/>
          <p:cNvSpPr txBox="1"/>
          <p:nvPr/>
        </p:nvSpPr>
        <p:spPr>
          <a:xfrm>
            <a:off x="365760" y="2337435"/>
            <a:ext cx="11430000" cy="214312"/>
          </a:xfrm>
          <a:prstGeom prst="rect">
            <a:avLst/>
          </a:prstGeom>
          <a:noFill/>
        </p:spPr>
        <p:txBody>
          <a:bodyPr wrap="none">
            <a:spAutoFit/>
          </a:bodyPr>
          <a:lstStyle/>
          <a:p>
            <a:r>
              <a:rPr sz="800" b="1">
                <a:solidFill>
                  <a:srgbClr val="7F8C8D"/>
                </a:solidFill>
              </a:rPr>
              <a:t>[Zenn]  </a:t>
            </a:r>
            <a:r>
              <a:rPr sz="1000" b="1">
                <a:solidFill>
                  <a:srgbClr val="CCDDEE"/>
                </a:solidFill>
              </a:rPr>
              <a:t>LLM の合成データ学習でモデル崩壊を分ける更新経路</a:t>
            </a:r>
          </a:p>
        </p:txBody>
      </p:sp>
      <p:sp>
        <p:nvSpPr>
          <p:cNvPr id="13" name="TextBox 12"/>
          <p:cNvSpPr txBox="1"/>
          <p:nvPr/>
        </p:nvSpPr>
        <p:spPr>
          <a:xfrm>
            <a:off x="640080" y="2551747"/>
            <a:ext cx="11155680" cy="214312"/>
          </a:xfrm>
          <a:prstGeom prst="rect">
            <a:avLst/>
          </a:prstGeom>
          <a:noFill/>
        </p:spPr>
        <p:txBody>
          <a:bodyPr wrap="none">
            <a:spAutoFit/>
          </a:bodyPr>
          <a:lstStyle/>
          <a:p>
            <a:r>
              <a:rPr sz="800">
                <a:solidFill>
                  <a:srgbClr val="5DADE8"/>
                </a:solidFill>
                <a:hlinkClick r:id="rId5"/>
              </a:rPr>
              <a:t>https://zenn.dev/id774/articles/ec528731c19d05</a:t>
            </a:r>
          </a:p>
        </p:txBody>
      </p:sp>
      <p:sp>
        <p:nvSpPr>
          <p:cNvPr id="14" name="TextBox 13"/>
          <p:cNvSpPr txBox="1"/>
          <p:nvPr/>
        </p:nvSpPr>
        <p:spPr>
          <a:xfrm>
            <a:off x="365760" y="2766060"/>
            <a:ext cx="11430000" cy="214312"/>
          </a:xfrm>
          <a:prstGeom prst="rect">
            <a:avLst/>
          </a:prstGeom>
          <a:noFill/>
        </p:spPr>
        <p:txBody>
          <a:bodyPr wrap="none">
            <a:spAutoFit/>
          </a:bodyPr>
          <a:lstStyle/>
          <a:p>
            <a:r>
              <a:rPr sz="800" b="1">
                <a:solidFill>
                  <a:srgbClr val="7F8C8D"/>
                </a:solidFill>
              </a:rPr>
              <a:t>[Zenn]  </a:t>
            </a:r>
            <a:r>
              <a:rPr sz="1000" b="1">
                <a:solidFill>
                  <a:srgbClr val="CCDDEE"/>
                </a:solidFill>
              </a:rPr>
              <a:t>Xの「おすすめ」を候補取得からランキングまで読み解く - x-algorithm</a:t>
            </a:r>
          </a:p>
        </p:txBody>
      </p:sp>
      <p:sp>
        <p:nvSpPr>
          <p:cNvPr id="15" name="TextBox 14"/>
          <p:cNvSpPr txBox="1"/>
          <p:nvPr/>
        </p:nvSpPr>
        <p:spPr>
          <a:xfrm>
            <a:off x="640080" y="2980372"/>
            <a:ext cx="11155680" cy="214312"/>
          </a:xfrm>
          <a:prstGeom prst="rect">
            <a:avLst/>
          </a:prstGeom>
          <a:noFill/>
        </p:spPr>
        <p:txBody>
          <a:bodyPr wrap="none">
            <a:spAutoFit/>
          </a:bodyPr>
          <a:lstStyle/>
          <a:p>
            <a:r>
              <a:rPr sz="800">
                <a:solidFill>
                  <a:srgbClr val="5DADE8"/>
                </a:solidFill>
                <a:hlinkClick r:id="rId6"/>
              </a:rPr>
              <a:t>https://zenn.dev/suwash/articles/x-algorithm_20260814</a:t>
            </a:r>
          </a:p>
        </p:txBody>
      </p:sp>
      <p:sp>
        <p:nvSpPr>
          <p:cNvPr id="16" name="TextBox 15"/>
          <p:cNvSpPr txBox="1"/>
          <p:nvPr/>
        </p:nvSpPr>
        <p:spPr>
          <a:xfrm>
            <a:off x="365760" y="3194685"/>
            <a:ext cx="11430000" cy="214312"/>
          </a:xfrm>
          <a:prstGeom prst="rect">
            <a:avLst/>
          </a:prstGeom>
          <a:noFill/>
        </p:spPr>
        <p:txBody>
          <a:bodyPr wrap="none">
            <a:spAutoFit/>
          </a:bodyPr>
          <a:lstStyle/>
          <a:p>
            <a:r>
              <a:rPr sz="800" b="1">
                <a:solidFill>
                  <a:srgbClr val="7F8C8D"/>
                </a:solidFill>
              </a:rPr>
              <a:t>[Zenn]  </a:t>
            </a:r>
            <a:r>
              <a:rPr sz="1000" b="1">
                <a:solidFill>
                  <a:srgbClr val="CCDDEE"/>
                </a:solidFill>
              </a:rPr>
              <a:t>機械学習プロジェクトのソースコード構造パターン</a:t>
            </a:r>
          </a:p>
        </p:txBody>
      </p:sp>
      <p:sp>
        <p:nvSpPr>
          <p:cNvPr id="17" name="TextBox 16"/>
          <p:cNvSpPr txBox="1"/>
          <p:nvPr/>
        </p:nvSpPr>
        <p:spPr>
          <a:xfrm>
            <a:off x="640080" y="3408997"/>
            <a:ext cx="11155680" cy="214312"/>
          </a:xfrm>
          <a:prstGeom prst="rect">
            <a:avLst/>
          </a:prstGeom>
          <a:noFill/>
        </p:spPr>
        <p:txBody>
          <a:bodyPr wrap="none">
            <a:spAutoFit/>
          </a:bodyPr>
          <a:lstStyle/>
          <a:p>
            <a:r>
              <a:rPr sz="800">
                <a:solidFill>
                  <a:srgbClr val="5DADE8"/>
                </a:solidFill>
                <a:hlinkClick r:id="rId7"/>
              </a:rPr>
              <a:t>https://zenn.dev/takeshi_teshima/articles/d9cca55dcd7119</a:t>
            </a:r>
          </a:p>
        </p:txBody>
      </p:sp>
      <p:sp>
        <p:nvSpPr>
          <p:cNvPr id="18" name="TextBox 17"/>
          <p:cNvSpPr txBox="1"/>
          <p:nvPr/>
        </p:nvSpPr>
        <p:spPr>
          <a:xfrm>
            <a:off x="365760" y="3623310"/>
            <a:ext cx="11430000" cy="214312"/>
          </a:xfrm>
          <a:prstGeom prst="rect">
            <a:avLst/>
          </a:prstGeom>
          <a:noFill/>
        </p:spPr>
        <p:txBody>
          <a:bodyPr wrap="none">
            <a:spAutoFit/>
          </a:bodyPr>
          <a:lstStyle/>
          <a:p>
            <a:r>
              <a:rPr sz="800" b="1">
                <a:solidFill>
                  <a:srgbClr val="7F8C8D"/>
                </a:solidFill>
              </a:rPr>
              <a:t>[Qiita]  </a:t>
            </a:r>
            <a:r>
              <a:rPr sz="1000" b="1">
                <a:solidFill>
                  <a:srgbClr val="CCDDEE"/>
                </a:solidFill>
              </a:rPr>
              <a:t>self-consistencyは難問で逆効果、GPQAの6割で精度が落ちた</a:t>
            </a:r>
          </a:p>
        </p:txBody>
      </p:sp>
      <p:sp>
        <p:nvSpPr>
          <p:cNvPr id="19" name="TextBox 18"/>
          <p:cNvSpPr txBox="1"/>
          <p:nvPr/>
        </p:nvSpPr>
        <p:spPr>
          <a:xfrm>
            <a:off x="640080" y="3837622"/>
            <a:ext cx="11155680" cy="214312"/>
          </a:xfrm>
          <a:prstGeom prst="rect">
            <a:avLst/>
          </a:prstGeom>
          <a:noFill/>
        </p:spPr>
        <p:txBody>
          <a:bodyPr wrap="none">
            <a:spAutoFit/>
          </a:bodyPr>
          <a:lstStyle/>
          <a:p>
            <a:r>
              <a:rPr sz="800">
                <a:solidFill>
                  <a:srgbClr val="5DADE8"/>
                </a:solidFill>
                <a:hlinkClick r:id="rId8"/>
              </a:rPr>
              <a:t>https://qiita.com/okssusucha/items/7f6571fe3910ee3e8835</a:t>
            </a:r>
          </a:p>
        </p:txBody>
      </p:sp>
      <p:sp>
        <p:nvSpPr>
          <p:cNvPr id="20" name="TextBox 19"/>
          <p:cNvSpPr txBox="1"/>
          <p:nvPr/>
        </p:nvSpPr>
        <p:spPr>
          <a:xfrm>
            <a:off x="365760" y="4051935"/>
            <a:ext cx="11430000" cy="214312"/>
          </a:xfrm>
          <a:prstGeom prst="rect">
            <a:avLst/>
          </a:prstGeom>
          <a:noFill/>
        </p:spPr>
        <p:txBody>
          <a:bodyPr wrap="none">
            <a:spAutoFit/>
          </a:bodyPr>
          <a:lstStyle/>
          <a:p>
            <a:r>
              <a:rPr sz="800" b="1">
                <a:solidFill>
                  <a:srgbClr val="7F8C8D"/>
                </a:solidFill>
              </a:rPr>
              <a:t>[Qiita]  </a:t>
            </a:r>
            <a:r>
              <a:rPr sz="1000" b="1">
                <a:solidFill>
                  <a:srgbClr val="CCDDEE"/>
                </a:solidFill>
              </a:rPr>
              <a:t>「AIへの指示がうまい人」は、実は言語化がうまいだけ——AIで鍛える一生モノの力</a:t>
            </a:r>
          </a:p>
        </p:txBody>
      </p:sp>
      <p:sp>
        <p:nvSpPr>
          <p:cNvPr id="21" name="TextBox 20"/>
          <p:cNvSpPr txBox="1"/>
          <p:nvPr/>
        </p:nvSpPr>
        <p:spPr>
          <a:xfrm>
            <a:off x="640080" y="4266247"/>
            <a:ext cx="11155680" cy="214312"/>
          </a:xfrm>
          <a:prstGeom prst="rect">
            <a:avLst/>
          </a:prstGeom>
          <a:noFill/>
        </p:spPr>
        <p:txBody>
          <a:bodyPr wrap="none">
            <a:spAutoFit/>
          </a:bodyPr>
          <a:lstStyle/>
          <a:p>
            <a:r>
              <a:rPr sz="800">
                <a:solidFill>
                  <a:srgbClr val="5DADE8"/>
                </a:solidFill>
                <a:hlinkClick r:id="rId9"/>
              </a:rPr>
              <a:t>https://qiita.com/Skillsheet-Port/items/0ea38eeebb9b94dc708e</a:t>
            </a:r>
          </a:p>
        </p:txBody>
      </p:sp>
      <p:sp>
        <p:nvSpPr>
          <p:cNvPr id="22" name="TextBox 21"/>
          <p:cNvSpPr txBox="1"/>
          <p:nvPr/>
        </p:nvSpPr>
        <p:spPr>
          <a:xfrm>
            <a:off x="365760" y="4480560"/>
            <a:ext cx="11430000" cy="214312"/>
          </a:xfrm>
          <a:prstGeom prst="rect">
            <a:avLst/>
          </a:prstGeom>
          <a:noFill/>
        </p:spPr>
        <p:txBody>
          <a:bodyPr wrap="none">
            <a:spAutoFit/>
          </a:bodyPr>
          <a:lstStyle/>
          <a:p>
            <a:r>
              <a:rPr sz="800" b="1">
                <a:solidFill>
                  <a:srgbClr val="7F8C8D"/>
                </a:solidFill>
              </a:rPr>
              <a:t>[Zenn]  </a:t>
            </a:r>
            <a:r>
              <a:rPr sz="1000" b="1">
                <a:solidFill>
                  <a:srgbClr val="CCDDEE"/>
                </a:solidFill>
              </a:rPr>
              <a:t>データの取得順序が未来情報になる — 機械学習で最も見つけにくいリークの話</a:t>
            </a:r>
          </a:p>
        </p:txBody>
      </p:sp>
      <p:sp>
        <p:nvSpPr>
          <p:cNvPr id="23" name="TextBox 22"/>
          <p:cNvSpPr txBox="1"/>
          <p:nvPr/>
        </p:nvSpPr>
        <p:spPr>
          <a:xfrm>
            <a:off x="640080" y="4694872"/>
            <a:ext cx="11155680" cy="214312"/>
          </a:xfrm>
          <a:prstGeom prst="rect">
            <a:avLst/>
          </a:prstGeom>
          <a:noFill/>
        </p:spPr>
        <p:txBody>
          <a:bodyPr wrap="none">
            <a:spAutoFit/>
          </a:bodyPr>
          <a:lstStyle/>
          <a:p>
            <a:r>
              <a:rPr sz="800">
                <a:solidFill>
                  <a:srgbClr val="5DADE8"/>
                </a:solidFill>
                <a:hlinkClick r:id="rId10"/>
              </a:rPr>
              <a:t>https://zenn.dev/rindokulab/articles/0c583944dfb480</a:t>
            </a:r>
          </a:p>
        </p:txBody>
      </p:sp>
      <p:sp>
        <p:nvSpPr>
          <p:cNvPr id="24" name="TextBox 23"/>
          <p:cNvSpPr txBox="1"/>
          <p:nvPr/>
        </p:nvSpPr>
        <p:spPr>
          <a:xfrm>
            <a:off x="365760" y="4909185"/>
            <a:ext cx="11430000" cy="214312"/>
          </a:xfrm>
          <a:prstGeom prst="rect">
            <a:avLst/>
          </a:prstGeom>
          <a:noFill/>
        </p:spPr>
        <p:txBody>
          <a:bodyPr wrap="none">
            <a:spAutoFit/>
          </a:bodyPr>
          <a:lstStyle/>
          <a:p>
            <a:r>
              <a:rPr sz="800" b="1">
                <a:solidFill>
                  <a:srgbClr val="7F8C8D"/>
                </a:solidFill>
              </a:rPr>
              <a:t>[Zenn]  </a:t>
            </a:r>
            <a:r>
              <a:rPr sz="1000" b="1">
                <a:solidFill>
                  <a:srgbClr val="CCDDEE"/>
                </a:solidFill>
              </a:rPr>
              <a:t>単一コンテキストに5役を立てる円卓プロンプト、対立を生むのは役割ラベルでなく利害</a:t>
            </a:r>
          </a:p>
        </p:txBody>
      </p:sp>
      <p:sp>
        <p:nvSpPr>
          <p:cNvPr id="25" name="TextBox 24"/>
          <p:cNvSpPr txBox="1"/>
          <p:nvPr/>
        </p:nvSpPr>
        <p:spPr>
          <a:xfrm>
            <a:off x="640080" y="5123497"/>
            <a:ext cx="11155680" cy="214312"/>
          </a:xfrm>
          <a:prstGeom prst="rect">
            <a:avLst/>
          </a:prstGeom>
          <a:noFill/>
        </p:spPr>
        <p:txBody>
          <a:bodyPr wrap="none">
            <a:spAutoFit/>
          </a:bodyPr>
          <a:lstStyle/>
          <a:p>
            <a:r>
              <a:rPr sz="800">
                <a:solidFill>
                  <a:srgbClr val="5DADE8"/>
                </a:solidFill>
                <a:hlinkClick r:id="rId11"/>
              </a:rPr>
              <a:t>https://zenn.dev/every_ai_recipe/articles/ai-five-role-roundtable</a:t>
            </a:r>
          </a:p>
        </p:txBody>
      </p:sp>
      <p:sp>
        <p:nvSpPr>
          <p:cNvPr id="26" name="TextBox 25"/>
          <p:cNvSpPr txBox="1"/>
          <p:nvPr/>
        </p:nvSpPr>
        <p:spPr>
          <a:xfrm>
            <a:off x="365760" y="5337810"/>
            <a:ext cx="11430000" cy="214312"/>
          </a:xfrm>
          <a:prstGeom prst="rect">
            <a:avLst/>
          </a:prstGeom>
          <a:noFill/>
        </p:spPr>
        <p:txBody>
          <a:bodyPr wrap="none">
            <a:spAutoFit/>
          </a:bodyPr>
          <a:lstStyle/>
          <a:p>
            <a:r>
              <a:rPr sz="800" b="1">
                <a:solidFill>
                  <a:srgbClr val="7F8C8D"/>
                </a:solidFill>
              </a:rPr>
              <a:t>[Zenn]  </a:t>
            </a:r>
            <a:r>
              <a:rPr sz="1000" b="1">
                <a:solidFill>
                  <a:srgbClr val="CCDDEE"/>
                </a:solidFill>
              </a:rPr>
              <a:t>文字数指定を守れないLLMに、コード実行ツールで正確なlen()を渡す</a:t>
            </a:r>
          </a:p>
        </p:txBody>
      </p:sp>
      <p:sp>
        <p:nvSpPr>
          <p:cNvPr id="27" name="TextBox 26"/>
          <p:cNvSpPr txBox="1"/>
          <p:nvPr/>
        </p:nvSpPr>
        <p:spPr>
          <a:xfrm>
            <a:off x="640080" y="5552122"/>
            <a:ext cx="11155680" cy="214312"/>
          </a:xfrm>
          <a:prstGeom prst="rect">
            <a:avLst/>
          </a:prstGeom>
          <a:noFill/>
        </p:spPr>
        <p:txBody>
          <a:bodyPr wrap="none">
            <a:spAutoFit/>
          </a:bodyPr>
          <a:lstStyle/>
          <a:p>
            <a:r>
              <a:rPr sz="800">
                <a:solidFill>
                  <a:srgbClr val="5DADE8"/>
                </a:solidFill>
                <a:hlinkClick r:id="rId12"/>
              </a:rPr>
              <a:t>https://zenn.dev/every_ai_recipe/articles/ai-char-count-two-step-fix</a:t>
            </a:r>
          </a:p>
        </p:txBody>
      </p:sp>
      <p:sp>
        <p:nvSpPr>
          <p:cNvPr id="28" name="TextBox 27"/>
          <p:cNvSpPr txBox="1"/>
          <p:nvPr/>
        </p:nvSpPr>
        <p:spPr>
          <a:xfrm>
            <a:off x="365760" y="5766435"/>
            <a:ext cx="11430000" cy="214312"/>
          </a:xfrm>
          <a:prstGeom prst="rect">
            <a:avLst/>
          </a:prstGeom>
          <a:noFill/>
        </p:spPr>
        <p:txBody>
          <a:bodyPr wrap="none">
            <a:spAutoFit/>
          </a:bodyPr>
          <a:lstStyle/>
          <a:p>
            <a:r>
              <a:rPr sz="800" b="1">
                <a:solidFill>
                  <a:srgbClr val="7F8C8D"/>
                </a:solidFill>
              </a:rPr>
              <a:t>[Qiita]  </a:t>
            </a:r>
            <a:r>
              <a:rPr sz="1000" b="1">
                <a:solidFill>
                  <a:srgbClr val="CCDDEE"/>
                </a:solidFill>
              </a:rPr>
              <a:t>AIを使うときの感覚：上手な指示と長いチャットの扱い方</a:t>
            </a:r>
          </a:p>
        </p:txBody>
      </p:sp>
      <p:sp>
        <p:nvSpPr>
          <p:cNvPr id="29" name="TextBox 28"/>
          <p:cNvSpPr txBox="1"/>
          <p:nvPr/>
        </p:nvSpPr>
        <p:spPr>
          <a:xfrm>
            <a:off x="640080" y="5980747"/>
            <a:ext cx="11155680" cy="214312"/>
          </a:xfrm>
          <a:prstGeom prst="rect">
            <a:avLst/>
          </a:prstGeom>
          <a:noFill/>
        </p:spPr>
        <p:txBody>
          <a:bodyPr wrap="none">
            <a:spAutoFit/>
          </a:bodyPr>
          <a:lstStyle/>
          <a:p>
            <a:r>
              <a:rPr sz="800">
                <a:solidFill>
                  <a:srgbClr val="5DADE8"/>
                </a:solidFill>
                <a:hlinkClick r:id="rId13"/>
              </a:rPr>
              <a:t>https://qiita.com/ramutarafarm/items/3625867c29a869e9f94d</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1A25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960120"/>
          </a:xfrm>
          <a:prstGeom prst="rect">
            <a:avLst/>
          </a:prstGeom>
          <a:solidFill>
            <a:srgbClr val="2C3C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64592" cy="960120"/>
          </a:xfrm>
          <a:prstGeom prst="rect">
            <a:avLst/>
          </a:prstGeom>
          <a:solidFill>
            <a:srgbClr val="7F8C8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118872"/>
            <a:ext cx="11430000" cy="749808"/>
          </a:xfrm>
          <a:prstGeom prst="rect">
            <a:avLst/>
          </a:prstGeom>
          <a:noFill/>
        </p:spPr>
        <p:txBody>
          <a:bodyPr wrap="square">
            <a:spAutoFit/>
          </a:bodyPr>
          <a:lstStyle/>
          <a:p>
            <a:pPr algn="l"/>
            <a:r>
              <a:rPr sz="2000" b="1">
                <a:solidFill>
                  <a:srgbClr val="FFFFFF"/>
                </a:solidFill>
              </a:rPr>
              <a:t>その他の記事　(8 / 9)</a:t>
            </a:r>
          </a:p>
        </p:txBody>
      </p:sp>
      <p:sp>
        <p:nvSpPr>
          <p:cNvPr id="6" name="TextBox 5"/>
          <p:cNvSpPr txBox="1"/>
          <p:nvPr/>
        </p:nvSpPr>
        <p:spPr>
          <a:xfrm>
            <a:off x="365760" y="1051560"/>
            <a:ext cx="11430000" cy="214312"/>
          </a:xfrm>
          <a:prstGeom prst="rect">
            <a:avLst/>
          </a:prstGeom>
          <a:noFill/>
        </p:spPr>
        <p:txBody>
          <a:bodyPr wrap="none">
            <a:spAutoFit/>
          </a:bodyPr>
          <a:lstStyle/>
          <a:p>
            <a:r>
              <a:rPr sz="800" b="1">
                <a:solidFill>
                  <a:srgbClr val="7F8C8D"/>
                </a:solidFill>
              </a:rPr>
              <a:t>[Qiita]  </a:t>
            </a:r>
            <a:r>
              <a:rPr sz="1000" b="1">
                <a:solidFill>
                  <a:srgbClr val="CCDDEE"/>
                </a:solidFill>
              </a:rPr>
              <a:t>セルフ夏期講習4日目：RNA-seqデータをPCAで可視化し、癌種を分類する</a:t>
            </a:r>
          </a:p>
        </p:txBody>
      </p:sp>
      <p:sp>
        <p:nvSpPr>
          <p:cNvPr id="7" name="TextBox 6"/>
          <p:cNvSpPr txBox="1"/>
          <p:nvPr/>
        </p:nvSpPr>
        <p:spPr>
          <a:xfrm>
            <a:off x="640080" y="1265872"/>
            <a:ext cx="11155680" cy="214312"/>
          </a:xfrm>
          <a:prstGeom prst="rect">
            <a:avLst/>
          </a:prstGeom>
          <a:noFill/>
        </p:spPr>
        <p:txBody>
          <a:bodyPr wrap="none">
            <a:spAutoFit/>
          </a:bodyPr>
          <a:lstStyle/>
          <a:p>
            <a:r>
              <a:rPr sz="800">
                <a:solidFill>
                  <a:srgbClr val="5DADE8"/>
                </a:solidFill>
                <a:hlinkClick r:id="rId2"/>
              </a:rPr>
              <a:t>https://qiita.com/bacbac/items/b8b6ce31be3b4d4ae9fb</a:t>
            </a:r>
          </a:p>
        </p:txBody>
      </p:sp>
      <p:sp>
        <p:nvSpPr>
          <p:cNvPr id="8" name="TextBox 7"/>
          <p:cNvSpPr txBox="1"/>
          <p:nvPr/>
        </p:nvSpPr>
        <p:spPr>
          <a:xfrm>
            <a:off x="365760" y="1480185"/>
            <a:ext cx="11430000" cy="214312"/>
          </a:xfrm>
          <a:prstGeom prst="rect">
            <a:avLst/>
          </a:prstGeom>
          <a:noFill/>
        </p:spPr>
        <p:txBody>
          <a:bodyPr wrap="none">
            <a:spAutoFit/>
          </a:bodyPr>
          <a:lstStyle/>
          <a:p>
            <a:r>
              <a:rPr sz="800" b="1">
                <a:solidFill>
                  <a:srgbClr val="7F8C8D"/>
                </a:solidFill>
              </a:rPr>
              <a:t>[Zenn]  </a:t>
            </a:r>
            <a:r>
              <a:rPr sz="1000" b="1">
                <a:solidFill>
                  <a:srgbClr val="CCDDEE"/>
                </a:solidFill>
              </a:rPr>
              <a:t>スケジュール機能を使ったテック朝刊</a:t>
            </a:r>
          </a:p>
        </p:txBody>
      </p:sp>
      <p:sp>
        <p:nvSpPr>
          <p:cNvPr id="9" name="TextBox 8"/>
          <p:cNvSpPr txBox="1"/>
          <p:nvPr/>
        </p:nvSpPr>
        <p:spPr>
          <a:xfrm>
            <a:off x="640080" y="1694497"/>
            <a:ext cx="11155680" cy="214312"/>
          </a:xfrm>
          <a:prstGeom prst="rect">
            <a:avLst/>
          </a:prstGeom>
          <a:noFill/>
        </p:spPr>
        <p:txBody>
          <a:bodyPr wrap="none">
            <a:spAutoFit/>
          </a:bodyPr>
          <a:lstStyle/>
          <a:p>
            <a:r>
              <a:rPr sz="800">
                <a:solidFill>
                  <a:srgbClr val="5DADE8"/>
                </a:solidFill>
                <a:hlinkClick r:id="rId3"/>
              </a:rPr>
              <a:t>https://zenn.dev/takumi_machino/articles/gpt-work-teck-news</a:t>
            </a:r>
          </a:p>
        </p:txBody>
      </p:sp>
      <p:sp>
        <p:nvSpPr>
          <p:cNvPr id="10" name="TextBox 9"/>
          <p:cNvSpPr txBox="1"/>
          <p:nvPr/>
        </p:nvSpPr>
        <p:spPr>
          <a:xfrm>
            <a:off x="365760" y="1908810"/>
            <a:ext cx="11430000" cy="214312"/>
          </a:xfrm>
          <a:prstGeom prst="rect">
            <a:avLst/>
          </a:prstGeom>
          <a:noFill/>
        </p:spPr>
        <p:txBody>
          <a:bodyPr wrap="none">
            <a:spAutoFit/>
          </a:bodyPr>
          <a:lstStyle/>
          <a:p>
            <a:r>
              <a:rPr sz="800" b="1">
                <a:solidFill>
                  <a:srgbClr val="7F8C8D"/>
                </a:solidFill>
              </a:rPr>
              <a:t>[Qiita]  </a:t>
            </a:r>
            <a:r>
              <a:rPr sz="1000" b="1">
                <a:solidFill>
                  <a:srgbClr val="CCDDEE"/>
                </a:solidFill>
              </a:rPr>
              <a:t>コピペで使える AIにコードを書かせるプロンプト。初心者がまず覚える型と、そのまま使える例文集</a:t>
            </a:r>
          </a:p>
        </p:txBody>
      </p:sp>
      <p:sp>
        <p:nvSpPr>
          <p:cNvPr id="11" name="TextBox 10"/>
          <p:cNvSpPr txBox="1"/>
          <p:nvPr/>
        </p:nvSpPr>
        <p:spPr>
          <a:xfrm>
            <a:off x="640080" y="2123122"/>
            <a:ext cx="11155680" cy="214312"/>
          </a:xfrm>
          <a:prstGeom prst="rect">
            <a:avLst/>
          </a:prstGeom>
          <a:noFill/>
        </p:spPr>
        <p:txBody>
          <a:bodyPr wrap="none">
            <a:spAutoFit/>
          </a:bodyPr>
          <a:lstStyle/>
          <a:p>
            <a:r>
              <a:rPr sz="800">
                <a:solidFill>
                  <a:srgbClr val="5DADE8"/>
                </a:solidFill>
                <a:hlinkClick r:id="rId4"/>
              </a:rPr>
              <a:t>https://qiita.com/Rapls/items/8acc4aa395b04c184e96</a:t>
            </a:r>
          </a:p>
        </p:txBody>
      </p:sp>
      <p:sp>
        <p:nvSpPr>
          <p:cNvPr id="12" name="TextBox 11"/>
          <p:cNvSpPr txBox="1"/>
          <p:nvPr/>
        </p:nvSpPr>
        <p:spPr>
          <a:xfrm>
            <a:off x="365760" y="2337435"/>
            <a:ext cx="11430000" cy="214312"/>
          </a:xfrm>
          <a:prstGeom prst="rect">
            <a:avLst/>
          </a:prstGeom>
          <a:noFill/>
        </p:spPr>
        <p:txBody>
          <a:bodyPr wrap="none">
            <a:spAutoFit/>
          </a:bodyPr>
          <a:lstStyle/>
          <a:p>
            <a:r>
              <a:rPr sz="800" b="1">
                <a:solidFill>
                  <a:srgbClr val="7F8C8D"/>
                </a:solidFill>
              </a:rPr>
              <a:t>[Zenn]  </a:t>
            </a:r>
            <a:r>
              <a:rPr sz="1000" b="1">
                <a:solidFill>
                  <a:srgbClr val="CCDDEE"/>
                </a:solidFill>
              </a:rPr>
              <a:t>【Nishika 論文サク読み 第21回】 テーブルデータでよく使われるベンチマーク、Tabarenaについて</a:t>
            </a:r>
          </a:p>
        </p:txBody>
      </p:sp>
      <p:sp>
        <p:nvSpPr>
          <p:cNvPr id="13" name="TextBox 12"/>
          <p:cNvSpPr txBox="1"/>
          <p:nvPr/>
        </p:nvSpPr>
        <p:spPr>
          <a:xfrm>
            <a:off x="640080" y="2551747"/>
            <a:ext cx="11155680" cy="214312"/>
          </a:xfrm>
          <a:prstGeom prst="rect">
            <a:avLst/>
          </a:prstGeom>
          <a:noFill/>
        </p:spPr>
        <p:txBody>
          <a:bodyPr wrap="none">
            <a:spAutoFit/>
          </a:bodyPr>
          <a:lstStyle/>
          <a:p>
            <a:r>
              <a:rPr sz="800">
                <a:solidFill>
                  <a:srgbClr val="5DADE8"/>
                </a:solidFill>
                <a:hlinkClick r:id="rId5"/>
              </a:rPr>
              <a:t>https://zenn.dev/team_nishika/articles/783eb697ef415e</a:t>
            </a:r>
          </a:p>
        </p:txBody>
      </p:sp>
      <p:sp>
        <p:nvSpPr>
          <p:cNvPr id="14" name="TextBox 13"/>
          <p:cNvSpPr txBox="1"/>
          <p:nvPr/>
        </p:nvSpPr>
        <p:spPr>
          <a:xfrm>
            <a:off x="365760" y="2766060"/>
            <a:ext cx="11430000" cy="214312"/>
          </a:xfrm>
          <a:prstGeom prst="rect">
            <a:avLst/>
          </a:prstGeom>
          <a:noFill/>
        </p:spPr>
        <p:txBody>
          <a:bodyPr wrap="none">
            <a:spAutoFit/>
          </a:bodyPr>
          <a:lstStyle/>
          <a:p>
            <a:r>
              <a:rPr sz="800" b="1">
                <a:solidFill>
                  <a:srgbClr val="7F8C8D"/>
                </a:solidFill>
              </a:rPr>
              <a:t>[Zenn]  </a:t>
            </a:r>
            <a:r>
              <a:rPr sz="1000" b="1">
                <a:solidFill>
                  <a:srgbClr val="CCDDEE"/>
                </a:solidFill>
              </a:rPr>
              <a:t>OpenAI から商標申し立てがきた！10 万ユーザーの Chrome 拡張の名前を泣く泣く変えた話</a:t>
            </a:r>
          </a:p>
        </p:txBody>
      </p:sp>
      <p:sp>
        <p:nvSpPr>
          <p:cNvPr id="15" name="TextBox 14"/>
          <p:cNvSpPr txBox="1"/>
          <p:nvPr/>
        </p:nvSpPr>
        <p:spPr>
          <a:xfrm>
            <a:off x="640080" y="2980372"/>
            <a:ext cx="11155680" cy="214312"/>
          </a:xfrm>
          <a:prstGeom prst="rect">
            <a:avLst/>
          </a:prstGeom>
          <a:noFill/>
        </p:spPr>
        <p:txBody>
          <a:bodyPr wrap="none">
            <a:spAutoFit/>
          </a:bodyPr>
          <a:lstStyle/>
          <a:p>
            <a:r>
              <a:rPr sz="800">
                <a:solidFill>
                  <a:srgbClr val="5DADE8"/>
                </a:solidFill>
                <a:hlinkClick r:id="rId6"/>
              </a:rPr>
              <a:t>https://zenn.dev/kmdkmd/articles/chrome-extension-trademark-rename</a:t>
            </a:r>
          </a:p>
        </p:txBody>
      </p:sp>
      <p:sp>
        <p:nvSpPr>
          <p:cNvPr id="16" name="TextBox 15"/>
          <p:cNvSpPr txBox="1"/>
          <p:nvPr/>
        </p:nvSpPr>
        <p:spPr>
          <a:xfrm>
            <a:off x="365760" y="3194685"/>
            <a:ext cx="11430000" cy="214312"/>
          </a:xfrm>
          <a:prstGeom prst="rect">
            <a:avLst/>
          </a:prstGeom>
          <a:noFill/>
        </p:spPr>
        <p:txBody>
          <a:bodyPr wrap="none">
            <a:spAutoFit/>
          </a:bodyPr>
          <a:lstStyle/>
          <a:p>
            <a:r>
              <a:rPr sz="800" b="1">
                <a:solidFill>
                  <a:srgbClr val="7F8C8D"/>
                </a:solidFill>
              </a:rPr>
              <a:t>[Qiita]  </a:t>
            </a:r>
            <a:r>
              <a:rPr sz="1000" b="1">
                <a:solidFill>
                  <a:srgbClr val="CCDDEE"/>
                </a:solidFill>
              </a:rPr>
              <a:t>「トークン消費量が多い」はもう悪口だ——AIを使いこなせない人の、本当の弱点</a:t>
            </a:r>
          </a:p>
        </p:txBody>
      </p:sp>
      <p:sp>
        <p:nvSpPr>
          <p:cNvPr id="17" name="TextBox 16"/>
          <p:cNvSpPr txBox="1"/>
          <p:nvPr/>
        </p:nvSpPr>
        <p:spPr>
          <a:xfrm>
            <a:off x="640080" y="3408997"/>
            <a:ext cx="11155680" cy="214312"/>
          </a:xfrm>
          <a:prstGeom prst="rect">
            <a:avLst/>
          </a:prstGeom>
          <a:noFill/>
        </p:spPr>
        <p:txBody>
          <a:bodyPr wrap="none">
            <a:spAutoFit/>
          </a:bodyPr>
          <a:lstStyle/>
          <a:p>
            <a:r>
              <a:rPr sz="800">
                <a:solidFill>
                  <a:srgbClr val="5DADE8"/>
                </a:solidFill>
                <a:hlinkClick r:id="rId7"/>
              </a:rPr>
              <a:t>https://qiita.com/Skillsheet-Port/items/4cd692961ed03421b794</a:t>
            </a:r>
          </a:p>
        </p:txBody>
      </p:sp>
      <p:sp>
        <p:nvSpPr>
          <p:cNvPr id="18" name="TextBox 17"/>
          <p:cNvSpPr txBox="1"/>
          <p:nvPr/>
        </p:nvSpPr>
        <p:spPr>
          <a:xfrm>
            <a:off x="365760" y="3623310"/>
            <a:ext cx="11430000" cy="214312"/>
          </a:xfrm>
          <a:prstGeom prst="rect">
            <a:avLst/>
          </a:prstGeom>
          <a:noFill/>
        </p:spPr>
        <p:txBody>
          <a:bodyPr wrap="none">
            <a:spAutoFit/>
          </a:bodyPr>
          <a:lstStyle/>
          <a:p>
            <a:r>
              <a:rPr sz="800" b="1">
                <a:solidFill>
                  <a:srgbClr val="7F8C8D"/>
                </a:solidFill>
              </a:rPr>
              <a:t>[Zenn]  </a:t>
            </a:r>
            <a:r>
              <a:rPr sz="1000" b="1">
                <a:solidFill>
                  <a:srgbClr val="CCDDEE"/>
                </a:solidFill>
              </a:rPr>
              <a:t>Which AI Should You Use? ChatGPT vs Claude vs Gemini in 2026</a:t>
            </a:r>
          </a:p>
        </p:txBody>
      </p:sp>
      <p:sp>
        <p:nvSpPr>
          <p:cNvPr id="19" name="TextBox 18"/>
          <p:cNvSpPr txBox="1"/>
          <p:nvPr/>
        </p:nvSpPr>
        <p:spPr>
          <a:xfrm>
            <a:off x="640080" y="3837622"/>
            <a:ext cx="11155680" cy="214312"/>
          </a:xfrm>
          <a:prstGeom prst="rect">
            <a:avLst/>
          </a:prstGeom>
          <a:noFill/>
        </p:spPr>
        <p:txBody>
          <a:bodyPr wrap="none">
            <a:spAutoFit/>
          </a:bodyPr>
          <a:lstStyle/>
          <a:p>
            <a:r>
              <a:rPr sz="800">
                <a:solidFill>
                  <a:srgbClr val="5DADE8"/>
                </a:solidFill>
                <a:hlinkClick r:id="rId8"/>
              </a:rPr>
              <a:t>https://zenn.dev/neotechpark/articles/3f87eacadce833</a:t>
            </a:r>
          </a:p>
        </p:txBody>
      </p:sp>
      <p:sp>
        <p:nvSpPr>
          <p:cNvPr id="20" name="TextBox 19"/>
          <p:cNvSpPr txBox="1"/>
          <p:nvPr/>
        </p:nvSpPr>
        <p:spPr>
          <a:xfrm>
            <a:off x="365760" y="4051935"/>
            <a:ext cx="11430000" cy="214312"/>
          </a:xfrm>
          <a:prstGeom prst="rect">
            <a:avLst/>
          </a:prstGeom>
          <a:noFill/>
        </p:spPr>
        <p:txBody>
          <a:bodyPr wrap="none">
            <a:spAutoFit/>
          </a:bodyPr>
          <a:lstStyle/>
          <a:p>
            <a:r>
              <a:rPr sz="800" b="1">
                <a:solidFill>
                  <a:srgbClr val="7F8C8D"/>
                </a:solidFill>
              </a:rPr>
              <a:t>[Zenn]  </a:t>
            </a:r>
            <a:r>
              <a:rPr sz="1000" b="1">
                <a:solidFill>
                  <a:srgbClr val="CCDDEE"/>
                </a:solidFill>
              </a:rPr>
              <a:t>AI時代のキャリア戦略　第7回 AIと人間は何が違うのか</a:t>
            </a:r>
          </a:p>
        </p:txBody>
      </p:sp>
      <p:sp>
        <p:nvSpPr>
          <p:cNvPr id="21" name="TextBox 20"/>
          <p:cNvSpPr txBox="1"/>
          <p:nvPr/>
        </p:nvSpPr>
        <p:spPr>
          <a:xfrm>
            <a:off x="640080" y="4266247"/>
            <a:ext cx="11155680" cy="214312"/>
          </a:xfrm>
          <a:prstGeom prst="rect">
            <a:avLst/>
          </a:prstGeom>
          <a:noFill/>
        </p:spPr>
        <p:txBody>
          <a:bodyPr wrap="none">
            <a:spAutoFit/>
          </a:bodyPr>
          <a:lstStyle/>
          <a:p>
            <a:r>
              <a:rPr sz="800">
                <a:solidFill>
                  <a:srgbClr val="5DADE8"/>
                </a:solidFill>
                <a:hlinkClick r:id="rId9"/>
              </a:rPr>
              <a:t>https://zenn.dev/jinfuroi/articles/b2e3c2c66f7d74</a:t>
            </a:r>
          </a:p>
        </p:txBody>
      </p:sp>
      <p:sp>
        <p:nvSpPr>
          <p:cNvPr id="22" name="TextBox 21"/>
          <p:cNvSpPr txBox="1"/>
          <p:nvPr/>
        </p:nvSpPr>
        <p:spPr>
          <a:xfrm>
            <a:off x="365760" y="4480560"/>
            <a:ext cx="11430000" cy="214312"/>
          </a:xfrm>
          <a:prstGeom prst="rect">
            <a:avLst/>
          </a:prstGeom>
          <a:noFill/>
        </p:spPr>
        <p:txBody>
          <a:bodyPr wrap="none">
            <a:spAutoFit/>
          </a:bodyPr>
          <a:lstStyle/>
          <a:p>
            <a:r>
              <a:rPr sz="800" b="1">
                <a:solidFill>
                  <a:srgbClr val="7F8C8D"/>
                </a:solidFill>
              </a:rPr>
              <a:t>[Qiita]  </a:t>
            </a:r>
            <a:r>
              <a:rPr sz="1000" b="1">
                <a:solidFill>
                  <a:srgbClr val="CCDDEE"/>
                </a:solidFill>
              </a:rPr>
              <a:t>AIが何でも「その通りです」と答えるときに試す一言</a:t>
            </a:r>
          </a:p>
        </p:txBody>
      </p:sp>
      <p:sp>
        <p:nvSpPr>
          <p:cNvPr id="23" name="TextBox 22"/>
          <p:cNvSpPr txBox="1"/>
          <p:nvPr/>
        </p:nvSpPr>
        <p:spPr>
          <a:xfrm>
            <a:off x="640080" y="4694872"/>
            <a:ext cx="11155680" cy="214312"/>
          </a:xfrm>
          <a:prstGeom prst="rect">
            <a:avLst/>
          </a:prstGeom>
          <a:noFill/>
        </p:spPr>
        <p:txBody>
          <a:bodyPr wrap="none">
            <a:spAutoFit/>
          </a:bodyPr>
          <a:lstStyle/>
          <a:p>
            <a:r>
              <a:rPr sz="800">
                <a:solidFill>
                  <a:srgbClr val="5DADE8"/>
                </a:solidFill>
                <a:hlinkClick r:id="rId10"/>
              </a:rPr>
              <a:t>https://qiita.com/masa1113/items/a5093e0c5cd81ff56e10</a:t>
            </a:r>
          </a:p>
        </p:txBody>
      </p:sp>
      <p:sp>
        <p:nvSpPr>
          <p:cNvPr id="24" name="TextBox 23"/>
          <p:cNvSpPr txBox="1"/>
          <p:nvPr/>
        </p:nvSpPr>
        <p:spPr>
          <a:xfrm>
            <a:off x="365760" y="4909185"/>
            <a:ext cx="11430000" cy="214312"/>
          </a:xfrm>
          <a:prstGeom prst="rect">
            <a:avLst/>
          </a:prstGeom>
          <a:noFill/>
        </p:spPr>
        <p:txBody>
          <a:bodyPr wrap="none">
            <a:spAutoFit/>
          </a:bodyPr>
          <a:lstStyle/>
          <a:p>
            <a:r>
              <a:rPr sz="800" b="1">
                <a:solidFill>
                  <a:srgbClr val="7F8C8D"/>
                </a:solidFill>
              </a:rPr>
              <a:t>[Qiita]  </a:t>
            </a:r>
            <a:r>
              <a:rPr sz="1000" b="1">
                <a:solidFill>
                  <a:srgbClr val="CCDDEE"/>
                </a:solidFill>
              </a:rPr>
              <a:t>DeepSeek 値上げを機に さくらのAI へ移行したら、シフト希望解析が時間 1/3 以下・正解率 100% になった話</a:t>
            </a:r>
          </a:p>
        </p:txBody>
      </p:sp>
      <p:sp>
        <p:nvSpPr>
          <p:cNvPr id="25" name="TextBox 24"/>
          <p:cNvSpPr txBox="1"/>
          <p:nvPr/>
        </p:nvSpPr>
        <p:spPr>
          <a:xfrm>
            <a:off x="640080" y="5123497"/>
            <a:ext cx="11155680" cy="214312"/>
          </a:xfrm>
          <a:prstGeom prst="rect">
            <a:avLst/>
          </a:prstGeom>
          <a:noFill/>
        </p:spPr>
        <p:txBody>
          <a:bodyPr wrap="none">
            <a:spAutoFit/>
          </a:bodyPr>
          <a:lstStyle/>
          <a:p>
            <a:r>
              <a:rPr sz="800">
                <a:solidFill>
                  <a:srgbClr val="5DADE8"/>
                </a:solidFill>
                <a:hlinkClick r:id="rId11"/>
              </a:rPr>
              <a:t>https://qiita.com/emuyn/items/4379a56943d36d20ef02</a:t>
            </a:r>
          </a:p>
        </p:txBody>
      </p:sp>
      <p:sp>
        <p:nvSpPr>
          <p:cNvPr id="26" name="TextBox 25"/>
          <p:cNvSpPr txBox="1"/>
          <p:nvPr/>
        </p:nvSpPr>
        <p:spPr>
          <a:xfrm>
            <a:off x="365760" y="5337810"/>
            <a:ext cx="11430000" cy="214312"/>
          </a:xfrm>
          <a:prstGeom prst="rect">
            <a:avLst/>
          </a:prstGeom>
          <a:noFill/>
        </p:spPr>
        <p:txBody>
          <a:bodyPr wrap="none">
            <a:spAutoFit/>
          </a:bodyPr>
          <a:lstStyle/>
          <a:p>
            <a:r>
              <a:rPr sz="800" b="1">
                <a:solidFill>
                  <a:srgbClr val="7F8C8D"/>
                </a:solidFill>
              </a:rPr>
              <a:t>[Zenn]  </a:t>
            </a:r>
            <a:r>
              <a:rPr sz="1000" b="1">
                <a:solidFill>
                  <a:srgbClr val="CCDDEE"/>
                </a:solidFill>
              </a:rPr>
              <a:t>生成AIと20回改修して、Jupyter Notebook上に「3Dバーチャートレース」を作った話</a:t>
            </a:r>
          </a:p>
        </p:txBody>
      </p:sp>
      <p:sp>
        <p:nvSpPr>
          <p:cNvPr id="27" name="TextBox 26"/>
          <p:cNvSpPr txBox="1"/>
          <p:nvPr/>
        </p:nvSpPr>
        <p:spPr>
          <a:xfrm>
            <a:off x="640080" y="5552122"/>
            <a:ext cx="11155680" cy="214312"/>
          </a:xfrm>
          <a:prstGeom prst="rect">
            <a:avLst/>
          </a:prstGeom>
          <a:noFill/>
        </p:spPr>
        <p:txBody>
          <a:bodyPr wrap="none">
            <a:spAutoFit/>
          </a:bodyPr>
          <a:lstStyle/>
          <a:p>
            <a:r>
              <a:rPr sz="800">
                <a:solidFill>
                  <a:srgbClr val="5DADE8"/>
                </a:solidFill>
                <a:hlinkClick r:id="rId12"/>
              </a:rPr>
              <a:t>https://zenn.dev/hajimeteradio3/articles/c710f3020097ae</a:t>
            </a:r>
          </a:p>
        </p:txBody>
      </p:sp>
      <p:sp>
        <p:nvSpPr>
          <p:cNvPr id="28" name="TextBox 27"/>
          <p:cNvSpPr txBox="1"/>
          <p:nvPr/>
        </p:nvSpPr>
        <p:spPr>
          <a:xfrm>
            <a:off x="365760" y="5766435"/>
            <a:ext cx="11430000" cy="214312"/>
          </a:xfrm>
          <a:prstGeom prst="rect">
            <a:avLst/>
          </a:prstGeom>
          <a:noFill/>
        </p:spPr>
        <p:txBody>
          <a:bodyPr wrap="none">
            <a:spAutoFit/>
          </a:bodyPr>
          <a:lstStyle/>
          <a:p>
            <a:r>
              <a:rPr sz="800" b="1">
                <a:solidFill>
                  <a:srgbClr val="7F8C8D"/>
                </a:solidFill>
              </a:rPr>
              <a:t>[Zenn]  </a:t>
            </a:r>
            <a:r>
              <a:rPr sz="1000" b="1">
                <a:solidFill>
                  <a:srgbClr val="CCDDEE"/>
                </a:solidFill>
              </a:rPr>
              <a:t>AI時代のキャリア戦略　第8回 AIは知識を学習する。人間は人生を学習する。</a:t>
            </a:r>
          </a:p>
        </p:txBody>
      </p:sp>
      <p:sp>
        <p:nvSpPr>
          <p:cNvPr id="29" name="TextBox 28"/>
          <p:cNvSpPr txBox="1"/>
          <p:nvPr/>
        </p:nvSpPr>
        <p:spPr>
          <a:xfrm>
            <a:off x="640080" y="5980747"/>
            <a:ext cx="11155680" cy="214312"/>
          </a:xfrm>
          <a:prstGeom prst="rect">
            <a:avLst/>
          </a:prstGeom>
          <a:noFill/>
        </p:spPr>
        <p:txBody>
          <a:bodyPr wrap="none">
            <a:spAutoFit/>
          </a:bodyPr>
          <a:lstStyle/>
          <a:p>
            <a:r>
              <a:rPr sz="800">
                <a:solidFill>
                  <a:srgbClr val="5DADE8"/>
                </a:solidFill>
                <a:hlinkClick r:id="rId13"/>
              </a:rPr>
              <a:t>https://zenn.dev/jinfuroi/articles/f5ee4abc096810</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1A25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960120"/>
          </a:xfrm>
          <a:prstGeom prst="rect">
            <a:avLst/>
          </a:prstGeom>
          <a:solidFill>
            <a:srgbClr val="2C3C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64592" cy="960120"/>
          </a:xfrm>
          <a:prstGeom prst="rect">
            <a:avLst/>
          </a:prstGeom>
          <a:solidFill>
            <a:srgbClr val="7F8C8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118872"/>
            <a:ext cx="11430000" cy="749808"/>
          </a:xfrm>
          <a:prstGeom prst="rect">
            <a:avLst/>
          </a:prstGeom>
          <a:noFill/>
        </p:spPr>
        <p:txBody>
          <a:bodyPr wrap="square">
            <a:spAutoFit/>
          </a:bodyPr>
          <a:lstStyle/>
          <a:p>
            <a:pPr algn="l"/>
            <a:r>
              <a:rPr sz="2000" b="1">
                <a:solidFill>
                  <a:srgbClr val="FFFFFF"/>
                </a:solidFill>
              </a:rPr>
              <a:t>その他の記事　(9 / 9)</a:t>
            </a:r>
          </a:p>
        </p:txBody>
      </p:sp>
      <p:sp>
        <p:nvSpPr>
          <p:cNvPr id="6" name="TextBox 5"/>
          <p:cNvSpPr txBox="1"/>
          <p:nvPr/>
        </p:nvSpPr>
        <p:spPr>
          <a:xfrm>
            <a:off x="365760" y="1051560"/>
            <a:ext cx="11430000" cy="214312"/>
          </a:xfrm>
          <a:prstGeom prst="rect">
            <a:avLst/>
          </a:prstGeom>
          <a:noFill/>
        </p:spPr>
        <p:txBody>
          <a:bodyPr wrap="none">
            <a:spAutoFit/>
          </a:bodyPr>
          <a:lstStyle/>
          <a:p>
            <a:r>
              <a:rPr sz="800" b="1">
                <a:solidFill>
                  <a:srgbClr val="7F8C8D"/>
                </a:solidFill>
              </a:rPr>
              <a:t>[Qiita]  </a:t>
            </a:r>
            <a:r>
              <a:rPr sz="1000" b="1">
                <a:solidFill>
                  <a:srgbClr val="CCDDEE"/>
                </a:solidFill>
              </a:rPr>
              <a:t>画像生成AIで手書きラフから5種類のアプリアイコンを作る</a:t>
            </a:r>
          </a:p>
        </p:txBody>
      </p:sp>
      <p:sp>
        <p:nvSpPr>
          <p:cNvPr id="7" name="TextBox 6"/>
          <p:cNvSpPr txBox="1"/>
          <p:nvPr/>
        </p:nvSpPr>
        <p:spPr>
          <a:xfrm>
            <a:off x="640080" y="1265872"/>
            <a:ext cx="11155680" cy="214312"/>
          </a:xfrm>
          <a:prstGeom prst="rect">
            <a:avLst/>
          </a:prstGeom>
          <a:noFill/>
        </p:spPr>
        <p:txBody>
          <a:bodyPr wrap="none">
            <a:spAutoFit/>
          </a:bodyPr>
          <a:lstStyle/>
          <a:p>
            <a:r>
              <a:rPr sz="800">
                <a:solidFill>
                  <a:srgbClr val="5DADE8"/>
                </a:solidFill>
                <a:hlinkClick r:id="rId2"/>
              </a:rPr>
              <a:t>https://qiita.com/AlexAlex/items/553b864dd25c0ce81adb</a:t>
            </a:r>
          </a:p>
        </p:txBody>
      </p:sp>
      <p:sp>
        <p:nvSpPr>
          <p:cNvPr id="8" name="TextBox 7"/>
          <p:cNvSpPr txBox="1"/>
          <p:nvPr/>
        </p:nvSpPr>
        <p:spPr>
          <a:xfrm>
            <a:off x="365760" y="1480185"/>
            <a:ext cx="11430000" cy="214312"/>
          </a:xfrm>
          <a:prstGeom prst="rect">
            <a:avLst/>
          </a:prstGeom>
          <a:noFill/>
        </p:spPr>
        <p:txBody>
          <a:bodyPr wrap="none">
            <a:spAutoFit/>
          </a:bodyPr>
          <a:lstStyle/>
          <a:p>
            <a:r>
              <a:rPr sz="800" b="1">
                <a:solidFill>
                  <a:srgbClr val="7F8C8D"/>
                </a:solidFill>
              </a:rPr>
              <a:t>[Qiita]  </a:t>
            </a:r>
            <a:r>
              <a:rPr sz="1000" b="1">
                <a:solidFill>
                  <a:srgbClr val="CCDDEE"/>
                </a:solidFill>
              </a:rPr>
              <a:t> 推しイラストレーターが「ゆるっと絵柄プロンプト」を公開してくれたのでゆるっと調べてみた</a:t>
            </a:r>
          </a:p>
        </p:txBody>
      </p:sp>
      <p:sp>
        <p:nvSpPr>
          <p:cNvPr id="9" name="TextBox 8"/>
          <p:cNvSpPr txBox="1"/>
          <p:nvPr/>
        </p:nvSpPr>
        <p:spPr>
          <a:xfrm>
            <a:off x="640080" y="1694497"/>
            <a:ext cx="11155680" cy="214312"/>
          </a:xfrm>
          <a:prstGeom prst="rect">
            <a:avLst/>
          </a:prstGeom>
          <a:noFill/>
        </p:spPr>
        <p:txBody>
          <a:bodyPr wrap="none">
            <a:spAutoFit/>
          </a:bodyPr>
          <a:lstStyle/>
          <a:p>
            <a:r>
              <a:rPr sz="800">
                <a:solidFill>
                  <a:srgbClr val="5DADE8"/>
                </a:solidFill>
                <a:hlinkClick r:id="rId3"/>
              </a:rPr>
              <a:t>https://qiita.com/Yukidarusan/items/334a22d80a482e70e914</a:t>
            </a:r>
          </a:p>
        </p:txBody>
      </p:sp>
      <p:sp>
        <p:nvSpPr>
          <p:cNvPr id="10" name="TextBox 9"/>
          <p:cNvSpPr txBox="1"/>
          <p:nvPr/>
        </p:nvSpPr>
        <p:spPr>
          <a:xfrm>
            <a:off x="365760" y="1908810"/>
            <a:ext cx="11430000" cy="214312"/>
          </a:xfrm>
          <a:prstGeom prst="rect">
            <a:avLst/>
          </a:prstGeom>
          <a:noFill/>
        </p:spPr>
        <p:txBody>
          <a:bodyPr wrap="none">
            <a:spAutoFit/>
          </a:bodyPr>
          <a:lstStyle/>
          <a:p>
            <a:r>
              <a:rPr sz="800" b="1">
                <a:solidFill>
                  <a:srgbClr val="7F8C8D"/>
                </a:solidFill>
              </a:rPr>
              <a:t>[Qiita]  </a:t>
            </a:r>
            <a:r>
              <a:rPr sz="1000" b="1">
                <a:solidFill>
                  <a:srgbClr val="CCDDEE"/>
                </a:solidFill>
              </a:rPr>
              <a:t>設計書レビューをAIに頼んだら検出率0%だった — 3役割に分けて86%にした頼み方</a:t>
            </a:r>
          </a:p>
        </p:txBody>
      </p:sp>
      <p:sp>
        <p:nvSpPr>
          <p:cNvPr id="11" name="TextBox 10"/>
          <p:cNvSpPr txBox="1"/>
          <p:nvPr/>
        </p:nvSpPr>
        <p:spPr>
          <a:xfrm>
            <a:off x="640080" y="2123122"/>
            <a:ext cx="11155680" cy="214312"/>
          </a:xfrm>
          <a:prstGeom prst="rect">
            <a:avLst/>
          </a:prstGeom>
          <a:noFill/>
        </p:spPr>
        <p:txBody>
          <a:bodyPr wrap="none">
            <a:spAutoFit/>
          </a:bodyPr>
          <a:lstStyle/>
          <a:p>
            <a:r>
              <a:rPr sz="800">
                <a:solidFill>
                  <a:srgbClr val="5DADE8"/>
                </a:solidFill>
                <a:hlinkClick r:id="rId4"/>
              </a:rPr>
              <a:t>https://qiita.com/moname_ai/items/b665e51fb6f754bc768b</a:t>
            </a:r>
          </a:p>
        </p:txBody>
      </p:sp>
      <p:sp>
        <p:nvSpPr>
          <p:cNvPr id="12" name="TextBox 11"/>
          <p:cNvSpPr txBox="1"/>
          <p:nvPr/>
        </p:nvSpPr>
        <p:spPr>
          <a:xfrm>
            <a:off x="365760" y="2337435"/>
            <a:ext cx="11430000" cy="214312"/>
          </a:xfrm>
          <a:prstGeom prst="rect">
            <a:avLst/>
          </a:prstGeom>
          <a:noFill/>
        </p:spPr>
        <p:txBody>
          <a:bodyPr wrap="none">
            <a:spAutoFit/>
          </a:bodyPr>
          <a:lstStyle/>
          <a:p>
            <a:r>
              <a:rPr sz="800" b="1">
                <a:solidFill>
                  <a:srgbClr val="7F8C8D"/>
                </a:solidFill>
              </a:rPr>
              <a:t>[Qiita]  </a:t>
            </a:r>
            <a:r>
              <a:rPr sz="1000" b="1">
                <a:solidFill>
                  <a:srgbClr val="CCDDEE"/>
                </a:solidFill>
              </a:rPr>
              <a:t>なぜ「ステップバイステップで考えて」で賢くなるのか──Chain-of-Thoughtの機構と、その説明を信用してはいけない理由</a:t>
            </a:r>
          </a:p>
        </p:txBody>
      </p:sp>
      <p:sp>
        <p:nvSpPr>
          <p:cNvPr id="13" name="TextBox 12"/>
          <p:cNvSpPr txBox="1"/>
          <p:nvPr/>
        </p:nvSpPr>
        <p:spPr>
          <a:xfrm>
            <a:off x="640080" y="2551747"/>
            <a:ext cx="11155680" cy="214312"/>
          </a:xfrm>
          <a:prstGeom prst="rect">
            <a:avLst/>
          </a:prstGeom>
          <a:noFill/>
        </p:spPr>
        <p:txBody>
          <a:bodyPr wrap="none">
            <a:spAutoFit/>
          </a:bodyPr>
          <a:lstStyle/>
          <a:p>
            <a:r>
              <a:rPr sz="800">
                <a:solidFill>
                  <a:srgbClr val="5DADE8"/>
                </a:solidFill>
                <a:hlinkClick r:id="rId5"/>
              </a:rPr>
              <a:t>https://qiita.com/ha-te/items/0b0bd40a8806572743c8</a:t>
            </a:r>
          </a:p>
        </p:txBody>
      </p:sp>
      <p:sp>
        <p:nvSpPr>
          <p:cNvPr id="14" name="TextBox 13"/>
          <p:cNvSpPr txBox="1"/>
          <p:nvPr/>
        </p:nvSpPr>
        <p:spPr>
          <a:xfrm>
            <a:off x="365760" y="2766060"/>
            <a:ext cx="11430000" cy="214312"/>
          </a:xfrm>
          <a:prstGeom prst="rect">
            <a:avLst/>
          </a:prstGeom>
          <a:noFill/>
        </p:spPr>
        <p:txBody>
          <a:bodyPr wrap="none">
            <a:spAutoFit/>
          </a:bodyPr>
          <a:lstStyle/>
          <a:p>
            <a:r>
              <a:rPr sz="800" b="1">
                <a:solidFill>
                  <a:srgbClr val="7F8C8D"/>
                </a:solidFill>
              </a:rPr>
              <a:t>[Qiita]  </a:t>
            </a:r>
            <a:r>
              <a:rPr sz="1000" b="1">
                <a:solidFill>
                  <a:srgbClr val="CCDDEE"/>
                </a:solidFill>
              </a:rPr>
              <a:t>「作って配ったら終わり」ではない ― GPT化の罠と、フィードバックループ断絶【LLMと上手く付き合う連載 #8】</a:t>
            </a:r>
          </a:p>
        </p:txBody>
      </p:sp>
      <p:sp>
        <p:nvSpPr>
          <p:cNvPr id="15" name="TextBox 14"/>
          <p:cNvSpPr txBox="1"/>
          <p:nvPr/>
        </p:nvSpPr>
        <p:spPr>
          <a:xfrm>
            <a:off x="640080" y="2980372"/>
            <a:ext cx="11155680" cy="214312"/>
          </a:xfrm>
          <a:prstGeom prst="rect">
            <a:avLst/>
          </a:prstGeom>
          <a:noFill/>
        </p:spPr>
        <p:txBody>
          <a:bodyPr wrap="none">
            <a:spAutoFit/>
          </a:bodyPr>
          <a:lstStyle/>
          <a:p>
            <a:r>
              <a:rPr sz="800">
                <a:solidFill>
                  <a:srgbClr val="5DADE8"/>
                </a:solidFill>
                <a:hlinkClick r:id="rId6"/>
              </a:rPr>
              <a:t>https://qiita.com/ha-te/items/a477099b8255f58c12be</a:t>
            </a:r>
          </a:p>
        </p:txBody>
      </p:sp>
      <p:sp>
        <p:nvSpPr>
          <p:cNvPr id="16" name="TextBox 15"/>
          <p:cNvSpPr txBox="1"/>
          <p:nvPr/>
        </p:nvSpPr>
        <p:spPr>
          <a:xfrm>
            <a:off x="365760" y="3194685"/>
            <a:ext cx="11430000" cy="214312"/>
          </a:xfrm>
          <a:prstGeom prst="rect">
            <a:avLst/>
          </a:prstGeom>
          <a:noFill/>
        </p:spPr>
        <p:txBody>
          <a:bodyPr wrap="none">
            <a:spAutoFit/>
          </a:bodyPr>
          <a:lstStyle/>
          <a:p>
            <a:r>
              <a:rPr sz="800" b="1">
                <a:solidFill>
                  <a:srgbClr val="7F8C8D"/>
                </a:solidFill>
              </a:rPr>
              <a:t>[Qiita]  </a:t>
            </a:r>
            <a:r>
              <a:rPr sz="1000" b="1">
                <a:solidFill>
                  <a:srgbClr val="CCDDEE"/>
                </a:solidFill>
              </a:rPr>
              <a:t>AI画像生成でプロンプトを長くする前に、参照画像で決めた方がよいこと</a:t>
            </a:r>
          </a:p>
        </p:txBody>
      </p:sp>
      <p:sp>
        <p:nvSpPr>
          <p:cNvPr id="17" name="TextBox 16"/>
          <p:cNvSpPr txBox="1"/>
          <p:nvPr/>
        </p:nvSpPr>
        <p:spPr>
          <a:xfrm>
            <a:off x="640080" y="3408997"/>
            <a:ext cx="11155680" cy="214312"/>
          </a:xfrm>
          <a:prstGeom prst="rect">
            <a:avLst/>
          </a:prstGeom>
          <a:noFill/>
        </p:spPr>
        <p:txBody>
          <a:bodyPr wrap="none">
            <a:spAutoFit/>
          </a:bodyPr>
          <a:lstStyle/>
          <a:p>
            <a:r>
              <a:rPr sz="800">
                <a:solidFill>
                  <a:srgbClr val="5DADE8"/>
                </a:solidFill>
                <a:hlinkClick r:id="rId7"/>
              </a:rPr>
              <a:t>https://qiita.com/tingpromax/items/dd1d19ce3cf8263ecb35</a:t>
            </a:r>
          </a:p>
        </p:txBody>
      </p:sp>
      <p:sp>
        <p:nvSpPr>
          <p:cNvPr id="18" name="TextBox 17"/>
          <p:cNvSpPr txBox="1"/>
          <p:nvPr/>
        </p:nvSpPr>
        <p:spPr>
          <a:xfrm>
            <a:off x="365760" y="3623310"/>
            <a:ext cx="11430000" cy="214312"/>
          </a:xfrm>
          <a:prstGeom prst="rect">
            <a:avLst/>
          </a:prstGeom>
          <a:noFill/>
        </p:spPr>
        <p:txBody>
          <a:bodyPr wrap="none">
            <a:spAutoFit/>
          </a:bodyPr>
          <a:lstStyle/>
          <a:p>
            <a:r>
              <a:rPr sz="800" b="1">
                <a:solidFill>
                  <a:srgbClr val="7F8C8D"/>
                </a:solidFill>
              </a:rPr>
              <a:t>[Qiita]  </a:t>
            </a:r>
            <a:r>
              <a:rPr sz="1000" b="1">
                <a:solidFill>
                  <a:srgbClr val="CCDDEE"/>
                </a:solidFill>
              </a:rPr>
              <a:t>テキストから曲を作るAIを試すときに、プロンプトで先に決めておくべきこと</a:t>
            </a:r>
          </a:p>
        </p:txBody>
      </p:sp>
      <p:sp>
        <p:nvSpPr>
          <p:cNvPr id="19" name="TextBox 18"/>
          <p:cNvSpPr txBox="1"/>
          <p:nvPr/>
        </p:nvSpPr>
        <p:spPr>
          <a:xfrm>
            <a:off x="640080" y="3837622"/>
            <a:ext cx="11155680" cy="214312"/>
          </a:xfrm>
          <a:prstGeom prst="rect">
            <a:avLst/>
          </a:prstGeom>
          <a:noFill/>
        </p:spPr>
        <p:txBody>
          <a:bodyPr wrap="none">
            <a:spAutoFit/>
          </a:bodyPr>
          <a:lstStyle/>
          <a:p>
            <a:r>
              <a:rPr sz="800">
                <a:solidFill>
                  <a:srgbClr val="5DADE8"/>
                </a:solidFill>
                <a:hlinkClick r:id="rId8"/>
              </a:rPr>
              <a:t>https://qiita.com/tingpromax/items/35c9b6bd9f8b8732f7b7</a:t>
            </a:r>
          </a:p>
        </p:txBody>
      </p:sp>
      <p:sp>
        <p:nvSpPr>
          <p:cNvPr id="20" name="TextBox 19"/>
          <p:cNvSpPr txBox="1"/>
          <p:nvPr/>
        </p:nvSpPr>
        <p:spPr>
          <a:xfrm>
            <a:off x="365760" y="4051935"/>
            <a:ext cx="11430000" cy="214312"/>
          </a:xfrm>
          <a:prstGeom prst="rect">
            <a:avLst/>
          </a:prstGeom>
          <a:noFill/>
        </p:spPr>
        <p:txBody>
          <a:bodyPr wrap="none">
            <a:spAutoFit/>
          </a:bodyPr>
          <a:lstStyle/>
          <a:p>
            <a:r>
              <a:rPr sz="800" b="1">
                <a:solidFill>
                  <a:srgbClr val="7F8C8D"/>
                </a:solidFill>
              </a:rPr>
              <a:t>[Zenn]  </a:t>
            </a:r>
            <a:r>
              <a:rPr sz="1000" b="1">
                <a:solidFill>
                  <a:srgbClr val="CCDDEE"/>
                </a:solidFill>
              </a:rPr>
              <a:t>Web上で公開される生成AIチャットボット5社の回答速度を比較！</a:t>
            </a:r>
          </a:p>
        </p:txBody>
      </p:sp>
      <p:sp>
        <p:nvSpPr>
          <p:cNvPr id="21" name="TextBox 20"/>
          <p:cNvSpPr txBox="1"/>
          <p:nvPr/>
        </p:nvSpPr>
        <p:spPr>
          <a:xfrm>
            <a:off x="640080" y="4266247"/>
            <a:ext cx="11155680" cy="214312"/>
          </a:xfrm>
          <a:prstGeom prst="rect">
            <a:avLst/>
          </a:prstGeom>
          <a:noFill/>
        </p:spPr>
        <p:txBody>
          <a:bodyPr wrap="none">
            <a:spAutoFit/>
          </a:bodyPr>
          <a:lstStyle/>
          <a:p>
            <a:r>
              <a:rPr sz="800">
                <a:solidFill>
                  <a:srgbClr val="5DADE8"/>
                </a:solidFill>
                <a:hlinkClick r:id="rId9"/>
              </a:rPr>
              <a:t>https://zenn.dev/sapolas/articles/7e36aca3347e06</a:t>
            </a:r>
          </a:p>
        </p:txBody>
      </p:sp>
      <p:sp>
        <p:nvSpPr>
          <p:cNvPr id="22" name="TextBox 21"/>
          <p:cNvSpPr txBox="1"/>
          <p:nvPr/>
        </p:nvSpPr>
        <p:spPr>
          <a:xfrm>
            <a:off x="365760" y="4480560"/>
            <a:ext cx="11430000" cy="214312"/>
          </a:xfrm>
          <a:prstGeom prst="rect">
            <a:avLst/>
          </a:prstGeom>
          <a:noFill/>
        </p:spPr>
        <p:txBody>
          <a:bodyPr wrap="none">
            <a:spAutoFit/>
          </a:bodyPr>
          <a:lstStyle/>
          <a:p>
            <a:r>
              <a:rPr sz="800" b="1">
                <a:solidFill>
                  <a:srgbClr val="7F8C8D"/>
                </a:solidFill>
              </a:rPr>
              <a:t>[Zenn]  </a:t>
            </a:r>
            <a:r>
              <a:rPr sz="1000" b="1">
                <a:solidFill>
                  <a:srgbClr val="CCDDEE"/>
                </a:solidFill>
              </a:rPr>
              <a:t>OpenAIとAnthropicが2026年6月12日に発表した内容から、企業のAI導入に必要な要素を整理します。</a:t>
            </a:r>
          </a:p>
        </p:txBody>
      </p:sp>
      <p:sp>
        <p:nvSpPr>
          <p:cNvPr id="23" name="TextBox 22"/>
          <p:cNvSpPr txBox="1"/>
          <p:nvPr/>
        </p:nvSpPr>
        <p:spPr>
          <a:xfrm>
            <a:off x="640080" y="4694872"/>
            <a:ext cx="11155680" cy="214312"/>
          </a:xfrm>
          <a:prstGeom prst="rect">
            <a:avLst/>
          </a:prstGeom>
          <a:noFill/>
        </p:spPr>
        <p:txBody>
          <a:bodyPr wrap="none">
            <a:spAutoFit/>
          </a:bodyPr>
          <a:lstStyle/>
          <a:p>
            <a:r>
              <a:rPr sz="800">
                <a:solidFill>
                  <a:srgbClr val="5DADE8"/>
                </a:solidFill>
                <a:hlinkClick r:id="rId10"/>
              </a:rPr>
              <a:t>https://zenn.dev/kenta_kadowaki/articles/56d3a502356202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