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FlatkeyAI/items/c06c0b455e13f8d2c775" TargetMode="External"/><Relationship Id="rId3" Type="http://schemas.openxmlformats.org/officeDocument/2006/relationships/hyperlink" Target="https://qiita.com/DnD-inc/items/54f8dcc2df91125e4a13" TargetMode="External"/><Relationship Id="rId4" Type="http://schemas.openxmlformats.org/officeDocument/2006/relationships/hyperlink" Target="https://qiita.com/syun136_616/items/b7e4f85d3e1318fe9fc7"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imon_Zhang/items/710b838cd26844560151" TargetMode="External"/><Relationship Id="rId3" Type="http://schemas.openxmlformats.org/officeDocument/2006/relationships/hyperlink" Target="https://zenn.dev/yuya0408/articles/llm-as-judge-rag" TargetMode="External"/><Relationship Id="rId4" Type="http://schemas.openxmlformats.org/officeDocument/2006/relationships/hyperlink" Target="https://virtuallyfun.com/2026/08/03/windows-xp-2002-for-the-itanium-unbridled-rag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hironakamura_ai/items/0dd905e4c1710b0c7cfb" TargetMode="External"/><Relationship Id="rId3" Type="http://schemas.openxmlformats.org/officeDocument/2006/relationships/hyperlink" Target="https://qiita.com/homhom44/items/9703ef1c0de62667dca0" TargetMode="External"/><Relationship Id="rId4" Type="http://schemas.openxmlformats.org/officeDocument/2006/relationships/hyperlink" Target="https://qiita.com/hikariclaude01/items/d2d7ea5f5d210b15e7da"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quotidia/items/3243d41ffa367564d46b" TargetMode="External"/><Relationship Id="rId3" Type="http://schemas.openxmlformats.org/officeDocument/2006/relationships/hyperlink" Target="https://qiita.com/sugarfree/items/deea74c0a08c6abba544" TargetMode="External"/><Relationship Id="rId4" Type="http://schemas.openxmlformats.org/officeDocument/2006/relationships/hyperlink" Target="https://qiita.com/s_horikoshi/items/2242dbfcaf003b714c9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mabui/articles/iac-guard-llm-separation" TargetMode="External"/><Relationship Id="rId3" Type="http://schemas.openxmlformats.org/officeDocument/2006/relationships/hyperlink" Target="https://zenn.dev/lotation/articles/aff89de9bc5143"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FlatkeyAI/items/c06c0b455e13f8d2c775" TargetMode="External"/><Relationship Id="rId3" Type="http://schemas.openxmlformats.org/officeDocument/2006/relationships/hyperlink" Target="https://qiita.com/DnD-inc/items/54f8dcc2df91125e4a13" TargetMode="External"/><Relationship Id="rId4" Type="http://schemas.openxmlformats.org/officeDocument/2006/relationships/hyperlink" Target="https://qiita.com/syun136_616/items/b7e4f85d3e1318fe9fc7" TargetMode="External"/><Relationship Id="rId5" Type="http://schemas.openxmlformats.org/officeDocument/2006/relationships/hyperlink" Target="https://zenn.dev/cazma/articles/06a12e8eee4ff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udowanllc/items/024e91ccb6393159c798" TargetMode="External"/><Relationship Id="rId3" Type="http://schemas.openxmlformats.org/officeDocument/2006/relationships/hyperlink" Target="https://zenn.dev/fukachi_ai/articles/3ba9caf18b2c98" TargetMode="External"/><Relationship Id="rId4" Type="http://schemas.openxmlformats.org/officeDocument/2006/relationships/hyperlink" Target="https://qiita.com/picnic/items/fbe7837c24d64aa0031d" TargetMode="External"/><Relationship Id="rId5" Type="http://schemas.openxmlformats.org/officeDocument/2006/relationships/hyperlink" Target="https://zenn.dev/takkuhiro/articles/agent-eval-isolation-difficulty"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imon_Zhang/items/710b838cd26844560151" TargetMode="External"/><Relationship Id="rId3" Type="http://schemas.openxmlformats.org/officeDocument/2006/relationships/hyperlink" Target="https://zenn.dev/yuya0408/articles/llm-as-judge-rag" TargetMode="External"/><Relationship Id="rId4" Type="http://schemas.openxmlformats.org/officeDocument/2006/relationships/hyperlink" Target="https://virtuallyfun.com/2026/08/03/windows-xp-2002-for-the-itanium-unbridled-rage/" TargetMode="External"/><Relationship Id="rId5" Type="http://schemas.openxmlformats.org/officeDocument/2006/relationships/hyperlink" Target="https://qiita.com/fujimoooon/items/c800d1074d4e107e9ee9"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Umamon/items/b934e3826e4f84398d35" TargetMode="External"/><Relationship Id="rId3" Type="http://schemas.openxmlformats.org/officeDocument/2006/relationships/hyperlink" Target="https://zenn.dev/kukyotolab/articles/bedrock-guardrails-vs-self-built-defense" TargetMode="External"/><Relationship Id="rId4" Type="http://schemas.openxmlformats.org/officeDocument/2006/relationships/hyperlink" Target="https://zenn.dev/tamtak18/articles/80a165f31ccb6b" TargetMode="External"/><Relationship Id="rId5" Type="http://schemas.openxmlformats.org/officeDocument/2006/relationships/hyperlink" Target="https://zenn.dev/dowjapan/articles/closed-network-ra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hironakamura_ai/items/0dd905e4c1710b0c7cfb" TargetMode="External"/><Relationship Id="rId3" Type="http://schemas.openxmlformats.org/officeDocument/2006/relationships/hyperlink" Target="https://qiita.com/homhom44/items/9703ef1c0de62667dca0" TargetMode="External"/><Relationship Id="rId4" Type="http://schemas.openxmlformats.org/officeDocument/2006/relationships/hyperlink" Target="https://qiita.com/hikariclaude01/items/d2d7ea5f5d210b15e7da" TargetMode="External"/><Relationship Id="rId5" Type="http://schemas.openxmlformats.org/officeDocument/2006/relationships/hyperlink" Target="https://qiita.com/kiyotaman/items/7bd16d5dad5c381618db"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escore/items/f42658a32bfc896669f8" TargetMode="External"/><Relationship Id="rId3" Type="http://schemas.openxmlformats.org/officeDocument/2006/relationships/hyperlink" Target="https://qiita.com/vcmacky/items/0ff1fd7e7990305677a3" TargetMode="External"/><Relationship Id="rId4" Type="http://schemas.openxmlformats.org/officeDocument/2006/relationships/hyperlink" Target="https://qiita.com/tomada/items/650546e8b9f5e33d5820" TargetMode="External"/><Relationship Id="rId5" Type="http://schemas.openxmlformats.org/officeDocument/2006/relationships/hyperlink" Target="https://qiita.com/riskpw/items/116e21214e47b7e525e7"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quotidia/items/3243d41ffa367564d46b" TargetMode="External"/><Relationship Id="rId3" Type="http://schemas.openxmlformats.org/officeDocument/2006/relationships/hyperlink" Target="https://qiita.com/sugarfree/items/deea74c0a08c6abba544" TargetMode="External"/><Relationship Id="rId4" Type="http://schemas.openxmlformats.org/officeDocument/2006/relationships/hyperlink" Target="https://qiita.com/s_horikoshi/items/2242dbfcaf003b714c96" TargetMode="External"/><Relationship Id="rId5" Type="http://schemas.openxmlformats.org/officeDocument/2006/relationships/hyperlink" Target="https://qiita.com/rikunagano/items/59951235d4f2d2d44be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udowanllc/items/1047b163b41430b22b18" TargetMode="External"/><Relationship Id="rId3" Type="http://schemas.openxmlformats.org/officeDocument/2006/relationships/hyperlink" Target="https://zenn.dev/lingmu/articles/2026-08-02-gemini-robotics-embodied-intelligence" TargetMode="External"/><Relationship Id="rId4" Type="http://schemas.openxmlformats.org/officeDocument/2006/relationships/hyperlink" Target="https://qiita.com/sugarfree/items/8768463ac57abf518a5d" TargetMode="External"/><Relationship Id="rId5" Type="http://schemas.openxmlformats.org/officeDocument/2006/relationships/hyperlink" Target="https://qiita.com/shuji_asatsuma0251/items/a55a577cd13a3ee1f181"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mabui/articles/iac-guard-llm-separation" TargetMode="External"/><Relationship Id="rId3" Type="http://schemas.openxmlformats.org/officeDocument/2006/relationships/hyperlink" Target="https://zenn.dev/lotation/articles/aff89de9bc514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quotidia/items/9d0a524e412872c8144c" TargetMode="External"/><Relationship Id="rId3" Type="http://schemas.openxmlformats.org/officeDocument/2006/relationships/hyperlink" Target="https://qiita.com/yoshinaga_slj/items/9df1b85b0f536a9a3765" TargetMode="External"/><Relationship Id="rId4" Type="http://schemas.openxmlformats.org/officeDocument/2006/relationships/hyperlink" Target="https://qiita.com/maskot1977/items/df6b8e18b3ec8e719d23" TargetMode="External"/><Relationship Id="rId5" Type="http://schemas.openxmlformats.org/officeDocument/2006/relationships/hyperlink" Target="https://qiita.com/Miraigent/items/5a69a0c1782fff589ddb" TargetMode="External"/><Relationship Id="rId6" Type="http://schemas.openxmlformats.org/officeDocument/2006/relationships/hyperlink" Target="https://qiita.com/sukimaengineer/items/fb8d08e4cdad96aacc17" TargetMode="External"/><Relationship Id="rId7" Type="http://schemas.openxmlformats.org/officeDocument/2006/relationships/hyperlink" Target="https://qiita.com/masykot582/items/566b35d499804e0b0a40" TargetMode="External"/><Relationship Id="rId8" Type="http://schemas.openxmlformats.org/officeDocument/2006/relationships/hyperlink" Target="https://qiita.com/yuAbe/items/5dc6144b27be22e564ca" TargetMode="External"/><Relationship Id="rId9" Type="http://schemas.openxmlformats.org/officeDocument/2006/relationships/hyperlink" Target="https://qiita.com/kinamocchi_tech/items/6807e072caccb6ad89a0" TargetMode="External"/><Relationship Id="rId10" Type="http://schemas.openxmlformats.org/officeDocument/2006/relationships/hyperlink" Target="https://qiita.com/maccotaro/items/357df5802cc05ce5dec0" TargetMode="External"/><Relationship Id="rId11" Type="http://schemas.openxmlformats.org/officeDocument/2006/relationships/hyperlink" Target="https://qiita.com/ruumalilja/items/8c905adfe1a19b2439aa" TargetMode="External"/><Relationship Id="rId12" Type="http://schemas.openxmlformats.org/officeDocument/2006/relationships/hyperlink" Target="https://qiita.com/dahatake/items/119a762bdcc0f31482e5" TargetMode="External"/><Relationship Id="rId13" Type="http://schemas.openxmlformats.org/officeDocument/2006/relationships/hyperlink" Target="https://qiita.com/KTNill/items/abc9fc6e55e22e19a29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TheGateBreaker/items/a15326c2703d4b3c3ff3" TargetMode="External"/><Relationship Id="rId3" Type="http://schemas.openxmlformats.org/officeDocument/2006/relationships/hyperlink" Target="https://qiita.com/Leohuang/items/0d0cb09d576fc86c8c13" TargetMode="External"/><Relationship Id="rId4" Type="http://schemas.openxmlformats.org/officeDocument/2006/relationships/hyperlink" Target="https://qiita.com/mguozhen/items/d94ed053b485698fbbcc" TargetMode="External"/><Relationship Id="rId5" Type="http://schemas.openxmlformats.org/officeDocument/2006/relationships/hyperlink" Target="https://qiita.com/Synthorai/items/a32029031ca37f66ce92" TargetMode="External"/><Relationship Id="rId6" Type="http://schemas.openxmlformats.org/officeDocument/2006/relationships/hyperlink" Target="https://qiita.com/takeru-hirai/items/0d8c511cf90c65bbbc13" TargetMode="External"/><Relationship Id="rId7" Type="http://schemas.openxmlformats.org/officeDocument/2006/relationships/hyperlink" Target="https://arxiv.org/abs/2607.28884" TargetMode="External"/><Relationship Id="rId8" Type="http://schemas.openxmlformats.org/officeDocument/2006/relationships/hyperlink" Target="https://zenn.dev/correlate_dev/articles/qwen-hybrid-operations" TargetMode="External"/><Relationship Id="rId9" Type="http://schemas.openxmlformats.org/officeDocument/2006/relationships/hyperlink" Target="https://leifkb.github.io/crack-attack-browser/" TargetMode="External"/><Relationship Id="rId10" Type="http://schemas.openxmlformats.org/officeDocument/2006/relationships/hyperlink" Target="https://marksmayo.github.io/matrix/" TargetMode="External"/><Relationship Id="rId11" Type="http://schemas.openxmlformats.org/officeDocument/2006/relationships/hyperlink" Target="https://www.technologyreview.com/2026/07/30/1140927/a-fundamental-flaw-leaves-llms-vulnerable-to-attack/" TargetMode="External"/><Relationship Id="rId12" Type="http://schemas.openxmlformats.org/officeDocument/2006/relationships/hyperlink" Target="https://zenn.dev/headwaters/articles/6b5643581e0bf3" TargetMode="External"/><Relationship Id="rId13" Type="http://schemas.openxmlformats.org/officeDocument/2006/relationships/hyperlink" Target="https://qiita.com/ume_hide/items/f653d422b1f16f258d6b"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tribeau/articles/69274df0a2084d" TargetMode="External"/><Relationship Id="rId3" Type="http://schemas.openxmlformats.org/officeDocument/2006/relationships/hyperlink" Target="https://openreview.net/pdf?id=klU4737opt" TargetMode="External"/><Relationship Id="rId4" Type="http://schemas.openxmlformats.org/officeDocument/2006/relationships/hyperlink" Target="https://zenn.dev/itdevnote/articles/llm-summary-drop" TargetMode="External"/><Relationship Id="rId5" Type="http://schemas.openxmlformats.org/officeDocument/2006/relationships/hyperlink" Target="https://qiita.com/AlexAlex/items/553b864dd25c0ce81adb" TargetMode="External"/><Relationship Id="rId6" Type="http://schemas.openxmlformats.org/officeDocument/2006/relationships/hyperlink" Target="https://qiita.com/kakusan2022/items/354232d7dbcf62d781d9" TargetMode="External"/><Relationship Id="rId7" Type="http://schemas.openxmlformats.org/officeDocument/2006/relationships/hyperlink" Target="https://qiita.com/avecdogpresence/items/85aa0886f12ba4f4adf3" TargetMode="External"/><Relationship Id="rId8" Type="http://schemas.openxmlformats.org/officeDocument/2006/relationships/hyperlink" Target="https://qiita.com/yanagiQA/items/de1ba2910ab02a41d521" TargetMode="External"/><Relationship Id="rId9" Type="http://schemas.openxmlformats.org/officeDocument/2006/relationships/hyperlink" Target="https://www.seangoedecke.com/llms-reward-expertise/" TargetMode="External"/><Relationship Id="rId10" Type="http://schemas.openxmlformats.org/officeDocument/2006/relationships/hyperlink" Target="https://zenn.dev/every_ai_recipe/articles/weekly-task-diff-1min-rollup" TargetMode="External"/><Relationship Id="rId11" Type="http://schemas.openxmlformats.org/officeDocument/2006/relationships/hyperlink" Target="https://qiita.com/mrrclb48z/items/307ef1c00106b49c34e4" TargetMode="External"/><Relationship Id="rId12" Type="http://schemas.openxmlformats.org/officeDocument/2006/relationships/hyperlink" Target="https://qiita.com/kai_kou/items/c55c150969292b3bea4a" TargetMode="External"/><Relationship Id="rId13" Type="http://schemas.openxmlformats.org/officeDocument/2006/relationships/hyperlink" Target="https://zenn.dev/shakeailab/articles/minigpt-on-my-own-blo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ou_lab/items/2e0729473f87eff819b9" TargetMode="External"/><Relationship Id="rId3" Type="http://schemas.openxmlformats.org/officeDocument/2006/relationships/hyperlink" Target="https://qiita.com/Yukidarusan/items/334a22d80a482e70e914" TargetMode="External"/><Relationship Id="rId4" Type="http://schemas.openxmlformats.org/officeDocument/2006/relationships/hyperlink" Target="https://qiita.com/dsgarage/items/56d51dae7cc1e1523d40" TargetMode="External"/><Relationship Id="rId5" Type="http://schemas.openxmlformats.org/officeDocument/2006/relationships/hyperlink" Target="https://zenn.dev/ossudesu/articles/zenn-judge-article" TargetMode="External"/><Relationship Id="rId6" Type="http://schemas.openxmlformats.org/officeDocument/2006/relationships/hyperlink" Target="https://qiita.com/benjuwan/items/390b240f6693b6d8d434" TargetMode="External"/><Relationship Id="rId7" Type="http://schemas.openxmlformats.org/officeDocument/2006/relationships/hyperlink" Target="https://qiita.com/RubliX/items/5644c38b0ef974d281e6" TargetMode="External"/><Relationship Id="rId8" Type="http://schemas.openxmlformats.org/officeDocument/2006/relationships/hyperlink" Target="https://zenn.dev/m16_llc/articles/gpt-gemini-claude-comparison-2026" TargetMode="External"/><Relationship Id="rId9" Type="http://schemas.openxmlformats.org/officeDocument/2006/relationships/hyperlink" Target="https://zenn.dev/syoshida07/articles/5ec4103cde9bd6" TargetMode="External"/><Relationship Id="rId10" Type="http://schemas.openxmlformats.org/officeDocument/2006/relationships/hyperlink" Target="https://leoaido.com/how-llms-watch-video/" TargetMode="External"/><Relationship Id="rId11" Type="http://schemas.openxmlformats.org/officeDocument/2006/relationships/hyperlink" Target="https://research.jfrog.com/post/sqlite-critical-cves-or-llm-slops/" TargetMode="External"/><Relationship Id="rId12" Type="http://schemas.openxmlformats.org/officeDocument/2006/relationships/hyperlink" Target="https://github.com/lyogavin/airllm" TargetMode="External"/><Relationship Id="rId13" Type="http://schemas.openxmlformats.org/officeDocument/2006/relationships/hyperlink" Target="https://qiita.com/umascore/items/4a239b2ba353c0a5be6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nowMyFace/items/a45ab69570fe8e235ae9" TargetMode="External"/><Relationship Id="rId3" Type="http://schemas.openxmlformats.org/officeDocument/2006/relationships/hyperlink" Target="https://qiita.com/dosanko_tousan/items/6163a3ee4462a046c261" TargetMode="External"/><Relationship Id="rId4" Type="http://schemas.openxmlformats.org/officeDocument/2006/relationships/hyperlink" Target="https://ankursethi.com/blog/prevent-cognitive-debt-by-manually-retyping-llm-generated-code/" TargetMode="External"/><Relationship Id="rId5" Type="http://schemas.openxmlformats.org/officeDocument/2006/relationships/hyperlink" Target="https://zenn.dev/yi_works/articles/ai-three-years-01" TargetMode="External"/><Relationship Id="rId6" Type="http://schemas.openxmlformats.org/officeDocument/2006/relationships/hyperlink" Target="https://qiita.com/fukuda-sho/items/10593f627912684721d5" TargetMode="External"/><Relationship Id="rId7" Type="http://schemas.openxmlformats.org/officeDocument/2006/relationships/hyperlink" Target="https://qiita.com/fukuda-sho/items/185d7c3d9864380ffda3" TargetMode="External"/><Relationship Id="rId8" Type="http://schemas.openxmlformats.org/officeDocument/2006/relationships/hyperlink" Target="https://zenn.dev/every_ai_recipe/articles/long-context-changes-ai-ranking" TargetMode="External"/><Relationship Id="rId9" Type="http://schemas.openxmlformats.org/officeDocument/2006/relationships/hyperlink" Target="https://zenn.dev/charmpic/articles/d7e4c1af0906c2" TargetMode="External"/><Relationship Id="rId10" Type="http://schemas.openxmlformats.org/officeDocument/2006/relationships/hyperlink" Target="https://zenn.dev/pomodoro_naomi/articles/c0e556a3182eb6" TargetMode="External"/><Relationship Id="rId11" Type="http://schemas.openxmlformats.org/officeDocument/2006/relationships/hyperlink" Target="https://zenn.dev/shakeailab/articles/grokking-sudden-generalization" TargetMode="External"/><Relationship Id="rId12" Type="http://schemas.openxmlformats.org/officeDocument/2006/relationships/hyperlink" Target="https://qiita.com/TheGateBreaker/items/33f44dfb93d8b35469fd" TargetMode="External"/><Relationship Id="rId13" Type="http://schemas.openxmlformats.org/officeDocument/2006/relationships/hyperlink" Target="https://zenn.dev/frb_tamasub/articles/context-diff-0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quotidia/items/c023970250346095a93e" TargetMode="External"/><Relationship Id="rId3" Type="http://schemas.openxmlformats.org/officeDocument/2006/relationships/hyperlink" Target="https://zenn.dev/m2yagyu/articles/llm-temperature-boltzmann" TargetMode="External"/><Relationship Id="rId4" Type="http://schemas.openxmlformats.org/officeDocument/2006/relationships/hyperlink" Target="https://qiita.com/Tadataka_Takahashi/items/2f5d2414448e7ac8ec7a" TargetMode="External"/><Relationship Id="rId5" Type="http://schemas.openxmlformats.org/officeDocument/2006/relationships/hyperlink" Target="https://zenn.dev/efta1989/articles/tabular-when-dl-for-materials" TargetMode="External"/><Relationship Id="rId6" Type="http://schemas.openxmlformats.org/officeDocument/2006/relationships/hyperlink" Target="https://qiita.com/kenimo49/items/b607f6810651c07dfbc1" TargetMode="External"/><Relationship Id="rId7" Type="http://schemas.openxmlformats.org/officeDocument/2006/relationships/hyperlink" Target="https://zenn.dev/lingmu/articles/2026-08-01-gpt-5-6-price-performance-frontier" TargetMode="External"/><Relationship Id="rId8" Type="http://schemas.openxmlformats.org/officeDocument/2006/relationships/hyperlink" Target="https://zenn.dev/every_ai_recipe/articles/apology-email-repeat-role-compare" TargetMode="External"/><Relationship Id="rId9" Type="http://schemas.openxmlformats.org/officeDocument/2006/relationships/hyperlink" Target="https://qiita.com/ha-te/items/55db57e25384418ec290" TargetMode="External"/><Relationship Id="rId10" Type="http://schemas.openxmlformats.org/officeDocument/2006/relationships/hyperlink" Target="https://qiita.com/mrrclb48z/items/70ca532e8fce905e5990" TargetMode="External"/><Relationship Id="rId11" Type="http://schemas.openxmlformats.org/officeDocument/2006/relationships/hyperlink" Target="https://zenn.dev/jissoku/articles/local-llm-vram-tier-2026-07" TargetMode="External"/><Relationship Id="rId12" Type="http://schemas.openxmlformats.org/officeDocument/2006/relationships/hyperlink" Target="https://qiita.com/amanity-haray/items/06d3392294972de9862f" TargetMode="External"/><Relationship Id="rId13" Type="http://schemas.openxmlformats.org/officeDocument/2006/relationships/hyperlink" Target="https://qiita.com/harupython/items/20bd0b0b0ce5240b784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furuse-kazufumi/items/e6988b226d40a5916522" TargetMode="External"/><Relationship Id="rId3" Type="http://schemas.openxmlformats.org/officeDocument/2006/relationships/hyperlink" Target="https://qiita.com/calcMCalcm/items/74239dc2cf256df8110b" TargetMode="External"/><Relationship Id="rId4" Type="http://schemas.openxmlformats.org/officeDocument/2006/relationships/hyperlink" Target="https://zenn.dev/kawarin_origami/articles/numpy-concatenate-basic-20260801" TargetMode="External"/><Relationship Id="rId5" Type="http://schemas.openxmlformats.org/officeDocument/2006/relationships/hyperlink" Target="https://qiita.com/sutaminajing40/items/60249c266b0070fc54e9" TargetMode="External"/><Relationship Id="rId6" Type="http://schemas.openxmlformats.org/officeDocument/2006/relationships/hyperlink" Target="https://zenn.dev/mskbhd/articles/lab-205-llm-knowledge-graph" TargetMode="External"/><Relationship Id="rId7" Type="http://schemas.openxmlformats.org/officeDocument/2006/relationships/hyperlink" Target="https://qiita.com/moname_ai/items/b665e51fb6f754bc768b" TargetMode="External"/><Relationship Id="rId8" Type="http://schemas.openxmlformats.org/officeDocument/2006/relationships/hyperlink" Target="https://qiita.com/ha-te/items/0b0bd40a8806572743c8" TargetMode="External"/><Relationship Id="rId9" Type="http://schemas.openxmlformats.org/officeDocument/2006/relationships/hyperlink" Target="https://qiita.com/ha-te/items/a477099b8255f58c12be" TargetMode="External"/><Relationship Id="rId10" Type="http://schemas.openxmlformats.org/officeDocument/2006/relationships/hyperlink" Target="https://qiita.com/tingpromax/items/dd1d19ce3cf8263ecb35" TargetMode="External"/><Relationship Id="rId11" Type="http://schemas.openxmlformats.org/officeDocument/2006/relationships/hyperlink" Target="https://qiita.com/tingpromax/items/35c9b6bd9f8b8732f7b7" TargetMode="External"/><Relationship Id="rId12" Type="http://schemas.openxmlformats.org/officeDocument/2006/relationships/hyperlink" Target="https://qiita.com/otoyo0318/items/179a2605ab31cd031bf3" TargetMode="External"/><Relationship Id="rId13" Type="http://schemas.openxmlformats.org/officeDocument/2006/relationships/hyperlink" Target="https://qiita.com/ha-te/items/feaffeef685fdb207eb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ha-te/items/f1b8f0d05896cf0bc748" TargetMode="External"/><Relationship Id="rId3" Type="http://schemas.openxmlformats.org/officeDocument/2006/relationships/hyperlink" Target="https://qiita.com/ha-te/items/1c502c80969ce721f1d9" TargetMode="External"/><Relationship Id="rId4" Type="http://schemas.openxmlformats.org/officeDocument/2006/relationships/hyperlink" Target="https://qiita.com/kazu77/items/69129c3e748418448cc5" TargetMode="External"/><Relationship Id="rId5" Type="http://schemas.openxmlformats.org/officeDocument/2006/relationships/hyperlink" Target="https://qiita.com/otoyo0318/items/14d6c81f1eb22d525234" TargetMode="External"/><Relationship Id="rId6" Type="http://schemas.openxmlformats.org/officeDocument/2006/relationships/hyperlink" Target="https://qiita.com/mkuwan/items/4d7bd91a09f29e254bc1" TargetMode="External"/><Relationship Id="rId7" Type="http://schemas.openxmlformats.org/officeDocument/2006/relationships/hyperlink" Target="https://zenn.dev/sapolas/articles/7e36aca3347e06" TargetMode="External"/><Relationship Id="rId8" Type="http://schemas.openxmlformats.org/officeDocument/2006/relationships/hyperlink" Target="https://zenn.dev/kenta_kadowaki/articles/56d3a502356202" TargetMode="External"/><Relationship Id="rId9" Type="http://schemas.openxmlformats.org/officeDocument/2006/relationships/hyperlink" Target="https://zenn.dev/mlboydaisuke/articles/e56291d606e61348ff27" TargetMode="External"/><Relationship Id="rId10" Type="http://schemas.openxmlformats.org/officeDocument/2006/relationships/hyperlink" Target="https://zenn.dev/miki_mini/articles/f5a0b85f84bbd6" TargetMode="External"/><Relationship Id="rId11" Type="http://schemas.openxmlformats.org/officeDocument/2006/relationships/hyperlink" Target="https://zenn.dev/nozmat/articles/e414ab808ebc1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3240"/>
            <a:ext cx="12188952" cy="54864"/>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698480" cy="1371600"/>
          </a:xfrm>
          <a:prstGeom prst="rect">
            <a:avLst/>
          </a:prstGeom>
          <a:noFill/>
        </p:spPr>
        <p:txBody>
          <a:bodyPr wrap="square">
            <a:spAutoFit/>
          </a:bodyPr>
          <a:lstStyle/>
          <a:p>
            <a:pPr algn="ctr"/>
            <a:r>
              <a:rPr sz="4400" b="1">
                <a:solidFill>
                  <a:srgbClr val="FFFFFF"/>
                </a:solidFill>
              </a:rPr>
              <a:t>AI ニュース日報</a:t>
            </a:r>
          </a:p>
        </p:txBody>
      </p:sp>
      <p:sp>
        <p:nvSpPr>
          <p:cNvPr id="5" name="TextBox 4"/>
          <p:cNvSpPr txBox="1"/>
          <p:nvPr/>
        </p:nvSpPr>
        <p:spPr>
          <a:xfrm>
            <a:off x="731520" y="2743200"/>
            <a:ext cx="10698480" cy="640080"/>
          </a:xfrm>
          <a:prstGeom prst="rect">
            <a:avLst/>
          </a:prstGeom>
          <a:noFill/>
        </p:spPr>
        <p:txBody>
          <a:bodyPr wrap="square">
            <a:spAutoFit/>
          </a:bodyPr>
          <a:lstStyle/>
          <a:p>
            <a:pPr algn="ctr"/>
            <a:r>
              <a:rPr sz="2200" b="0">
                <a:solidFill>
                  <a:srgbClr val="AED6F1"/>
                </a:solidFill>
              </a:rPr>
              <a:t>2026-08-04</a:t>
            </a:r>
          </a:p>
        </p:txBody>
      </p:sp>
      <p:sp>
        <p:nvSpPr>
          <p:cNvPr id="6" name="TextBox 5"/>
          <p:cNvSpPr txBox="1"/>
          <p:nvPr/>
        </p:nvSpPr>
        <p:spPr>
          <a:xfrm>
            <a:off x="731520" y="3474720"/>
            <a:ext cx="10698480" cy="548640"/>
          </a:xfrm>
          <a:prstGeom prst="rect">
            <a:avLst/>
          </a:prstGeom>
          <a:noFill/>
        </p:spPr>
        <p:txBody>
          <a:bodyPr wrap="square">
            <a:spAutoFit/>
          </a:bodyPr>
          <a:lstStyle/>
          <a:p>
            <a:pPr algn="ctr"/>
            <a:r>
              <a:rPr sz="1800" b="0">
                <a:solidFill>
                  <a:srgbClr val="85C1E9"/>
                </a:solidFill>
              </a:rPr>
              <a:t>総収集記事数：221 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37160" cy="1005840"/>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1430000" cy="777240"/>
          </a:xfrm>
          <a:prstGeom prst="rect">
            <a:avLst/>
          </a:prstGeom>
          <a:noFill/>
        </p:spPr>
        <p:txBody>
          <a:bodyPr wrap="square">
            <a:spAutoFit/>
          </a:bodyPr>
          <a:lstStyle/>
          <a:p>
            <a:pPr algn="l"/>
            <a:r>
              <a:rPr sz="2600" b="1">
                <a:solidFill>
                  <a:srgbClr val="FFFFFF"/>
                </a:solidFill>
              </a:rPr>
              <a:t>本日のテーマ別サマリー</a:t>
            </a:r>
          </a:p>
        </p:txBody>
      </p:sp>
      <p:graphicFrame>
        <p:nvGraphicFramePr>
          <p:cNvPr id="6" name="Table 5"/>
          <p:cNvGraphicFramePr>
            <a:graphicFrameLocks noGrp="1"/>
          </p:cNvGraphicFramePr>
          <p:nvPr/>
        </p:nvGraphicFramePr>
        <p:xfrm>
          <a:off x="1371600" y="1554480"/>
          <a:ext cx="9418320" cy="4754880"/>
        </p:xfrm>
        <a:graphic>
          <a:graphicData uri="http://schemas.openxmlformats.org/drawingml/2006/table">
            <a:tbl>
              <a:tblPr firstRow="1" bandRow="1">
                <a:tableStyleId>{5C22544A-7EE6-4342-B048-85BDC9FD1C3A}</a:tableStyleId>
              </a:tblPr>
              <a:tblGrid>
                <a:gridCol w="5760720"/>
                <a:gridCol w="1737360"/>
                <a:gridCol w="1920240"/>
              </a:tblGrid>
              <a:tr h="594360">
                <a:tc>
                  <a:txBody>
                    <a:bodyPr/>
                    <a:lstStyle/>
                    <a:p>
                      <a:pPr algn="l"/>
                      <a:r>
                        <a:rPr sz="1100" b="1">
                          <a:solidFill>
                            <a:srgbClr val="FFFFFF"/>
                          </a:solidFill>
                        </a:rPr>
                        <a:t>テーマ</a:t>
                      </a:r>
                    </a:p>
                  </a:txBody>
                  <a:tcPr>
                    <a:solidFill>
                      <a:srgbClr val="233C5F"/>
                    </a:solidFill>
                  </a:tcPr>
                </a:tc>
                <a:tc>
                  <a:txBody>
                    <a:bodyPr/>
                    <a:lstStyle/>
                    <a:p>
                      <a:pPr algn="ctr"/>
                      <a:r>
                        <a:rPr sz="1100" b="1">
                          <a:solidFill>
                            <a:srgbClr val="FFFFFF"/>
                          </a:solidFill>
                        </a:rPr>
                        <a:t>件数</a:t>
                      </a:r>
                    </a:p>
                  </a:txBody>
                  <a:tcPr>
                    <a:solidFill>
                      <a:srgbClr val="233C5F"/>
                    </a:solidFill>
                  </a:tcPr>
                </a:tc>
                <a:tc>
                  <a:txBody>
                    <a:bodyPr/>
                    <a:lstStyle/>
                    <a:p>
                      <a:pPr algn="ctr"/>
                      <a:r>
                        <a:rPr sz="1100" b="1">
                          <a:solidFill>
                            <a:srgbClr val="FFFFFF"/>
                          </a:solidFill>
                        </a:rPr>
                        <a:t>割合</a:t>
                      </a:r>
                    </a:p>
                  </a:txBody>
                  <a:tcPr>
                    <a:solidFill>
                      <a:srgbClr val="233C5F"/>
                    </a:solidFill>
                  </a:tcPr>
                </a:tc>
              </a:tr>
              <a:tr h="594360">
                <a:tc>
                  <a:txBody>
                    <a:bodyPr/>
                    <a:lstStyle/>
                    <a:p>
                      <a:pPr algn="l"/>
                      <a:r>
                        <a:rPr sz="1200" b="0">
                          <a:solidFill>
                            <a:srgbClr val="D0E4F7"/>
                          </a:solidFill>
                        </a:rPr>
                        <a:t>● IT運用・自動化</a:t>
                      </a:r>
                    </a:p>
                  </a:txBody>
                  <a:tcPr>
                    <a:solidFill>
                      <a:srgbClr val="1E2D47"/>
                    </a:solidFill>
                  </a:tcPr>
                </a:tc>
                <a:tc>
                  <a:txBody>
                    <a:bodyPr/>
                    <a:lstStyle/>
                    <a:p>
                      <a:pPr algn="ctr"/>
                      <a:r>
                        <a:rPr sz="1200" b="0">
                          <a:solidFill>
                            <a:srgbClr val="E74C3C"/>
                          </a:solidFill>
                        </a:rPr>
                        <a:t>15 件</a:t>
                      </a:r>
                    </a:p>
                  </a:txBody>
                  <a:tcPr>
                    <a:solidFill>
                      <a:srgbClr val="1E2D47"/>
                    </a:solidFill>
                  </a:tcPr>
                </a:tc>
                <a:tc>
                  <a:txBody>
                    <a:bodyPr/>
                    <a:lstStyle/>
                    <a:p>
                      <a:pPr algn="ctr"/>
                      <a:r>
                        <a:rPr sz="1200" b="0">
                          <a:solidFill>
                            <a:srgbClr val="D0E4F7"/>
                          </a:solidFill>
                        </a:rPr>
                        <a:t>5.6%</a:t>
                      </a:r>
                    </a:p>
                  </a:txBody>
                  <a:tcPr>
                    <a:solidFill>
                      <a:srgbClr val="1E2D47"/>
                    </a:solidFill>
                  </a:tcPr>
                </a:tc>
              </a:tr>
              <a:tr h="594360">
                <a:tc>
                  <a:txBody>
                    <a:bodyPr/>
                    <a:lstStyle/>
                    <a:p>
                      <a:pPr algn="l"/>
                      <a:r>
                        <a:rPr sz="1200" b="0">
                          <a:solidFill>
                            <a:srgbClr val="D0E4F7"/>
                          </a:solidFill>
                        </a:rPr>
                        <a:t>● RAG・検索基盤設計</a:t>
                      </a:r>
                    </a:p>
                  </a:txBody>
                  <a:tcPr>
                    <a:solidFill>
                      <a:srgbClr val="162238"/>
                    </a:solidFill>
                  </a:tcPr>
                </a:tc>
                <a:tc>
                  <a:txBody>
                    <a:bodyPr/>
                    <a:lstStyle/>
                    <a:p>
                      <a:pPr algn="ctr"/>
                      <a:r>
                        <a:rPr sz="1200" b="0">
                          <a:solidFill>
                            <a:srgbClr val="2980B9"/>
                          </a:solidFill>
                        </a:rPr>
                        <a:t>39 件</a:t>
                      </a:r>
                    </a:p>
                  </a:txBody>
                  <a:tcPr>
                    <a:solidFill>
                      <a:srgbClr val="162238"/>
                    </a:solidFill>
                  </a:tcPr>
                </a:tc>
                <a:tc>
                  <a:txBody>
                    <a:bodyPr/>
                    <a:lstStyle/>
                    <a:p>
                      <a:pPr algn="ctr"/>
                      <a:r>
                        <a:rPr sz="1200" b="0">
                          <a:solidFill>
                            <a:srgbClr val="D0E4F7"/>
                          </a:solidFill>
                        </a:rPr>
                        <a:t>14.6%</a:t>
                      </a:r>
                    </a:p>
                  </a:txBody>
                  <a:tcPr>
                    <a:solidFill>
                      <a:srgbClr val="162238"/>
                    </a:solidFill>
                  </a:tcPr>
                </a:tc>
              </a:tr>
              <a:tr h="594360">
                <a:tc>
                  <a:txBody>
                    <a:bodyPr/>
                    <a:lstStyle/>
                    <a:p>
                      <a:pPr algn="l"/>
                      <a:r>
                        <a:rPr sz="1200" b="0">
                          <a:solidFill>
                            <a:srgbClr val="D0E4F7"/>
                          </a:solidFill>
                        </a:rPr>
                        <a:t>● AIエージェント開発・運用</a:t>
                      </a:r>
                    </a:p>
                  </a:txBody>
                  <a:tcPr>
                    <a:solidFill>
                      <a:srgbClr val="1E2D47"/>
                    </a:solidFill>
                  </a:tcPr>
                </a:tc>
                <a:tc>
                  <a:txBody>
                    <a:bodyPr/>
                    <a:lstStyle/>
                    <a:p>
                      <a:pPr algn="ctr"/>
                      <a:r>
                        <a:rPr sz="1200" b="0">
                          <a:solidFill>
                            <a:srgbClr val="8439AD"/>
                          </a:solidFill>
                        </a:rPr>
                        <a:t>74 件</a:t>
                      </a:r>
                    </a:p>
                  </a:txBody>
                  <a:tcPr>
                    <a:solidFill>
                      <a:srgbClr val="1E2D47"/>
                    </a:solidFill>
                  </a:tcPr>
                </a:tc>
                <a:tc>
                  <a:txBody>
                    <a:bodyPr/>
                    <a:lstStyle/>
                    <a:p>
                      <a:pPr algn="ctr"/>
                      <a:r>
                        <a:rPr sz="1200" b="0">
                          <a:solidFill>
                            <a:srgbClr val="D0E4F7"/>
                          </a:solidFill>
                        </a:rPr>
                        <a:t>27.7%</a:t>
                      </a:r>
                    </a:p>
                  </a:txBody>
                  <a:tcPr>
                    <a:solidFill>
                      <a:srgbClr val="1E2D47"/>
                    </a:solidFill>
                  </a:tcPr>
                </a:tc>
              </a:tr>
              <a:tr h="594360">
                <a:tc>
                  <a:txBody>
                    <a:bodyPr/>
                    <a:lstStyle/>
                    <a:p>
                      <a:pPr algn="l"/>
                      <a:r>
                        <a:rPr sz="1200" b="0">
                          <a:solidFill>
                            <a:srgbClr val="D0E4F7"/>
                          </a:solidFill>
                        </a:rPr>
                        <a:t>● 生成AI活用の現場実践・他社事例</a:t>
                      </a:r>
                    </a:p>
                  </a:txBody>
                  <a:tcPr>
                    <a:solidFill>
                      <a:srgbClr val="162238"/>
                    </a:solidFill>
                  </a:tcPr>
                </a:tc>
                <a:tc>
                  <a:txBody>
                    <a:bodyPr/>
                    <a:lstStyle/>
                    <a:p>
                      <a:pPr algn="ctr"/>
                      <a:r>
                        <a:rPr sz="1200" b="0">
                          <a:solidFill>
                            <a:srgbClr val="27AE60"/>
                          </a:solidFill>
                        </a:rPr>
                        <a:t>34 件</a:t>
                      </a:r>
                    </a:p>
                  </a:txBody>
                  <a:tcPr>
                    <a:solidFill>
                      <a:srgbClr val="162238"/>
                    </a:solidFill>
                  </a:tcPr>
                </a:tc>
                <a:tc>
                  <a:txBody>
                    <a:bodyPr/>
                    <a:lstStyle/>
                    <a:p>
                      <a:pPr algn="ctr"/>
                      <a:r>
                        <a:rPr sz="1200" b="0">
                          <a:solidFill>
                            <a:srgbClr val="D0E4F7"/>
                          </a:solidFill>
                        </a:rPr>
                        <a:t>12.7%</a:t>
                      </a:r>
                    </a:p>
                  </a:txBody>
                  <a:tcPr>
                    <a:solidFill>
                      <a:srgbClr val="162238"/>
                    </a:solidFill>
                  </a:tcPr>
                </a:tc>
              </a:tr>
              <a:tr h="594360">
                <a:tc>
                  <a:txBody>
                    <a:bodyPr/>
                    <a:lstStyle/>
                    <a:p>
                      <a:pPr algn="l"/>
                      <a:r>
                        <a:rPr sz="1200" b="0">
                          <a:solidFill>
                            <a:srgbClr val="D0E4F7"/>
                          </a:solidFill>
                        </a:rPr>
                        <a:t>● AIガバナンス・セキュリティ・社内ルール</a:t>
                      </a:r>
                    </a:p>
                  </a:txBody>
                  <a:tcPr>
                    <a:solidFill>
                      <a:srgbClr val="1E2D47"/>
                    </a:solidFill>
                  </a:tcPr>
                </a:tc>
                <a:tc>
                  <a:txBody>
                    <a:bodyPr/>
                    <a:lstStyle/>
                    <a:p>
                      <a:pPr algn="ctr"/>
                      <a:r>
                        <a:rPr sz="1200" b="0">
                          <a:solidFill>
                            <a:srgbClr val="E67E22"/>
                          </a:solidFill>
                        </a:rPr>
                        <a:t>11 件</a:t>
                      </a:r>
                    </a:p>
                  </a:txBody>
                  <a:tcPr>
                    <a:solidFill>
                      <a:srgbClr val="1E2D47"/>
                    </a:solidFill>
                  </a:tcPr>
                </a:tc>
                <a:tc>
                  <a:txBody>
                    <a:bodyPr/>
                    <a:lstStyle/>
                    <a:p>
                      <a:pPr algn="ctr"/>
                      <a:r>
                        <a:rPr sz="1200" b="0">
                          <a:solidFill>
                            <a:srgbClr val="D0E4F7"/>
                          </a:solidFill>
                        </a:rPr>
                        <a:t>4.1%</a:t>
                      </a:r>
                    </a:p>
                  </a:txBody>
                  <a:tcPr>
                    <a:solidFill>
                      <a:srgbClr val="1E2D47"/>
                    </a:solidFill>
                  </a:tcPr>
                </a:tc>
              </a:tr>
              <a:tr h="594360">
                <a:tc>
                  <a:txBody>
                    <a:bodyPr/>
                    <a:lstStyle/>
                    <a:p>
                      <a:pPr algn="l"/>
                      <a:r>
                        <a:rPr sz="1200" b="0">
                          <a:solidFill>
                            <a:srgbClr val="D0E4F7"/>
                          </a:solidFill>
                        </a:rPr>
                        <a:t>● その他</a:t>
                      </a:r>
                    </a:p>
                  </a:txBody>
                  <a:tcPr>
                    <a:solidFill>
                      <a:srgbClr val="162238"/>
                    </a:solidFill>
                  </a:tcPr>
                </a:tc>
                <a:tc>
                  <a:txBody>
                    <a:bodyPr/>
                    <a:lstStyle/>
                    <a:p>
                      <a:pPr algn="ctr"/>
                      <a:r>
                        <a:rPr sz="1200" b="0">
                          <a:solidFill>
                            <a:srgbClr val="7F8C8D"/>
                          </a:solidFill>
                        </a:rPr>
                        <a:t>94 件</a:t>
                      </a:r>
                    </a:p>
                  </a:txBody>
                  <a:tcPr>
                    <a:solidFill>
                      <a:srgbClr val="162238"/>
                    </a:solidFill>
                  </a:tcPr>
                </a:tc>
                <a:tc>
                  <a:txBody>
                    <a:bodyPr/>
                    <a:lstStyle/>
                    <a:p>
                      <a:pPr algn="ctr"/>
                      <a:r>
                        <a:rPr sz="1200" b="0">
                          <a:solidFill>
                            <a:srgbClr val="D0E4F7"/>
                          </a:solidFill>
                        </a:rPr>
                        <a:t>35.2%</a:t>
                      </a:r>
                    </a:p>
                  </a:txBody>
                  <a:tcPr>
                    <a:solidFill>
                      <a:srgbClr val="162238"/>
                    </a:solidFill>
                  </a:tcPr>
                </a:tc>
              </a:tr>
              <a:tr h="594360">
                <a:tc>
                  <a:txBody>
                    <a:bodyPr/>
                    <a:lstStyle/>
                    <a:p>
                      <a:pPr algn="l"/>
                      <a:r>
                        <a:rPr sz="1200" b="1">
                          <a:solidFill>
                            <a:srgbClr val="FFFFFF"/>
                          </a:solidFill>
                        </a:rPr>
                        <a:t>合計</a:t>
                      </a:r>
                    </a:p>
                  </a:txBody>
                  <a:tcPr>
                    <a:solidFill>
                      <a:srgbClr val="2D405C"/>
                    </a:solidFill>
                  </a:tcPr>
                </a:tc>
                <a:tc>
                  <a:txBody>
                    <a:bodyPr/>
                    <a:lstStyle/>
                    <a:p>
                      <a:pPr algn="ctr"/>
                      <a:r>
                        <a:rPr sz="1200" b="1">
                          <a:solidFill>
                            <a:srgbClr val="FFFFFF"/>
                          </a:solidFill>
                        </a:rPr>
                        <a:t>267 件</a:t>
                      </a:r>
                    </a:p>
                  </a:txBody>
                  <a:tcPr>
                    <a:solidFill>
                      <a:srgbClr val="2D405C"/>
                    </a:solidFill>
                  </a:tcPr>
                </a:tc>
                <a:tc>
                  <a:txBody>
                    <a:bodyPr/>
                    <a:lstStyle/>
                    <a:p>
                      <a:pPr algn="ctr"/>
                      <a:r>
                        <a:rPr sz="1200" b="1">
                          <a:solidFill>
                            <a:srgbClr val="FFFFFF"/>
                          </a:solidFill>
                        </a:rPr>
                        <a:t>100.0%</a:t>
                      </a:r>
                    </a:p>
                  </a:txBody>
                  <a:tcPr>
                    <a:solidFill>
                      <a:srgbClr val="2D405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IT運用・自動化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モデルカタログの pricing_version を GitHub Actions で監視して Slack に流した</a:t>
            </a:r>
            <a:r>
              <a:rPr sz="900">
                <a:solidFill>
                  <a:srgbClr val="7F8C8D"/>
                </a:solidFill>
              </a:rPr>
              <a:t>  (2026-08-04)</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https://qiita.com/FlatkeyAI/items/c06c0b455e13f8d2c775</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はじめに
LLM API のモデル選定メモは、最初に作った日はかなり気分がいいのですが、更新はだいたい忘れます。
私はモデル名、endpoint family、availability、価格係数のような行を見ながら「このモデルを今のサービスで採用してよいか」を決めています。ただ、モデルカタログは</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スライド作りに何時間使っていますか？｜AIで資料作成の下書きを自動化する3つのアプローチ</a:t>
            </a:r>
            <a:r>
              <a:rPr sz="900">
                <a:solidFill>
                  <a:srgbClr val="7F8C8D"/>
                </a:solidFill>
              </a:rPr>
              <a:t>  (2026-08-04)</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https://qiita.com/DnD-inc/items/54f8dcc2df91125e4a13</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スライド作りに何時間使っていますか？｜AIで資料作成の下書きを自動化する3つのアプローチ
&gt; 本記事は、株式会社DnD（https://dnd-inc.jp）のコラムを一部編集して掲載しています。
&gt; 初出: https://dnd-inc.jp/blog/ai-slide-presentatio</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コードベースのナレッジ化に最適なLLM Wikiの利点と活用法</a:t>
            </a:r>
            <a:r>
              <a:rPr sz="900">
                <a:solidFill>
                  <a:srgbClr val="7F8C8D"/>
                </a:solidFill>
              </a:rPr>
              <a:t>  (2026-08-04)</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https://qiita.com/syun136_616/items/b7e4f85d3e1318fe9fc7</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この記事の要点
- LLM Wikiはコードナレッジを体系的に整理するのに役立つ。
- 簡単に編集・更新できるため、エンジニアが参加しやすい。
- AIを活用し、情報の検索や整理を自動化できる機能がある。
LLM Wikiとは？
LLM（Large Language Model）Wikiは、AI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RAG・検索基盤設計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【徹底比較】RAG / GraphRAG / KAG / SAG / CRAG / Agentic RAG は何がどう違うのか</a:t>
            </a:r>
            <a:r>
              <a:rPr sz="900">
                <a:solidFill>
                  <a:srgbClr val="7F8C8D"/>
                </a:solidFill>
              </a:rPr>
              <a:t>  (2026-08-04)</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https://qiita.com/Simon_Zhang/items/710b838cd26844560151</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&gt; この記事のゴール
&gt; 「RAGの亜種が多すぎて、どれを選べばいいのか分からない」を1記事で解消します。
&gt; 6手法を ①何を解決したか ②アーキテクチャ ③強み/弱み ④選定基準 の4軸で整理し、最後に意思決定フローチャートまで落とし込みます。
---
0. 30秒で分かる結論
| 手法 </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980B9"/>
                </a:solidFill>
              </a:rPr>
              <a:t>[Zenn]  </a:t>
            </a:r>
            <a:r>
              <a:rPr sz="1200" b="1">
                <a:solidFill>
                  <a:srgbClr val="FFFFFF"/>
                </a:solidFill>
              </a:rPr>
              <a:t>LLM-as-Judgeの使いどころ ― RAG基盤生成モデル選定で下した評価設計の判断</a:t>
            </a:r>
            <a:r>
              <a:rPr sz="900">
                <a:solidFill>
                  <a:srgbClr val="7F8C8D"/>
                </a:solidFill>
              </a:rPr>
              <a:t>  (2026-08-03)</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https://zenn.dev/yuya0408/articles/llm-as-judge-rag</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日本語RAG基盤で、回答を生成するLLMを複数の候補から1つに選ぶ必要があった。品質を主観で判別しないために、別のLLMに回答を採点させる LLM-as-Judge で数値化するのは定石だ。問題は、その数値をどこまで意思決定に使ってよいか、だと私は考える。
結論を先に提示しておくと、この記事でのju</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980B9"/>
                </a:solidFill>
              </a:rPr>
              <a:t>[HackerNews]  </a:t>
            </a:r>
            <a:r>
              <a:rPr sz="1200" b="1">
                <a:solidFill>
                  <a:srgbClr val="FFFFFF"/>
                </a:solidFill>
              </a:rPr>
              <a:t>Windows XP 2002 for the Itanium: Unbridled rage</a:t>
            </a:r>
            <a:r>
              <a:rPr sz="900">
                <a:solidFill>
                  <a:srgbClr val="7F8C8D"/>
                </a:solidFill>
              </a:rPr>
              <a:t>  (2026-08-03)</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https://virtuallyfun.com/2026/08/03/windows-xp-2002-for-the-itanium-unbridled-rage/</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Windows XP 2002 for the Itanium: Unbridled 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AIエージェント開発・運用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Pythonで業務用語の定義漏れをCIで止める</a:t>
            </a:r>
            <a:r>
              <a:rPr sz="900">
                <a:solidFill>
                  <a:srgbClr val="7F8C8D"/>
                </a:solidFill>
              </a:rPr>
              <a:t>  (2026-08-04)</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https://qiita.com/hironakamura_ai/items/0dd905e4c1710b0c7cfb</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昨日、LLM に渡す売上指標の用語集を JSON にしていて、 の計算に必要な  がどこにも定義されていないことに気付いた。プロンプトなら「不足している用語は質問して」と書ける。でも実行のたびに守らせるより、マージ前に落としたほうが早い。
業務用語集は説明資料ではなく、エージェントが参照するデータ</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Claude Code開発者が押さえておきたいAnthropicニュース（2026-08-04）</a:t>
            </a:r>
            <a:r>
              <a:rPr sz="900">
                <a:solidFill>
                  <a:srgbClr val="7F8C8D"/>
                </a:solidFill>
              </a:rPr>
              <a:t>  (2026-08-04)</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https://qiita.com/homhom44/items/9703ef1c0de62667dca0</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Anthropic の Claude / Claude Code 関連ニュースをまとめた索引だ。記事本文は日本語で PaPoo に投稿している。ここでは各記事の要点を紹介するので、詳細は各リンク先を読んでほしい。
ベンチマークが「間違っている」と気づけるか
読んでまず思ったのは、いちばん怖いのは</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【実測】Claude Codeのフック機能（PreToolUse/PostToolUse）で自動品質ゲートを組んだら、手戻りが7割減った</a:t>
            </a:r>
            <a:r>
              <a:rPr sz="900">
                <a:solidFill>
                  <a:srgbClr val="7F8C8D"/>
                </a:solidFill>
              </a:rPr>
              <a:t>  (2026-08-04)</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https://qiita.com/hikariclaude01/items/d2d7ea5f5d210b15e7da</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結論：「書き込み前に自動チェック」を挟むだけで、手戻りが7割減る
Claude Codeが勝手にファイルを書き換える不安、フック機能で「書き込み前に自動チェック」を挟むだけで劇的に解消できます。
私は1週間の実測で、手戻り回数が週23回 → 7回（約70%減） になりました。やったことはシンプル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生成AI活用の現場実践・他社事例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近畿大が総合型選抜で生成AI利用を明文化。東京農工大など先行例との違いを一次資料から整理</a:t>
            </a:r>
            <a:r>
              <a:rPr sz="900">
                <a:solidFill>
                  <a:srgbClr val="7F8C8D"/>
                </a:solidFill>
              </a:rPr>
              <a:t>  (2026-08-04)</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https://qiita.com/quotidia/items/3243d41ffa367564d46b</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&gt; 本記事は筆者が運営する AI Quotidia の海外ニュース解説記事です。
&lt;strong&gt;近畿大学が2026年7月24日(金)、2027年度の情報学部・総合型選抜で、自己PR動画の制作やプレゼンテーションの準備に生成AIを活用することを認めると発表しました。&lt;/strong&gt;
要点
-</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【技術解説】【完全ガイド】Pythonによるセンチメント分析を活用した高頻度取引の実装</a:t>
            </a:r>
            <a:r>
              <a:rPr sz="900">
                <a:solidFill>
                  <a:srgbClr val="7F8C8D"/>
                </a:solidFill>
              </a:rPr>
              <a:t>  (2026-08-04)</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https://qiita.com/sugarfree/items/deea74c0a08c6abba544</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投資の意思決定において、情報の迅速な取得と分析は極めて重要です。特に、ニュースやSNSの投稿を基にしたセンチメント分析は、テクニカル分析やファンダメンタルズ分析において非常に有効であることが証明されています。本記事では、Pythonを用いたセンチメント分析のアプローチを紹介し、それを高頻度取引にどの</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AIへの依頼をMarkdownで構造化するだけで、出力の事故はかなり減らせる</a:t>
            </a:r>
            <a:r>
              <a:rPr sz="900">
                <a:solidFill>
                  <a:srgbClr val="7F8C8D"/>
                </a:solidFill>
              </a:rPr>
              <a:t>  (2026-08-04)</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https://qiita.com/s_horikoshi/items/2242dbfcaf003b714c96</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生成AIに質問するとき、長い一文だけで投げていないでしょうか。
これでも返答は来ます。
ただ、現場で使うには情報が足りません。AIは足りない前提を補おうとして、もっともらしい推測を始めます。
この記事では、AIへの依頼をMarkdownで構造化し、出力の事故を減らす考え方を整理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AIガバナンス・セキュリティ・社内ルール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67E22"/>
                </a:solidFill>
              </a:rPr>
              <a:t>[Zenn]  </a:t>
            </a:r>
            <a:r>
              <a:rPr sz="1200" b="1">
                <a:solidFill>
                  <a:srgbClr val="FFFFFF"/>
                </a:solidFill>
              </a:rPr>
              <a:t>LLMを使うツールを「テストできる」状態に保つ設計：検出はルール、説明はLLMに分ける</a:t>
            </a:r>
            <a:r>
              <a:rPr sz="900">
                <a:solidFill>
                  <a:srgbClr val="7F8C8D"/>
                </a:solidFill>
              </a:rPr>
              <a:t>  (2026-08-04)</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https://zenn.dev/mabui/articles/iac-guard-llm-separation</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公開リポジトリ: https://github.com/mabuix/iac-guard
前回（記事①）で、Terraform のコスト/セキュリティ問題を指摘するツール iac-guard の全体像を書きました。今回はその中で一番考えた部分、「LLMを使っているのに、どうやってテストできる状態を</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67E22"/>
                </a:solidFill>
              </a:rPr>
              <a:t>[Zenn]  </a:t>
            </a:r>
            <a:r>
              <a:rPr sz="1200" b="1">
                <a:solidFill>
                  <a:srgbClr val="FFFFFF"/>
                </a:solidFill>
              </a:rPr>
              <a:t>AIの**「太字くずれのアスタリスク記号」**が完全に出なくなる設定</a:t>
            </a:r>
            <a:r>
              <a:rPr sz="900">
                <a:solidFill>
                  <a:srgbClr val="7F8C8D"/>
                </a:solidFill>
              </a:rPr>
              <a:t>  (2026-08-03)</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https://zenn.dev/lotation/articles/aff89de9bc5143</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下記のテキストをシステムプロンプトに入れてください。
Markdown出力では日本語の約物を強調記号の外へ置き、太字の表示崩れを回避し、正しく描画できる形で使う
これにより、
**「いかにもAIのアウトプットそのまま」**な表記が、「違和感ない強調描画」に変わります。
**「いかにもAIのアウト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モデルカタログの pricing_version を GitHub Actions で監視して Slack に流した</a:t>
            </a:r>
            <a:r>
              <a:rPr sz="900">
                <a:solidFill>
                  <a:srgbClr val="7F8C8D"/>
                </a:solidFill>
              </a:rPr>
              <a:t>  (2026-08-04)</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https://qiita.com/FlatkeyAI/items/c06c0b455e13f8d2c775</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LLM API のモデル選定メモは、最初に作った日はかなり気分がいいのですが、更新はだいたい忘れます。
私はモデル名、endpoint family、availability、価格係数のような行を見ながら「このモデルを今のサー</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スライド作りに何時間使っていますか？｜AIで資料作成の下書きを自動化する3つのアプローチ</a:t>
            </a:r>
            <a:r>
              <a:rPr sz="900">
                <a:solidFill>
                  <a:srgbClr val="7F8C8D"/>
                </a:solidFill>
              </a:rPr>
              <a:t>  (2026-08-04)</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3"/>
              </a:rPr>
              <a:t>https://qiita.com/DnD-inc/items/54f8dcc2df91125e4a13</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スライド作りに何時間使っていますか？｜AIで資料作成の下書きを自動化する3つのアプローチ
&gt; 本記事は、株式会社DnD（https://dnd-inc.jp）のコラムを一部編集して掲載しています。
&gt; 初出: https://dnd-in</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コードベースのナレッジ化に最適なLLM Wikiの利点と活用法</a:t>
            </a:r>
            <a:r>
              <a:rPr sz="900">
                <a:solidFill>
                  <a:srgbClr val="7F8C8D"/>
                </a:solidFill>
              </a:rPr>
              <a:t>  (2026-08-04)</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https://qiita.com/syun136_616/items/b7e4f85d3e1318fe9fc7</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この記事の要点
- LLM Wikiはコードナレッジを体系的に整理するのに役立つ。
- 簡単に編集・更新できるため、エンジニアが参加しやすい。
- AIを活用し、情報の検索や整理を自動化できる機能がある。
LLM Wikiとは？
LLM</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人間がMarkdownを書かないLLM Wikiを、Claudeと1か月半運用した</a:t>
            </a:r>
            <a:r>
              <a:rPr sz="900">
                <a:solidFill>
                  <a:srgbClr val="7F8C8D"/>
                </a:solidFill>
              </a:rPr>
              <a:t>  (2026-08-04)</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5"/>
              </a:rPr>
              <a:t>https://zenn.dev/cazma/articles/06a12e8eee4fff</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Claudeを要件定義、仕様作成、実装、レビュー、チケット管理、ブラウザテスト、調査に使っている。
利用範囲が広がるほど、同じ説明を繰り返す時間も増えた。
セッションを開くたび、システムの構成を最初から説明する
過去に却下した案を、別のセ</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7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毎日137件公開されるCVE、正直ぜんぶ無視していませんか？</a:t>
            </a:r>
            <a:r>
              <a:rPr sz="900">
                <a:solidFill>
                  <a:srgbClr val="7F8C8D"/>
                </a:solidFill>
              </a:rPr>
              <a:t>  (2026-08-04)</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https://qiita.com/udowanllc/items/024e91ccb6393159c798</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1. 「CVE、本当は見なきゃいけないんだろうな」
多くのエンジニアが、口には出さないもののうっすら感じていることがあると思います。
日々公開される脆弱性情報、本当は自社への影響を確認すべきなのでは？
実態はどうでしょうか。多くの現場</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AIレビューの相互批評 ― 確信度「高」で誤る指摘をどう見抜くか｜Claude×Roblox個人開発</a:t>
            </a:r>
            <a:r>
              <a:rPr sz="900">
                <a:solidFill>
                  <a:srgbClr val="7F8C8D"/>
                </a:solidFill>
              </a:rPr>
              <a:t>  (2026-08-03)</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3"/>
              </a:rPr>
              <a:t>https://zenn.dev/fukachi_ai/articles/3ba9caf18b2c98</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1. はじめに
Roblox『Wobble Survival: Don't Fall!』を個人開発しています。ワークフローは「Claude.aiで設計・仕様書作成 → Claude Codeで実装」です。
前回、複数のAIモデルに同じコード</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Claudeで複数モデルのエラー率上昇インシデント発生、監視中</a:t>
            </a:r>
            <a:r>
              <a:rPr sz="900">
                <a:solidFill>
                  <a:srgbClr val="7F8C8D"/>
                </a:solidFill>
              </a:rPr>
              <a:t>  (2026-08-03)</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https://qiita.com/picnic/items/fbe7837c24d64aa0031d</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2026年8月3日、Anthropic の公式ステータスページ（status.claude.com）に「Error rates across multiple models（複数モデルにまたがるエラー率上昇）」というインシデント</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エージェント評価はなぜ「隔離」が難しいのか</a:t>
            </a:r>
            <a:r>
              <a:rPr sz="900">
                <a:solidFill>
                  <a:srgbClr val="7F8C8D"/>
                </a:solidFill>
              </a:rPr>
              <a:t>  (2026-08-03)</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5"/>
              </a:rPr>
              <a:t>https://zenn.dev/takkuhiro/articles/agent-eval-isolation-difficulty</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2026年7月、OpenAIがモデル評価中のセキュリティインシデントを公表しました。OpenAIの公表によれば、サイバー能力を測るベンチマーク ExploitGym の評価中に、モデルが評価用のサンドボックスを抜け出し、ベンチマークの正解が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【徹底比較】RAG / GraphRAG / KAG / SAG / CRAG / Agentic RAG は何がどう違うのか</a:t>
            </a:r>
            <a:r>
              <a:rPr sz="900">
                <a:solidFill>
                  <a:srgbClr val="7F8C8D"/>
                </a:solidFill>
              </a:rPr>
              <a:t>  (2026-08-04)</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https://qiita.com/Simon_Zhang/items/710b838cd26844560151</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&gt; この記事のゴール
&gt; 「RAGの亜種が多すぎて、どれを選べばいいのか分からない」を1記事で解消します。
&gt; 6手法を ①何を解決したか ②アーキテクチャ ③強み/弱み ④選定基準 の4軸で整理し、最後に意思決定フローチャートまで落とし込</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LLM-as-Judgeの使いどころ ― RAG基盤生成モデル選定で下した評価設計の判断</a:t>
            </a:r>
            <a:r>
              <a:rPr sz="900">
                <a:solidFill>
                  <a:srgbClr val="7F8C8D"/>
                </a:solidFill>
              </a:rPr>
              <a:t>  (2026-08-03)</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3"/>
              </a:rPr>
              <a:t>https://zenn.dev/yuya0408/articles/llm-as-judge-rag</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日本語RAG基盤で、回答を生成するLLMを複数の候補から1つに選ぶ必要があった。品質を主観で判別しないために、別のLLMに回答を採点させる LLM-as-Judge で数値化するのは定石だ。問題は、その数値をどこまで意思決定に使ってよいか、</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Windows XP 2002 for the Itanium: Unbridled rage</a:t>
            </a:r>
            <a:r>
              <a:rPr sz="900">
                <a:solidFill>
                  <a:srgbClr val="7F8C8D"/>
                </a:solidFill>
              </a:rPr>
              <a:t>  (2026-08-03)</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980B9"/>
                </a:solidFill>
              </a:rPr>
              <a:t>[HackerNews]  </a:t>
            </a:r>
            <a:r>
              <a:rPr sz="800">
                <a:solidFill>
                  <a:srgbClr val="5DADE8"/>
                </a:solidFill>
                <a:hlinkClick r:id="rId4"/>
              </a:rPr>
              <a:t>https://virtuallyfun.com/2026/08/03/windows-xp-2002-for-the-itanium-unbridled-rage/</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Windows XP 2002 for the Itanium: Unbridled rage</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【図解】RAGとGraph RAGの違い</a:t>
            </a:r>
            <a:r>
              <a:rPr sz="900">
                <a:solidFill>
                  <a:srgbClr val="7F8C8D"/>
                </a:solidFill>
              </a:rPr>
              <a:t>  (2026-08-03)</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5"/>
              </a:rPr>
              <a:t>https://qiita.com/fujimoooon/items/c800d1074d4e107e9ee9</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ChatGPTのようなLLM（大規模言語モデル）を業務で使おうとすると、必ずぶつかる壁があります。
&gt; 「LLMはうちの社内文書のことなんて知らない…」
これを解決する定番技術が RAG（Retrieval-Augmente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30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自社Markdown 1,325本をbge-m3でローカル埋め込みしたら何分かかったか — M1 Max 64GBのRAG基盤コスト実測</a:t>
            </a:r>
            <a:r>
              <a:rPr sz="900">
                <a:solidFill>
                  <a:srgbClr val="7F8C8D"/>
                </a:solidFill>
              </a:rPr>
              <a:t>  (2026-08-03)</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https://qiita.com/Umamon/items/b934e3826e4f84398d35</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ローカルRAGを組みたいが、埋め込みバッチにどれくらい時間がかかるのか分からない」——ベンチマーク記事はたいてい他人のデータセットか、せいぜい数十件のサンプルで測っている。自社には無人運転で日々書き溜めてきたMarkdownが千本単位であ</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Amazon Bedrock Guardrailsは自前の多層防御を代替できるか——製造業RAGでの定量比較</a:t>
            </a:r>
            <a:r>
              <a:rPr sz="900">
                <a:solidFill>
                  <a:srgbClr val="7F8C8D"/>
                </a:solidFill>
              </a:rPr>
              <a:t>  (2026-08-03)</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3"/>
              </a:rPr>
              <a:t>https://zenn.dev/kukyotolab/articles/bedrock-guardrails-vs-self-built-defense</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AWS認定（AIF-C01・MLA-C01）を取得した際にAmazon Bedrock Guardrailsを学びました。資格学習で終わらせず、既存の製造業向けRAGセキュリティ資産（rag-security-project / </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連載｜RAGの基礎からAgentic GraphRAGの現在地まで　第10回</a:t>
            </a:r>
            <a:r>
              <a:rPr sz="900">
                <a:solidFill>
                  <a:srgbClr val="7F8C8D"/>
                </a:solidFill>
              </a:rPr>
              <a:t>  (2026-08-03)</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4"/>
              </a:rPr>
              <a:t>https://zenn.dev/tamtak18/articles/80a165f31ccb6b</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10. おわりに
本記事では，GraphRAGの基礎から最新動向までを，GraphRAG-R1[1]とGraph-R1[2]を中心に解説してきました．
まず第2章では，RAGの仕組みと限界について説明しました．
RAGは，外部知識を検索して</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閉域RAG構築記 — 「精度6/10」の内訳を全部開けたら、評価もRAGも壊れていた</a:t>
            </a:r>
            <a:r>
              <a:rPr sz="900">
                <a:solidFill>
                  <a:srgbClr val="7F8C8D"/>
                </a:solidFill>
              </a:rPr>
              <a:t>  (2026-08-03)</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5"/>
              </a:rPr>
              <a:t>https://zenn.dev/dowjapan/articles/closed-network-rag</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この記事は誰のためのものか
最初に対象を絞ります。DifyやNotebookLMで社内RAGを組める会社は、この記事の対象外です。
この記事が対象にするのは、次のような会社です。
情報漏洩リスクを理由に ChatGPT を含む外部生成AI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Pythonで業務用語の定義漏れをCIで止める</a:t>
            </a:r>
            <a:r>
              <a:rPr sz="900">
                <a:solidFill>
                  <a:srgbClr val="7F8C8D"/>
                </a:solidFill>
              </a:rPr>
              <a:t>  (2026-08-04)</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https://qiita.com/hironakamura_ai/items/0dd905e4c1710b0c7cfb</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昨日、LLM に渡す売上指標の用語集を JSON にしていて、 の計算に必要な  がどこにも定義されていないことに気付いた。プロンプトなら「不足している用語は質問して」と書ける。でも実行のたびに守らせるより、マージ前に落としたほうが早い。
</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Code開発者が押さえておきたいAnthropicニュース（2026-08-04）</a:t>
            </a:r>
            <a:r>
              <a:rPr sz="900">
                <a:solidFill>
                  <a:srgbClr val="7F8C8D"/>
                </a:solidFill>
              </a:rPr>
              <a:t>  (2026-08-04)</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https://qiita.com/homhom44/items/9703ef1c0de62667dca0</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Anthropic の Claude / Claude Code 関連ニュースをまとめた索引だ。記事本文は日本語で PaPoo に投稿している。ここでは各記事の要点を紹介するので、詳細は各リンク先を読んでほしい。
ベンチマークが「間違って</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【実測】Claude Codeのフック機能（PreToolUse/PostToolUse）で自動品質ゲートを組んだら、手戻りが7割減った</a:t>
            </a:r>
            <a:r>
              <a:rPr sz="900">
                <a:solidFill>
                  <a:srgbClr val="7F8C8D"/>
                </a:solidFill>
              </a:rPr>
              <a:t>  (2026-08-04)</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https://qiita.com/hikariclaude01/items/d2d7ea5f5d210b15e7da</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結論：「書き込み前に自動チェック」を挟むだけで、手戻りが7割減る
Claude Codeが勝手にファイルを書き換える不安、フック機能で「書き込み前に自動チェック」を挟むだけで劇的に解消できます。
私は1週間の実測で、手戻り回数が週23回</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ThinkStation PGX (GB10) 2台でDeepSeek-V4-Flashを1Mコンテキスト運用し、Claude Code CLIから使う</a:t>
            </a:r>
            <a:r>
              <a:rPr sz="900">
                <a:solidFill>
                  <a:srgbClr val="7F8C8D"/>
                </a:solidFill>
              </a:rPr>
              <a:t>  (2026-08-04)</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https://qiita.com/kiyotaman/items/7bd16d5dad5c381618db</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TL;DR
- Lenovo ThinkStation PGX(NVIDIA GB10、統合メモリ119GiB)を2台、ConnectX-7 200GbEで直結し、vLLMのマルチノードTP=2でDeepSeek-V4-Flash(FP8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48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OpenClawで9体のAIエージェント経営OSを構築した実装ログ【2026年版】</a:t>
            </a:r>
            <a:r>
              <a:rPr sz="900">
                <a:solidFill>
                  <a:srgbClr val="7F8C8D"/>
                </a:solidFill>
              </a:rPr>
              <a:t>  (2026-08-04)</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https://qiita.com/sescore/items/f42658a32bfc896669f8</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はじめに：なぜ「経営OS」をAIエージェントで作ったのか
2026年8月現在、Claude Codeのスキル（Skills）機構とサブエージェント機能を組み合わせると、個人でも「複数の役員が並行して仕事をする会社」をコードベースで再現でき</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MCPが「ステートレス」になった日 — 2026-07-28仕様を、金融系フルスタックエンジニアの視点で読み解く</a:t>
            </a:r>
            <a:r>
              <a:rPr sz="900">
                <a:solidFill>
                  <a:srgbClr val="7F8C8D"/>
                </a:solidFill>
              </a:rPr>
              <a:t>  (2026-08-04)</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https://qiita.com/vcmacky/items/0ff1fd7e7990305677a3</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&gt; セッションを捨てる、とはどういうことか。AIエージェント連携の土台であるMCPが、静かに、しかし決定的に設計思想を変えた。
2026年7月28日、Model Context Protocol（MCP）の新仕様 * が公開された。本記事</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【実測あり】Claude Codeから.envを守る：permissions.deny vs PreToolUseフック</a:t>
            </a:r>
            <a:r>
              <a:rPr sz="900">
                <a:solidFill>
                  <a:srgbClr val="7F8C8D"/>
                </a:solidFill>
              </a:rPr>
              <a:t>  (2026-08-04)</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https://qiita.com/tomada/items/650546e8b9f5e33d5820</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&lt;!-- 一次資料: Experiments/20260803env-guard-hook-vs-deny.md（生ログ・設定・フックスクリプトは Experiments/20260803env-guard-hook-vs-deny/）。
</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セルフホストAIワークスペース「OpenMake LLM」を作った：vLLM/LiteLLM・MCP・エージェントを分離する設計</a:t>
            </a:r>
            <a:r>
              <a:rPr sz="900">
                <a:solidFill>
                  <a:srgbClr val="7F8C8D"/>
                </a:solidFill>
              </a:rPr>
              <a:t>  (2026-08-04)</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https://qiita.com/riskpw/items/116e21214e47b7e525e7</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ローカルLLMをチャット画面につなぐだけなら、OpenAI互換APIとUIがあれば始められます。しかし、日常的に使えるワークスペースにしようとすると、次の課題がすぐに出てきます。
- 通常のチャットと、調査・エージェント実行をどう分けるか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近畿大が総合型選抜で生成AI利用を明文化。東京農工大など先行例との違いを一次資料から整理</a:t>
            </a:r>
            <a:r>
              <a:rPr sz="900">
                <a:solidFill>
                  <a:srgbClr val="7F8C8D"/>
                </a:solidFill>
              </a:rPr>
              <a:t>  (2026-08-04)</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https://qiita.com/quotidia/items/3243d41ffa367564d46b</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&gt; 本記事は筆者が運営する AI Quotidia の海外ニュース解説記事です。
&lt;strong&gt;近畿大学が2026年7月24日(金)、2027年度の情報学部・総合型選抜で、自己PR動画の制作やプレゼンテーションの準備に生成AIを活用する</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【技術解説】【完全ガイド】Pythonによるセンチメント分析を活用した高頻度取引の実装</a:t>
            </a:r>
            <a:r>
              <a:rPr sz="900">
                <a:solidFill>
                  <a:srgbClr val="7F8C8D"/>
                </a:solidFill>
              </a:rPr>
              <a:t>  (2026-08-04)</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https://qiita.com/sugarfree/items/deea74c0a08c6abba544</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投資の意思決定において、情報の迅速な取得と分析は極めて重要です。特に、ニュースやSNSの投稿を基にしたセンチメント分析は、テクニカル分析やファンダメンタルズ分析において非常に有効であることが証明されています。本記事では、Pythonを用いた</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AIへの依頼をMarkdownで構造化するだけで、出力の事故はかなり減らせる</a:t>
            </a:r>
            <a:r>
              <a:rPr sz="900">
                <a:solidFill>
                  <a:srgbClr val="7F8C8D"/>
                </a:solidFill>
              </a:rPr>
              <a:t>  (2026-08-04)</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https://qiita.com/s_horikoshi/items/2242dbfcaf003b714c96</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生成AIに質問するとき、長い一文だけで投げていないでしょうか。
これでも返答は来ます。
ただ、現場で使うには情報が足りません。AIは足りない前提を補おうとして、もっともらしい推測を始めます。
この記事では、AIへの依頼</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自前AIが当たり前に｜企業・大学・自治体はどう変わるのか</a:t>
            </a:r>
            <a:r>
              <a:rPr sz="900">
                <a:solidFill>
                  <a:srgbClr val="7F8C8D"/>
                </a:solidFill>
              </a:rPr>
              <a:t>  (2026-08-04)</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5"/>
              </a:rPr>
              <a:t>https://qiita.com/rikunagano/items/59951235d4f2d2d44bed</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なぜ今「自前AI」の導入が加速しているのか
これまで企業がAIを活用する方法といえば、ChatGPTやClaude、Geminiなどのサービスを利用することが一般的でした。高性能なAIをすぐに使える一方で、AIの仕組みや運用環境はサービス提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8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AI駆動開発で何ができる？ 導入前に知っておきたい活用例一覧</a:t>
            </a:r>
            <a:r>
              <a:rPr sz="900">
                <a:solidFill>
                  <a:srgbClr val="7F8C8D"/>
                </a:solidFill>
              </a:rPr>
              <a:t>  (2026-08-04)</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https://qiita.com/udowanllc/items/1047b163b41430b22b18</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1. 「AIで開発が変わる」の、具体的な中身
AI駆動開発という言葉を聞かない日はなくなりました。一方で、いざ自社への導入を考えると、こういう状態ではないでしょうか。
&gt; すごいらしいことは分かる。でも、うちの現場で具体的に何ができるよ</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ロボットがついに「考えながら動く」時代へ</a:t>
            </a:r>
            <a:r>
              <a:rPr sz="900">
                <a:solidFill>
                  <a:srgbClr val="7F8C8D"/>
                </a:solidFill>
              </a:rPr>
              <a:t>  (2026-08-03)</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3"/>
              </a:rPr>
              <a:t>https://zenn.dev/lingmu/articles/2026-08-02-gemini-robotics-embodied-intelligence</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ロボットがついに「考えながら動く」時代へ
2026-08-02 | 読了 4分 | #ロボット #AI #GoogleDeepMind
ロボットが現場を動画で見て、状況を理解し、仲間と協力して問題を解く。そんな場面が、もうSFの話ではなくな</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【技術解説】【完全ガイド】Backtraderを活用したPythonによる精度の高い金融バックテスト手法</a:t>
            </a:r>
            <a:r>
              <a:rPr sz="900">
                <a:solidFill>
                  <a:srgbClr val="7F8C8D"/>
                </a:solidFill>
              </a:rPr>
              <a:t>  (2026-08-03)</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https://qiita.com/sugarfree/items/8768463ac57abf518a5d</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【完全ガイド】Backtraderを活用したPythonによる金融バックテスト手法
金融市場における予測は複雑であり、正確なモデルの構築は非常に困難です。投資戦略の運用前に、その効果を検証するためには、効率的かつ高精度なバックテストが必要</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何にも知らないけど画像認識AIを作る③ | TensorFlow/KerasでCNNによる画像認識モデルを構築してみる</a:t>
            </a:r>
            <a:r>
              <a:rPr sz="900">
                <a:solidFill>
                  <a:srgbClr val="7F8C8D"/>
                </a:solidFill>
              </a:rPr>
              <a:t>  (2026-08-03)</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5"/>
              </a:rPr>
              <a:t>https://qiita.com/shuji_asatsuma0251/items/a55a577cd13a3ee1f181</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完全初学者の私が、画像認識AI（CNN）を完成させるまでに学んだ軌跡をまとめた連載の第3回（最終回）です。
- 第1回
- 第2回
第1回ではNumPyやMatplotlibを使いながら、画像データがどのような構造を持っ</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LLMを使うツールを「テストできる」状態に保つ設計：検出はルール、説明はLLMに分ける</a:t>
            </a:r>
            <a:r>
              <a:rPr sz="900">
                <a:solidFill>
                  <a:srgbClr val="7F8C8D"/>
                </a:solidFill>
              </a:rPr>
              <a:t>  (2026-08-04)</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[Zenn]  </a:t>
            </a:r>
            <a:r>
              <a:rPr sz="800">
                <a:solidFill>
                  <a:srgbClr val="5DADE8"/>
                </a:solidFill>
                <a:hlinkClick r:id="rId2"/>
              </a:rPr>
              <a:t>https://zenn.dev/mabui/articles/iac-guard-llm-separation</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公開リポジトリ: https://github.com/mabuix/iac-guard
前回（記事①）で、Terraform のコスト/セキュリティ問題を指摘するツール iac-guard の全体像を書きました。今回はその中で一番考えた</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67E22"/>
                </a:solidFill>
              </a:rPr>
              <a:t>▶ </a:t>
            </a:r>
            <a:r>
              <a:rPr sz="1200" b="1">
                <a:solidFill>
                  <a:srgbClr val="FFFFFF"/>
                </a:solidFill>
              </a:rPr>
              <a:t>AIの**「太字くずれのアスタリスク記号」**が完全に出なくなる設定</a:t>
            </a:r>
            <a:r>
              <a:rPr sz="900">
                <a:solidFill>
                  <a:srgbClr val="7F8C8D"/>
                </a:solidFill>
              </a:rPr>
              <a:t>  (2026-08-03)</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67E22"/>
                </a:solidFill>
              </a:rPr>
              <a:t>[Zenn]  </a:t>
            </a:r>
            <a:r>
              <a:rPr sz="800">
                <a:solidFill>
                  <a:srgbClr val="5DADE8"/>
                </a:solidFill>
                <a:hlinkClick r:id="rId3"/>
              </a:rPr>
              <a:t>https://zenn.dev/lotation/articles/aff89de9bc5143</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下記のテキストをシステムプロンプトに入れてください。
Markdown出力では日本語の約物を強調記号の外へ置き、太字の表示崩れを回避し、正しく描画できる形で使う
これにより、
**「いかにもAIのアウトプットそのまま」**な表記が、「違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(1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Google「Gemini Robotics 2」を一次資料で整理。全身制御・新双腕機体適応200例未満・一般公開はER 2のみ</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https://qiita.com/quotidia/items/9d0a524e412872c8144c</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「私はロボットではありません」はAIにも通用する？CAPTCHAの最新動向を調べてみた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https://qiita.com/yoshinaga_slj/items/9df1b85b0f536a9a3765</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Pythonで音声教材を作る！Google Colab × gTTS × pydub ― gTTSError『200 OK』を攻略する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https://qiita.com/maskot1977/items/df6b8e18b3ec8e719d23</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GASでAI返信の誤送信防止ゲートを作る：宛先・添付ID・承認後変更を検査する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https://qiita.com/Miraigent/items/5a69a0c1782fff589ddb</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KVキャッシュはどこまで減らせるか ― Kimi K3とQwen 3.5〜3.8に見る3:1ハイブリッドリニアアテンションの実像</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https://qiita.com/sukimaengineer/items/fb8d08e4cdad96aacc17</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26-07-29</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https://qiita.com/masykot582/items/566b35d499804e0b0a40</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MiniMax H3をRTX A6000で動かし、画像から動画を生成するWebアプリにした</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https://qiita.com/yuAbe/items/5dc6144b27be22e564ca</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Meta Llama 4のLMArena疑惑と本当の実力——Scout/Maverick比較</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https://qiita.com/kinamocchi_tech/items/6807e072caccb6ad89a0</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8つの知覚軸で声をデザインする — 意味軸→話者埋め込みブレンド</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https://qiita.com/maccotaro/items/357df5802cc05ce5dec0</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GitHub Copilot Autoはどうやってモデルを選ぶのか――HyDRA論文から仕組みを整理する</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https://qiita.com/ruumalilja/items/8c905adfe1a19b2439aa</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学生のための、分からないことを何でもCopilotと一緒に学ぶ方法</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https://qiita.com/dahatake/items/119a762bdcc0f31482e5</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【Python/Cellpose】酵母の細胞数・油脂量・壊死割合を自動解析するGUIアプリを作った話</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https://qiita.com/KTNill/items/abc9fc6e55e22e19a29d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(2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 14体に114案ブレストさせたら「生成AIの教科書」止まりだった話 — たどり着いたのは「AI議会が異世界転生小説を書き続ける」だった</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https://qiita.com/TheGateBreaker/items/a15326c2703d4b3c3ff3</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 に動画を「本当に見せる」方法：claude-real-video を試してみた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https://qiita.com/Leohuang/items/0d0cb09d576fc86c8c13</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シリコンバレー 101 号線に、Flatkey の看板を出しました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https://qiita.com/mguozhen/items/d94ed053b485698fbbcc</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Qwen 3.8 Max API 料金：思考オフより 16 token が有利</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https://qiita.com/Synthorai/items/a32029031ca37f66ce92</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【2026年8月時点】Gemini不具合：GitHubリポジトリ読み込み時のZIP解析エラーと検索ロックの原因・回避策</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https://qiita.com/takeru-hirai/items/0d8c511cf90c65bbbc13</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Hollow-LLM Attack: Ghost Weights That Fool Zero-Knowledge LLM Verification</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https://arxiv.org/abs/2607.28884</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Qwen3-Next 80B × Claude Opus 4.6 ハイブリッド運用で月$480削減した話</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https://zenn.dev/correlate_dev/articles/qwen-hybrid-operations</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Show HN: Crack Attack game vibe-ported to run in browser</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https://leifkb.github.io/crack-attack-browser/</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I asked GPT 5.6 Sol to build the opening scene to The Matrix using Three.js</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https://marksmayo.github.io/matrix/</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A fundamental flaw leaves LLMs strikingly vulnerable to attack</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https://www.technologyreview.com/2026/07/30/1140927/a-fundamental-flaw-leaves-ll…</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 Sitesは『作る』だけでなく『公開』まで終わらせてくれる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https://zenn.dev/headwaters/articles/6b5643581e0bf3</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GEO対策（生成AI検索最適化）の基本を整理する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https://qiita.com/ume_hide/items/f653d422b1f16f258d6b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(3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LLMにすべてを任せない、「美容医療 AI相談」の設計と実装（バックエンド編）</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https://zenn.dev/tribeau/articles/69274df0a2084d</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LLMs Can't Jump</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https://openreview.net/pdf?id=klU4737opt</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ローカルLLMで議事録を自動作成したが、最後の要約で中身が抜けた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https://zenn.dev/itdevnote/articles/llm-summary-drop</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画像生成AIで手書きラフから5種類のアプリアイコンを作る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https://qiita.com/AlexAlex/items/553b864dd25c0ce81adb</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会社ホームページは静的サイトで足りる？判断から公開までの手順</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https://qiita.com/kakusan2022/items/354232d7dbcf62d781d9</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AI生成記事の「構造」を検索エンジン評価に耐えうる形にスコアリングする設計</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https://qiita.com/avecdogpresence/items/85aa0886f12ba4f4adf3</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QAエンジニアが、バイブコーディングでJSTQB Advanced Level試験対策サイトを作成してみた</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https://qiita.com/yanagiQA/items/de1ba2910ab02a41d521</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LLMs reward expertise</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https://www.seangoedecke.com/llms-reward-expertise/</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週次タスク棚卸しの差分抽出、ステートレスなLLMに前回状態を外部化して渡す運用</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https://zenn.dev/every_ai_recipe/articles/weekly-task-diff-1min-rollup</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円と放物線の交点の個数「2つの曲線の交点の個数について」様を、計算はsympyで作図もAI先生に教えてもらいました。</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https://qiita.com/mrrclb48z/items/307ef1c00106b49c34e4</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API、モデル廃止スケジュール5件と13本の実装記事を整理した</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https://qiita.com/kai_kou/items/c55c150969292b3bea4a</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自分のブログ49記事でミニGPTを学習させたら、「位置エンコーディング」と「.envを呼ぶ」を書き出した</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https://zenn.dev/shakeailab/articles/minigpt-on-my-own-blog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(4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 Classicアプリをライトモードにする方法</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https://qiita.com/sou_lab/items/2e0729473f87eff819b9</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 推しイラストレーターが「ゆるっと絵柄プロンプト」を公開してくれたのでゆるっと調べてみた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https://qiita.com/Yukidarusan/items/334a22d80a482e70e914</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【受講レビュー】Max Summer School 中級編でFluCoMaの音色分類を学んだ｜ドラマーがAIに楽器を聞き分けさせるまで</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https://qiita.com/dsgarage/items/56d51dae7cc1e1523d40</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AI審判（LLM-as-judge）は、作った時点では使い物にならない ─ 人間が5回殴って直した記録</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https://zenn.dev/ossudesu/articles/zenn-judge-article</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モデルが'JSON'という文字列に過剰適応してAPI呼び出しで400エラーになった話</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https://qiita.com/benjuwan/items/390b240f6693b6d8d434</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Moodle 4.5にChatGPT（OpenAI API）を連携してAI機能を使う方法</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https://qiita.com/RubliX/items/5644c38b0ef974d281e6</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【2026年版】LLM御三家 GPT vs Gemini vs Claude 徹底比較 〜違い・特徴・使い分け〜</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https://zenn.dev/m16_llc/articles/gpt-gemini-claude-comparison-2026</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大学へ無料提供されるOpenAI依存に陥る未来、日本独自AIは生き残れるのか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https://zenn.dev/syoshida07/articles/5ec4103cde9bd6</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Frame selection is the whole game: notes on making LLMs watch video</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https://leoaido.com/how-llms-watch-video/</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SQLite Critical CVEs or LLM Slop?</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https://research.jfrog.com/post/sqlite-critical-cves-or-llm-slops/</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AirLLM 70B inference with single 4GB GPU</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https://github.com/lyogavin/airllm</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地方競馬モデルを walk-forward OOSで評価したら、LightGBMが手製ルールに負けた ── 個人開発MLの過学習実測ケース</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https://qiita.com/umascore/items/4a239b2ba353c0a5be66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(5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顔分析・画像認識系で実際に使って面白かったAIツール・サービス5選</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https://qiita.com/KnowMyFace/items/a45ab69570fe8e235ae9</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 私はすべてをコピペした。それでも知性は、すでにそこにあった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https://qiita.com/dosanko_tousan/items/6163a3ee4462a046c261</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Prevent cognitive debt by manually retyping LLM-generated code</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https://ankursethi.com/blog/prevent-cognitive-debt-by-manually-retyping-llm-gene…</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足し算を間違えていたAIが、いまは私の仕事の中心にいる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https://zenn.dev/yi_works/articles/ai-three-years-01</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GeminiのGemで提案資料を作るためのシンプルなプロンプト設計</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https://qiita.com/fukuda-sho/items/10593f627912684721d5</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GeminiのGemでHTML資料を自動作成する方法</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https://qiita.com/fukuda-sho/items/185d7c3d9864380ffda3</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提案書骨子の生成、参考資料が4000字を超えるとAIの順位が入れ替わる理由を検証した</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https://zenn.dev/every_ai_recipe/articles/long-context-changes-ai-ranking</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バイノーラルVSTを開発し、「高さ」の表現のみ最後まで到達できなかったお話</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https://zenn.dev/charmpic/articles/d7e4c1af0906c2</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AIと広告営業マンさんと、五キロの塩。　　無料AIを観察して見えてきたこと</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https://zenn.dev/pomodoro_naomi/articles/c0e556a3182eb6</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Grokking: 訓練精度が満点になってから27,400ステップ、何も起きなかった。そこから突然「わかった」</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https://zenn.dev/shakeailab/articles/grokking-sudden-generalization</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Kimi K3、Claude Fable、ChatGPTを"公平に"比べようとした話</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https://qiita.com/TheGateBreaker/items/33f44dfb93d8b35469fd</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CONTEXT DIFF #1 — 同じ画像・同じ質問でも、AIが見る「本質」は変わる？——判断軸と制約を分けるまでの5つの失敗</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https://zenn.dev/frb_tamasub/articles/context-diff-01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(6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Claude Opus 5の自販機経営ベンチVending-Bench 2を一次資料から整理。新記録スコアとArena協定破棄11回</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https://qiita.com/quotidia/items/c023970250346095a93e</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LLMのtemperatureは本当に温度だった。最新のClaudeからは消えていたけれど</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https://zenn.dev/m2yagyu/articles/llm-temperature-boltzmann</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【備忘録】Gemini APIのStructured OutputをColabで試す - JSON出力をPydanticで受け取る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https://qiita.com/Tadataka_Takahashi/items/2f5d2414448e7ac8ec7a</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表形式材料データで深層学習はいつ必要か——第一候補は古典的機械学習</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https://zenn.dev/efta1989/articles/tabular-when-dl-for-materials</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チャットモデルは「損失マスク」で生まれる ― nanochatの8,159行でSFTを読む</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https://qiita.com/kenimo49/items/b607f6810651c07dfbc1</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AIが安くなった——GPT-5.6の衝撃</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https://zenn.dev/lingmu/articles/2026-08-01-gpt-5-6-price-performance-frontier</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Prompt Repetitionで守れない制約は役割指定と自己チェック指示で埋まるか、実験して原理を追った</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https://zenn.dev/every_ai_recipe/articles/apology-email-repeat-role-compare</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システムプロンプトは、なぜ強いのか──優先順位の正体と、破られ方</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https://qiita.com/ha-te/items/55db57e25384418ec290</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大人用です。正方形「高校入試チャレンジ問題 GD=? 中学生ならば、多くの生徒が考える解法は・・・」様を、計算はsympyで作図は手抜きのつもりでした…</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https://qiita.com/mrrclb48z/items/70ca532e8fce905e5990</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【実測】あなたのGPUで動く最強ローカルLLM 2026年7月版 — VRAM階級別ベンチマーク</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https://zenn.dev/jissoku/articles/local-llm-vram-tier-2026-07</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ローカル画像生成で「Corporate Memphis」を本物っぽく出す — Qwen-Imageのプロンプト/ネガティブ/img2img実装知見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https://qiita.com/amanity-haray/items/06d3392294972de9862f</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GPT-5.6 Luna、最大80%値下げ。値下げの理由が「AIが自分で自分を最適化した」だった</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https://qiita.com/harupython/items/20bd0b0b0ce5240b784d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(7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RTX 5090 を積んだら、自作LLMのアーキ探索が 71倍 速くなった</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https://qiita.com/furuse-kazufumi/items/e6988b226d40a5916522</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さくらのAI Engineを利用しようと適用先を考えてみた！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https://qiita.com/calcMCalcm/items/74239dc2cf256df8110b</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numpy.concatenateについてわかりやすく</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https://zenn.dev/kawarin_origami/articles/numpy-concatenate-basic-20260801</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お風呂でゲーム実況を見てたら、社長から「休みでも技術を見ないと伸びないよ」と来た話</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https://qiita.com/sutaminajing40/items/60249c266b0070fc54e9</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LLMでテキストから知識グラフを自動抽出する手法を動かしてみた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https://zenn.dev/mskbhd/articles/lab-205-llm-knowledge-graph</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設計書レビューをAIに頼んだら検出率0%だった — 3役割に分けて86%にした頼み方</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https://qiita.com/moname_ai/items/b665e51fb6f754bc768b</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なぜ「ステップバイステップで考えて」で賢くなるのか──Chain-of-Thoughtの機構と、その説明を信用してはいけない理由</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https://qiita.com/ha-te/items/0b0bd40a8806572743c8</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「作って配ったら終わり」ではない ― GPT化の罠と、フィードバックループ断絶【LLMと上手く付き合う連載 #8】</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https://qiita.com/ha-te/items/a477099b8255f58c12be</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AI画像生成でプロンプトを長くする前に、参照画像で決めた方がよいこと</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https://qiita.com/tingpromax/items/dd1d19ce3cf8263ecb35</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テキストから曲を作るAIを試すときに、プロンプトで先に決めておくべきこと</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https://qiita.com/tingpromax/items/35c9b6bd9f8b8732f7b7</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LLM記述構文"MARI" Tips:LLMに方言を話させよう。(2/2)</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https://qiita.com/otoyo0318/items/179a2605ab31cd031bf3</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課題解決AIプロジェクトの作り方 0→100 ― アジャイルで測り、ウォーターフォールで固める【LLMと上手く付き合う連載・番外編】</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https://qiita.com/ha-te/items/feaffeef685fdb207eb1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(8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AIの成果物を、どうすれば信頼できるのか ― 9つのクセの先にある品質保証の設計【LLMと上手く付き合う連載 #10・最終回】</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https://qiita.com/ha-te/items/f1b8f0d05896cf0bc748</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「最初はちゃんと守ってたのに、いつの間にか元に戻ってる」の正体 ― Instruction Drift【LLMと上手く付き合う連載 #9】</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https://qiita.com/ha-te/items/1c502c80969ce721f1d9</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Retell AIで不動産反響対応AIを作るプロンプト設計 〜電話越しの対話を制御する指示書テンプレート〜</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https://qiita.com/kazu77/items/69129c3e748418448cc5</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LLM記述構文"MARI" Tips:LLMに方言を話させよう。(1/2)</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https://qiita.com/otoyo0318/items/14d6c81f1eb22d525234</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【AI進化の歴史：第14回】2020年：数多のタスクをこなすGPT-3とプロンプトの誕生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https://qiita.com/mkuwan/items/4d7bd91a09f29e254bc1</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Web上で公開される生成AIチャットボット5社の回答速度を比較！</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https://zenn.dev/sapolas/articles/7e36aca3347e06</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OpenAIとAnthropicが2026年6月12日に発表した内容から、企業のAI導入に必要な要素を整理します。</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https://zenn.dev/kenta_kadowaki/articles/56d3a502356202</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StableDiffusionでLoraを使う（コードから使う）</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https://zenn.dev/mlboydaisuke/articles/e56291d606e61348ff27</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AIが詐欺師に『かんぴょう巻き？』と言い始めた話——Claude Artifactで詐欺電話撃退デモアプリを20分で作った</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https://zenn.dev/miki_mini/articles/f5a0b85f84bbd6</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自然言語によるLiveness Probe：/LPプロトコルを用いたAPI主導のLLM動的デバッグとセッション管理</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https://zenn.dev/nozmat/articles/e414ab808ebc1e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