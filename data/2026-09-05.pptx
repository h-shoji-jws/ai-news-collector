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talk/items/8e5316e5644a596f3f9e" TargetMode="External"/><Relationship Id="rId3" Type="http://schemas.openxmlformats.org/officeDocument/2006/relationships/hyperlink" Target="https://qiita.com/DnD-inc/items/ec266470430ce114c80d" TargetMode="External"/><Relationship Id="rId4" Type="http://schemas.openxmlformats.org/officeDocument/2006/relationships/hyperlink" Target="https://news.ycombinator.com/item?id=4957271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KKTechGlobal/items/06126206c1aab15bc45a" TargetMode="External"/><Relationship Id="rId3" Type="http://schemas.openxmlformats.org/officeDocument/2006/relationships/hyperlink" Target="https://qiita.com/engchina/items/f0a4f6dbe043d1fa4ba4" TargetMode="External"/><Relationship Id="rId4" Type="http://schemas.openxmlformats.org/officeDocument/2006/relationships/hyperlink" Target="https://zenn.dev/gitmame00/articles/a8f5f300d4ea8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gataka/items/d6a54f3694726b9141f3" TargetMode="External"/><Relationship Id="rId3" Type="http://schemas.openxmlformats.org/officeDocument/2006/relationships/hyperlink" Target="https://qiita.com/boraemon2000/items/71b60ef197bd8653a092" TargetMode="External"/><Relationship Id="rId4" Type="http://schemas.openxmlformats.org/officeDocument/2006/relationships/hyperlink" Target="https://qiita.com/yukisnow0704/items/cf1a6f6bb72e157a0cb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_islands/items/d65fcd34c40302dbaa9e" TargetMode="External"/><Relationship Id="rId3" Type="http://schemas.openxmlformats.org/officeDocument/2006/relationships/hyperlink" Target="https://qiita.com/Kerdy/items/18fe414da694203d8393" TargetMode="External"/><Relationship Id="rId4" Type="http://schemas.openxmlformats.org/officeDocument/2006/relationships/hyperlink" Target="https://qiita.com/kenichiyoshioka/items/f3a68b2df4f979ad08b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hinkai_/items/dfc92e02ca1c461ead58" TargetMode="External"/><Relationship Id="rId3" Type="http://schemas.openxmlformats.org/officeDocument/2006/relationships/hyperlink" Target="https://www.coderabbit.ai/blog/gpt-6-astra-code-review-evaluation" TargetMode="External"/><Relationship Id="rId4" Type="http://schemas.openxmlformats.org/officeDocument/2006/relationships/hyperlink" Target="https://qiita.com/tool-bizsystems/items/2a6ee711552a50a395a6"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talk/items/8e5316e5644a596f3f9e" TargetMode="External"/><Relationship Id="rId3" Type="http://schemas.openxmlformats.org/officeDocument/2006/relationships/hyperlink" Target="https://qiita.com/DnD-inc/items/ec266470430ce114c80d" TargetMode="External"/><Relationship Id="rId4" Type="http://schemas.openxmlformats.org/officeDocument/2006/relationships/hyperlink" Target="https://news.ycombinator.com/item?id=49572713" TargetMode="External"/><Relationship Id="rId5" Type="http://schemas.openxmlformats.org/officeDocument/2006/relationships/hyperlink" Target="https://qiita.com/GeneLab_999/items/251b62aaec1e9b30446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hi_fi_anatomia/articles/137180ac014439" TargetMode="External"/><Relationship Id="rId3" Type="http://schemas.openxmlformats.org/officeDocument/2006/relationships/hyperlink" Target="https://zenn.dev/rikunode/articles/chatgpt-note-mcp-production-flow" TargetMode="External"/><Relationship Id="rId4" Type="http://schemas.openxmlformats.org/officeDocument/2006/relationships/hyperlink" Target="https://zenn.dev/rikunode/articles/chatgpt-x-mcp-production-debug" TargetMode="External"/><Relationship Id="rId5" Type="http://schemas.openxmlformats.org/officeDocument/2006/relationships/hyperlink" Target="https://qiita.com/Sa0422/items/afda8441ea6d401f745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KKTechGlobal/items/06126206c1aab15bc45a" TargetMode="External"/><Relationship Id="rId3" Type="http://schemas.openxmlformats.org/officeDocument/2006/relationships/hyperlink" Target="https://qiita.com/engchina/items/f0a4f6dbe043d1fa4ba4" TargetMode="External"/><Relationship Id="rId4" Type="http://schemas.openxmlformats.org/officeDocument/2006/relationships/hyperlink" Target="https://zenn.dev/gitmame00/articles/a8f5f300d4ea86" TargetMode="External"/><Relationship Id="rId5" Type="http://schemas.openxmlformats.org/officeDocument/2006/relationships/hyperlink" Target="https://qiita.com/rino_yume/items/1712cc23e78542741ab7"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optimax/articles/0fc6979bd6e0eb" TargetMode="External"/><Relationship Id="rId3" Type="http://schemas.openxmlformats.org/officeDocument/2006/relationships/hyperlink" Target="https://zenn.dev/shineos/articles/shineos-qa-assistant-non-engineer-rag" TargetMode="External"/><Relationship Id="rId4" Type="http://schemas.openxmlformats.org/officeDocument/2006/relationships/hyperlink" Target="https://qiita.com/Sa0422/items/3cbffd42e0e72e375a80" TargetMode="External"/><Relationship Id="rId5" Type="http://schemas.openxmlformats.org/officeDocument/2006/relationships/hyperlink" Target="https://zenn.dev/nonejp/articles/661b567d4f8d8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gataka/items/d6a54f3694726b9141f3" TargetMode="External"/><Relationship Id="rId3" Type="http://schemas.openxmlformats.org/officeDocument/2006/relationships/hyperlink" Target="https://qiita.com/boraemon2000/items/71b60ef197bd8653a092" TargetMode="External"/><Relationship Id="rId4" Type="http://schemas.openxmlformats.org/officeDocument/2006/relationships/hyperlink" Target="https://qiita.com/yukisnow0704/items/cf1a6f6bb72e157a0cbf" TargetMode="External"/><Relationship Id="rId5" Type="http://schemas.openxmlformats.org/officeDocument/2006/relationships/hyperlink" Target="https://qiita.com/NaokiIshimura/items/9cd4585a7fa902bd989c"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Kujira_AI/items/924ef2f249268dc2f049" TargetMode="External"/><Relationship Id="rId3" Type="http://schemas.openxmlformats.org/officeDocument/2006/relationships/hyperlink" Target="https://qiita.com/syun136_616/items/213cb24a4360720a6766" TargetMode="External"/><Relationship Id="rId4" Type="http://schemas.openxmlformats.org/officeDocument/2006/relationships/hyperlink" Target="https://qiita.com/homhom44/items/5ba74834713a512b4840" TargetMode="External"/><Relationship Id="rId5" Type="http://schemas.openxmlformats.org/officeDocument/2006/relationships/hyperlink" Target="https://qiita.com/Snow315/items/5fdbe6c6dfb25304b25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_islands/items/d65fcd34c40302dbaa9e" TargetMode="External"/><Relationship Id="rId3" Type="http://schemas.openxmlformats.org/officeDocument/2006/relationships/hyperlink" Target="https://qiita.com/Kerdy/items/18fe414da694203d8393" TargetMode="External"/><Relationship Id="rId4" Type="http://schemas.openxmlformats.org/officeDocument/2006/relationships/hyperlink" Target="https://qiita.com/kenichiyoshioka/items/f3a68b2df4f979ad08be" TargetMode="External"/><Relationship Id="rId5" Type="http://schemas.openxmlformats.org/officeDocument/2006/relationships/hyperlink" Target="https://qiita.com/kenichiyoshioka/items/62e643337989b8ec905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askot1977/items/ec2e50adced923fecb94" TargetMode="External"/><Relationship Id="rId3" Type="http://schemas.openxmlformats.org/officeDocument/2006/relationships/hyperlink" Target="https://zenn.dev/matsu8/articles/dc85801019be38" TargetMode="External"/><Relationship Id="rId4" Type="http://schemas.openxmlformats.org/officeDocument/2006/relationships/hyperlink" Target="https://qiita.com/wow88my_official/items/5b3ce2539a5996f315df" TargetMode="External"/><Relationship Id="rId5" Type="http://schemas.openxmlformats.org/officeDocument/2006/relationships/hyperlink" Target="https://zenn.dev/takabo/articles/ai-skill-requiremen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hinkai_/items/dfc92e02ca1c461ead58" TargetMode="External"/><Relationship Id="rId3" Type="http://schemas.openxmlformats.org/officeDocument/2006/relationships/hyperlink" Target="https://www.coderabbit.ai/blog/gpt-6-astra-code-review-evaluation" TargetMode="External"/><Relationship Id="rId4" Type="http://schemas.openxmlformats.org/officeDocument/2006/relationships/hyperlink" Target="https://qiita.com/tool-bizsystems/items/2a6ee711552a50a395a6" TargetMode="External"/><Relationship Id="rId5" Type="http://schemas.openxmlformats.org/officeDocument/2006/relationships/hyperlink" Target="https://zenn.dev/ykbone/articles/202609-prompt-injection"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songchong/items/78a9d9c28506ff90d331" TargetMode="External"/><Relationship Id="rId3" Type="http://schemas.openxmlformats.org/officeDocument/2006/relationships/hyperlink" Target="https://qiita.com/mikihitooooo/items/d43a58615e948002d70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828rimo/items/6b7deeb6ed7088049af4" TargetMode="External"/><Relationship Id="rId3" Type="http://schemas.openxmlformats.org/officeDocument/2006/relationships/hyperlink" Target="https://qiita.com/keiarr/items/271b1f27e5d79c1ca406" TargetMode="External"/><Relationship Id="rId4" Type="http://schemas.openxmlformats.org/officeDocument/2006/relationships/hyperlink" Target="https://qiita.com/lykuro/items/667b30671c620225a916" TargetMode="External"/><Relationship Id="rId5" Type="http://schemas.openxmlformats.org/officeDocument/2006/relationships/hyperlink" Target="https://qiita.com/mylifewithviolin/items/a787e4a85866fe52074f" TargetMode="External"/><Relationship Id="rId6" Type="http://schemas.openxmlformats.org/officeDocument/2006/relationships/hyperlink" Target="https://qiita.com/kinamocchi_tech/items/41704c6901b395121dab" TargetMode="External"/><Relationship Id="rId7" Type="http://schemas.openxmlformats.org/officeDocument/2006/relationships/hyperlink" Target="https://qiita.com/yureki_lab/items/44d9155ebe7a4db804ab" TargetMode="External"/><Relationship Id="rId8" Type="http://schemas.openxmlformats.org/officeDocument/2006/relationships/hyperlink" Target="https://qiita.com/pdfractal/items/3aa92efb61341b7c1e19" TargetMode="External"/><Relationship Id="rId9" Type="http://schemas.openxmlformats.org/officeDocument/2006/relationships/hyperlink" Target="https://qiita.com/kenichiyoshioka/items/3d616a9312120aa2f2e2" TargetMode="External"/><Relationship Id="rId10" Type="http://schemas.openxmlformats.org/officeDocument/2006/relationships/hyperlink" Target="https://qiita.com/susie000720/items/5d1b0d599496e7f39466" TargetMode="External"/><Relationship Id="rId11" Type="http://schemas.openxmlformats.org/officeDocument/2006/relationships/hyperlink" Target="https://qiita.com/akiralab/items/e68cd9bb60921149944d" TargetMode="External"/><Relationship Id="rId12" Type="http://schemas.openxmlformats.org/officeDocument/2006/relationships/hyperlink" Target="https://github.com/PhiloLabs/fable51-worlds/tree/main" TargetMode="External"/><Relationship Id="rId13" Type="http://schemas.openxmlformats.org/officeDocument/2006/relationships/hyperlink" Target="https://qiita.com/picnic/items/026123e37ab65481e2dc"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ritama-Lab/items/bbac76085a5789a724d4" TargetMode="External"/><Relationship Id="rId3" Type="http://schemas.openxmlformats.org/officeDocument/2006/relationships/hyperlink" Target="https://qiita.com/akiralab/items/58e351dcef244e5045ec" TargetMode="External"/><Relationship Id="rId4" Type="http://schemas.openxmlformats.org/officeDocument/2006/relationships/hyperlink" Target="https://qiita.com/sh39/items/1edad1c6bd98f5914955" TargetMode="External"/><Relationship Id="rId5" Type="http://schemas.openxmlformats.org/officeDocument/2006/relationships/hyperlink" Target="https://openrouter.ai/openai/gpt-6-astra" TargetMode="External"/><Relationship Id="rId6" Type="http://schemas.openxmlformats.org/officeDocument/2006/relationships/hyperlink" Target="https://zenn.dev/every_ai_recipe/articles/claim-email-ngword-charcount-check" TargetMode="External"/><Relationship Id="rId7" Type="http://schemas.openxmlformats.org/officeDocument/2006/relationships/hyperlink" Target="https://qiita.com/kai_kou/items/b7699cec0a06a0ccfbfc" TargetMode="External"/><Relationship Id="rId8" Type="http://schemas.openxmlformats.org/officeDocument/2006/relationships/hyperlink" Target="https://qiita.com/Takuya__/items/47007593066095ab4fb8" TargetMode="External"/><Relationship Id="rId9" Type="http://schemas.openxmlformats.org/officeDocument/2006/relationships/hyperlink" Target="https://qiita.com/yamanakapom/items/232babe96dc8a38a55d8" TargetMode="External"/><Relationship Id="rId10" Type="http://schemas.openxmlformats.org/officeDocument/2006/relationships/hyperlink" Target="https://qiita.com/nrouter_ai1991/items/229b4e1c389964a38dd9" TargetMode="External"/><Relationship Id="rId11" Type="http://schemas.openxmlformats.org/officeDocument/2006/relationships/hyperlink" Target="https://qiita.com/Ruria1024/items/17726dfb4369ca235687" TargetMode="External"/><Relationship Id="rId12" Type="http://schemas.openxmlformats.org/officeDocument/2006/relationships/hyperlink" Target="https://qiita.com/pdfractal/items/7f45c13455277009bba1" TargetMode="External"/><Relationship Id="rId13" Type="http://schemas.openxmlformats.org/officeDocument/2006/relationships/hyperlink" Target="https://zenn.dev/punipogames/articles/1950d42da0e4b1"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mcgoldr.github.io/2026/09/04/llm-next-token-predictors.html" TargetMode="External"/><Relationship Id="rId3" Type="http://schemas.openxmlformats.org/officeDocument/2006/relationships/hyperlink" Target="https://zenn.dev/sh39works/articles/219dae985a0394" TargetMode="External"/><Relationship Id="rId4" Type="http://schemas.openxmlformats.org/officeDocument/2006/relationships/hyperlink" Target="https://qiita.com/GeneLab_999/items/220d7d4a43285df1775b" TargetMode="External"/><Relationship Id="rId5" Type="http://schemas.openxmlformats.org/officeDocument/2006/relationships/hyperlink" Target="https://zenn.dev/kotoda_ma/articles/07321e3dc01318" TargetMode="External"/><Relationship Id="rId6" Type="http://schemas.openxmlformats.org/officeDocument/2006/relationships/hyperlink" Target="https://qiita.com/punpunpun5963/items/00b6b2ce4d7319230b1c" TargetMode="External"/><Relationship Id="rId7" Type="http://schemas.openxmlformats.org/officeDocument/2006/relationships/hyperlink" Target="https://zenn.dev/phpmyadmin/articles/cmp170hx-longrun-test" TargetMode="External"/><Relationship Id="rId8" Type="http://schemas.openxmlformats.org/officeDocument/2006/relationships/hyperlink" Target="https://zenn.dev/data_boatrace/articles/18ec84203f366f" TargetMode="External"/><Relationship Id="rId9" Type="http://schemas.openxmlformats.org/officeDocument/2006/relationships/hyperlink" Target="https://qiita.com/mrrclb48z/items/ac9ef60581c305940116" TargetMode="External"/><Relationship Id="rId10" Type="http://schemas.openxmlformats.org/officeDocument/2006/relationships/hyperlink" Target="https://zenn.dev/trailfusionai/articles/ai-news-20260513000251-07fa5e" TargetMode="External"/><Relationship Id="rId11" Type="http://schemas.openxmlformats.org/officeDocument/2006/relationships/hyperlink" Target="https://qiita.com/daviechen/items/047cc1e31c21ad66bbe4" TargetMode="External"/><Relationship Id="rId12" Type="http://schemas.openxmlformats.org/officeDocument/2006/relationships/hyperlink" Target="https://qiita.com/828rimo/items/0f8791f604c818708d36" TargetMode="External"/><Relationship Id="rId13" Type="http://schemas.openxmlformats.org/officeDocument/2006/relationships/hyperlink" Target="https://github.com/gioblu/NPC-Forge/blob/main/docs/development.md"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yumeno/articles/rtx5060ti-qwen38-ollama-context-tuning" TargetMode="External"/><Relationship Id="rId3" Type="http://schemas.openxmlformats.org/officeDocument/2006/relationships/hyperlink" Target="https://zenn.dev/officekamiya/articles/gemini-live-subtitle-latency" TargetMode="External"/><Relationship Id="rId4" Type="http://schemas.openxmlformats.org/officeDocument/2006/relationships/hyperlink" Target="https://qiita.com/maskot1977/items/226ef503f00dca1b4cf8" TargetMode="External"/><Relationship Id="rId5" Type="http://schemas.openxmlformats.org/officeDocument/2006/relationships/hyperlink" Target="https://qiita.com/quotidia/items/e7e16a68fb321e9859e2" TargetMode="External"/><Relationship Id="rId6" Type="http://schemas.openxmlformats.org/officeDocument/2006/relationships/hyperlink" Target="https://zenn.dev/genelab_999/articles/2281f72b68e2b0" TargetMode="External"/><Relationship Id="rId7" Type="http://schemas.openxmlformats.org/officeDocument/2006/relationships/hyperlink" Target="https://zenn.dev/pdfractal/articles/c4676ea32a5895" TargetMode="External"/><Relationship Id="rId8" Type="http://schemas.openxmlformats.org/officeDocument/2006/relationships/hyperlink" Target="https://qiita.com/Solbear/items/ad15ec59cc18cf9994c5" TargetMode="External"/><Relationship Id="rId9" Type="http://schemas.openxmlformats.org/officeDocument/2006/relationships/hyperlink" Target="https://qiita.com/softbase/items/231c4fccfc9dc546e9b1" TargetMode="External"/><Relationship Id="rId10" Type="http://schemas.openxmlformats.org/officeDocument/2006/relationships/hyperlink" Target="https://qiita.com/mrrclb48z/items/818d00650fb564af4ff8" TargetMode="External"/><Relationship Id="rId11" Type="http://schemas.openxmlformats.org/officeDocument/2006/relationships/hyperlink" Target="https://openai.com/index/gpt-6-astra/" TargetMode="External"/><Relationship Id="rId12" Type="http://schemas.openxmlformats.org/officeDocument/2006/relationships/hyperlink" Target="https://qiita.com/828rimo/items/9802e0cbe993559c7356" TargetMode="External"/><Relationship Id="rId13" Type="http://schemas.openxmlformats.org/officeDocument/2006/relationships/hyperlink" Target="https://zenn.dev/k_ts_ngo/articles/97351f029167e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okssusucha/items/9593deba0bc7f8cfaa76" TargetMode="External"/><Relationship Id="rId3" Type="http://schemas.openxmlformats.org/officeDocument/2006/relationships/hyperlink" Target="https://qiita.com/uni928/items/187526b0843bc09a4a39" TargetMode="External"/><Relationship Id="rId4" Type="http://schemas.openxmlformats.org/officeDocument/2006/relationships/hyperlink" Target="https://qiita.com/boraemon2000/items/a6b5579f75ccf5dbbeef" TargetMode="External"/><Relationship Id="rId5" Type="http://schemas.openxmlformats.org/officeDocument/2006/relationships/hyperlink" Target="https://zenn.dev/yyamamot/articles/gpt2-to-qwen2-02-swiglu" TargetMode="External"/><Relationship Id="rId6" Type="http://schemas.openxmlformats.org/officeDocument/2006/relationships/hyperlink" Target="https://qiita.com/yoshisen/items/ed022a3cd246e76ca6a9" TargetMode="External"/><Relationship Id="rId7" Type="http://schemas.openxmlformats.org/officeDocument/2006/relationships/hyperlink" Target="https://qiita.com/masykot582/items/c97b1e94b99eed0df55c" TargetMode="External"/><Relationship Id="rId8" Type="http://schemas.openxmlformats.org/officeDocument/2006/relationships/hyperlink" Target="https://qiita.com/GeneLab_999/items/10101e6b6d1094c0c700" TargetMode="External"/><Relationship Id="rId9" Type="http://schemas.openxmlformats.org/officeDocument/2006/relationships/hyperlink" Target="https://qiita.com/GeneLab_999/items/7c3a36aef4b908949a0b" TargetMode="External"/><Relationship Id="rId10" Type="http://schemas.openxmlformats.org/officeDocument/2006/relationships/hyperlink" Target="https://qiita.com/828rimo/items/d37ed26ddedee42a3e5a" TargetMode="External"/><Relationship Id="rId11" Type="http://schemas.openxmlformats.org/officeDocument/2006/relationships/hyperlink" Target="https://qiita.com/maccotaro/items/17a9762c4cc2bfa0cb8e" TargetMode="External"/><Relationship Id="rId12" Type="http://schemas.openxmlformats.org/officeDocument/2006/relationships/hyperlink" Target="https://qiita.com/kuno_/items/1266f4eddb6c68ef18a7" TargetMode="External"/><Relationship Id="rId13" Type="http://schemas.openxmlformats.org/officeDocument/2006/relationships/hyperlink" Target="https://zenn.dev/ux_xu/articles/7cd612d1e9d63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h888s/articles/gtest-frame-problem" TargetMode="External"/><Relationship Id="rId3" Type="http://schemas.openxmlformats.org/officeDocument/2006/relationships/hyperlink" Target="https://zenn.dev/colinnxt/articles/68f4fb459a4180" TargetMode="External"/><Relationship Id="rId4" Type="http://schemas.openxmlformats.org/officeDocument/2006/relationships/hyperlink" Target="https://zenn.dev/ojisan_ai_lab/articles/chatgpt-free-file-limit-20260902" TargetMode="External"/><Relationship Id="rId5" Type="http://schemas.openxmlformats.org/officeDocument/2006/relationships/hyperlink" Target="https://zenn.dev/projecticonik/articles/e505598daf46cd" TargetMode="External"/><Relationship Id="rId6" Type="http://schemas.openxmlformats.org/officeDocument/2006/relationships/hyperlink" Target="https://zenn.dev/c_a_p_engineer/articles/praising-ai-context-memory-rlhf" TargetMode="External"/><Relationship Id="rId7" Type="http://schemas.openxmlformats.org/officeDocument/2006/relationships/hyperlink" Target="https://zenn.dev/hiro_algo/articles/fx-lstm-input-window-comparison" TargetMode="External"/><Relationship Id="rId8" Type="http://schemas.openxmlformats.org/officeDocument/2006/relationships/hyperlink" Target="https://zenn.dev/ai_chi/articles/cee2081ac9255a" TargetMode="External"/><Relationship Id="rId9" Type="http://schemas.openxmlformats.org/officeDocument/2006/relationships/hyperlink" Target="https://qiita.com/HN6039940/items/e794b2340a113c85fd1d" TargetMode="External"/><Relationship Id="rId10" Type="http://schemas.openxmlformats.org/officeDocument/2006/relationships/hyperlink" Target="https://qiita.com/h-nasu/items/5634ceb0619b37ef7f98" TargetMode="External"/><Relationship Id="rId11" Type="http://schemas.openxmlformats.org/officeDocument/2006/relationships/hyperlink" Target="https://zenn.dev/sapolas/articles/45a3a1456e1dfb" TargetMode="External"/><Relationship Id="rId12" Type="http://schemas.openxmlformats.org/officeDocument/2006/relationships/hyperlink" Target="https://qiita.com/ishizakahiroshi/items/a7065348ad7ca46ca521" TargetMode="External"/><Relationship Id="rId13" Type="http://schemas.openxmlformats.org/officeDocument/2006/relationships/hyperlink" Target="https://qiita.com/mapmc/items/a37fb37d869aa657e30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h-nasu/items/d0b2601bb179a6cdd5eb" TargetMode="External"/><Relationship Id="rId3" Type="http://schemas.openxmlformats.org/officeDocument/2006/relationships/hyperlink" Target="https://zenn.dev/todesking/articles/d23fd40b319388" TargetMode="External"/><Relationship Id="rId4" Type="http://schemas.openxmlformats.org/officeDocument/2006/relationships/hyperlink" Target="https://qiita.com/otoyo0318/items/411f8f3d4813f66c3af9" TargetMode="External"/><Relationship Id="rId5" Type="http://schemas.openxmlformats.org/officeDocument/2006/relationships/hyperlink" Target="https://qiita.com/Skillsheet-Port/items/0ea38eeebb9b94dc708e" TargetMode="External"/><Relationship Id="rId6" Type="http://schemas.openxmlformats.org/officeDocument/2006/relationships/hyperlink" Target="https://qiita.com/ramutarafarm/items/3625867c29a869e9f94d" TargetMode="External"/><Relationship Id="rId7" Type="http://schemas.openxmlformats.org/officeDocument/2006/relationships/hyperlink" Target="https://qiita.com/Rapls/items/8acc4aa395b04c184e96" TargetMode="External"/><Relationship Id="rId8" Type="http://schemas.openxmlformats.org/officeDocument/2006/relationships/hyperlink" Target="https://qiita.com/Skillsheet-Port/items/4cd692961ed03421b794" TargetMode="External"/><Relationship Id="rId9" Type="http://schemas.openxmlformats.org/officeDocument/2006/relationships/hyperlink" Target="https://zenn.dev/jinfuroi/articles/b2e3c2c66f7d74" TargetMode="External"/><Relationship Id="rId10" Type="http://schemas.openxmlformats.org/officeDocument/2006/relationships/hyperlink" Target="https://zenn.dev/hajimeteradio3/articles/c710f3020097ae" TargetMode="External"/><Relationship Id="rId11" Type="http://schemas.openxmlformats.org/officeDocument/2006/relationships/hyperlink" Target="https://zenn.dev/jinfuroi/articles/f5ee4abc096810" TargetMode="External"/><Relationship Id="rId12" Type="http://schemas.openxmlformats.org/officeDocument/2006/relationships/hyperlink" Target="https://zenn.dev/sapolas/articles/7e36aca3347e0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063240"/>
            <a:ext cx="12188952" cy="54864"/>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1371600"/>
          </a:xfrm>
          <a:prstGeom prst="rect">
            <a:avLst/>
          </a:prstGeom>
          <a:noFill/>
        </p:spPr>
        <p:txBody>
          <a:bodyPr wrap="square">
            <a:spAutoFit/>
          </a:bodyPr>
          <a:lstStyle/>
          <a:p>
            <a:pPr algn="ctr"/>
            <a:r>
              <a:rPr sz="4400" b="1">
                <a:solidFill>
                  <a:srgbClr val="FFFFFF"/>
                </a:solidFill>
              </a:rPr>
              <a:t>AI ニュース日報</a:t>
            </a:r>
          </a:p>
        </p:txBody>
      </p:sp>
      <p:sp>
        <p:nvSpPr>
          <p:cNvPr id="5" name="TextBox 4"/>
          <p:cNvSpPr txBox="1"/>
          <p:nvPr/>
        </p:nvSpPr>
        <p:spPr>
          <a:xfrm>
            <a:off x="731520" y="2743200"/>
            <a:ext cx="10698480" cy="640080"/>
          </a:xfrm>
          <a:prstGeom prst="rect">
            <a:avLst/>
          </a:prstGeom>
          <a:noFill/>
        </p:spPr>
        <p:txBody>
          <a:bodyPr wrap="square">
            <a:spAutoFit/>
          </a:bodyPr>
          <a:lstStyle/>
          <a:p>
            <a:pPr algn="ctr"/>
            <a:r>
              <a:rPr sz="2200" b="0">
                <a:solidFill>
                  <a:srgbClr val="AED6F1"/>
                </a:solidFill>
              </a:rPr>
              <a:t>2026-09-05</a:t>
            </a:r>
          </a:p>
        </p:txBody>
      </p:sp>
      <p:sp>
        <p:nvSpPr>
          <p:cNvPr id="6" name="TextBox 5"/>
          <p:cNvSpPr txBox="1"/>
          <p:nvPr/>
        </p:nvSpPr>
        <p:spPr>
          <a:xfrm>
            <a:off x="731520" y="3474720"/>
            <a:ext cx="10698480" cy="548640"/>
          </a:xfrm>
          <a:prstGeom prst="rect">
            <a:avLst/>
          </a:prstGeom>
          <a:noFill/>
        </p:spPr>
        <p:txBody>
          <a:bodyPr wrap="square">
            <a:spAutoFit/>
          </a:bodyPr>
          <a:lstStyle/>
          <a:p>
            <a:pPr algn="ctr"/>
            <a:r>
              <a:rPr sz="1800" b="0">
                <a:solidFill>
                  <a:srgbClr val="85C1E9"/>
                </a:solidFill>
              </a:rPr>
              <a:t>総収集記事数：211 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37160" cy="1005840"/>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37160"/>
            <a:ext cx="11430000" cy="777240"/>
          </a:xfrm>
          <a:prstGeom prst="rect">
            <a:avLst/>
          </a:prstGeom>
          <a:noFill/>
        </p:spPr>
        <p:txBody>
          <a:bodyPr wrap="square">
            <a:spAutoFit/>
          </a:bodyPr>
          <a:lstStyle/>
          <a:p>
            <a:pPr algn="l"/>
            <a:r>
              <a:rPr sz="2600" b="1">
                <a:solidFill>
                  <a:srgbClr val="FFFFFF"/>
                </a:solidFill>
              </a:rPr>
              <a:t>本日のテーマ別サマリー</a:t>
            </a:r>
          </a:p>
        </p:txBody>
      </p:sp>
      <p:graphicFrame>
        <p:nvGraphicFramePr>
          <p:cNvPr id="6" name="Table 5"/>
          <p:cNvGraphicFramePr>
            <a:graphicFrameLocks noGrp="1"/>
          </p:cNvGraphicFramePr>
          <p:nvPr/>
        </p:nvGraphicFramePr>
        <p:xfrm>
          <a:off x="1371600" y="1554480"/>
          <a:ext cx="9418320" cy="4754880"/>
        </p:xfrm>
        <a:graphic>
          <a:graphicData uri="http://schemas.openxmlformats.org/drawingml/2006/table">
            <a:tbl>
              <a:tblPr firstRow="1" bandRow="1">
                <a:tableStyleId>{5C22544A-7EE6-4342-B048-85BDC9FD1C3A}</a:tableStyleId>
              </a:tblPr>
              <a:tblGrid>
                <a:gridCol w="5760720"/>
                <a:gridCol w="1737360"/>
                <a:gridCol w="1920240"/>
              </a:tblGrid>
              <a:tr h="594360">
                <a:tc>
                  <a:txBody>
                    <a:bodyPr/>
                    <a:lstStyle/>
                    <a:p>
                      <a:pPr algn="l"/>
                      <a:r>
                        <a:rPr sz="1100" b="1">
                          <a:solidFill>
                            <a:srgbClr val="FFFFFF"/>
                          </a:solidFill>
                        </a:rPr>
                        <a:t>テーマ</a:t>
                      </a:r>
                    </a:p>
                  </a:txBody>
                  <a:tcPr>
                    <a:solidFill>
                      <a:srgbClr val="233C5F"/>
                    </a:solidFill>
                  </a:tcPr>
                </a:tc>
                <a:tc>
                  <a:txBody>
                    <a:bodyPr/>
                    <a:lstStyle/>
                    <a:p>
                      <a:pPr algn="ctr"/>
                      <a:r>
                        <a:rPr sz="1100" b="1">
                          <a:solidFill>
                            <a:srgbClr val="FFFFFF"/>
                          </a:solidFill>
                        </a:rPr>
                        <a:t>件数</a:t>
                      </a:r>
                    </a:p>
                  </a:txBody>
                  <a:tcPr>
                    <a:solidFill>
                      <a:srgbClr val="233C5F"/>
                    </a:solidFill>
                  </a:tcPr>
                </a:tc>
                <a:tc>
                  <a:txBody>
                    <a:bodyPr/>
                    <a:lstStyle/>
                    <a:p>
                      <a:pPr algn="ctr"/>
                      <a:r>
                        <a:rPr sz="1100" b="1">
                          <a:solidFill>
                            <a:srgbClr val="FFFFFF"/>
                          </a:solidFill>
                        </a:rPr>
                        <a:t>割合</a:t>
                      </a:r>
                    </a:p>
                  </a:txBody>
                  <a:tcPr>
                    <a:solidFill>
                      <a:srgbClr val="233C5F"/>
                    </a:solidFill>
                  </a:tcPr>
                </a:tc>
              </a:tr>
              <a:tr h="594360">
                <a:tc>
                  <a:txBody>
                    <a:bodyPr/>
                    <a:lstStyle/>
                    <a:p>
                      <a:pPr algn="l"/>
                      <a:r>
                        <a:rPr sz="1200" b="0">
                          <a:solidFill>
                            <a:srgbClr val="D0E4F7"/>
                          </a:solidFill>
                        </a:rPr>
                        <a:t>● IT運用・自動化</a:t>
                      </a:r>
                    </a:p>
                  </a:txBody>
                  <a:tcPr>
                    <a:solidFill>
                      <a:srgbClr val="1E2D47"/>
                    </a:solidFill>
                  </a:tcPr>
                </a:tc>
                <a:tc>
                  <a:txBody>
                    <a:bodyPr/>
                    <a:lstStyle/>
                    <a:p>
                      <a:pPr algn="ctr"/>
                      <a:r>
                        <a:rPr sz="1200" b="0">
                          <a:solidFill>
                            <a:srgbClr val="E74C3C"/>
                          </a:solidFill>
                        </a:rPr>
                        <a:t>11 件</a:t>
                      </a:r>
                    </a:p>
                  </a:txBody>
                  <a:tcPr>
                    <a:solidFill>
                      <a:srgbClr val="1E2D47"/>
                    </a:solidFill>
                  </a:tcPr>
                </a:tc>
                <a:tc>
                  <a:txBody>
                    <a:bodyPr/>
                    <a:lstStyle/>
                    <a:p>
                      <a:pPr algn="ctr"/>
                      <a:r>
                        <a:rPr sz="1200" b="0">
                          <a:solidFill>
                            <a:srgbClr val="D0E4F7"/>
                          </a:solidFill>
                        </a:rPr>
                        <a:t>4.3%</a:t>
                      </a:r>
                    </a:p>
                  </a:txBody>
                  <a:tcPr>
                    <a:solidFill>
                      <a:srgbClr val="1E2D47"/>
                    </a:solidFill>
                  </a:tcPr>
                </a:tc>
              </a:tr>
              <a:tr h="594360">
                <a:tc>
                  <a:txBody>
                    <a:bodyPr/>
                    <a:lstStyle/>
                    <a:p>
                      <a:pPr algn="l"/>
                      <a:r>
                        <a:rPr sz="1200" b="0">
                          <a:solidFill>
                            <a:srgbClr val="D0E4F7"/>
                          </a:solidFill>
                        </a:rPr>
                        <a:t>● RAG・検索基盤設計</a:t>
                      </a:r>
                    </a:p>
                  </a:txBody>
                  <a:tcPr>
                    <a:solidFill>
                      <a:srgbClr val="162238"/>
                    </a:solidFill>
                  </a:tcPr>
                </a:tc>
                <a:tc>
                  <a:txBody>
                    <a:bodyPr/>
                    <a:lstStyle/>
                    <a:p>
                      <a:pPr algn="ctr"/>
                      <a:r>
                        <a:rPr sz="1200" b="0">
                          <a:solidFill>
                            <a:srgbClr val="2980B9"/>
                          </a:solidFill>
                        </a:rPr>
                        <a:t>29 件</a:t>
                      </a:r>
                    </a:p>
                  </a:txBody>
                  <a:tcPr>
                    <a:solidFill>
                      <a:srgbClr val="162238"/>
                    </a:solidFill>
                  </a:tcPr>
                </a:tc>
                <a:tc>
                  <a:txBody>
                    <a:bodyPr/>
                    <a:lstStyle/>
                    <a:p>
                      <a:pPr algn="ctr"/>
                      <a:r>
                        <a:rPr sz="1200" b="0">
                          <a:solidFill>
                            <a:srgbClr val="D0E4F7"/>
                          </a:solidFill>
                        </a:rPr>
                        <a:t>11.5%</a:t>
                      </a:r>
                    </a:p>
                  </a:txBody>
                  <a:tcPr>
                    <a:solidFill>
                      <a:srgbClr val="162238"/>
                    </a:solidFill>
                  </a:tcPr>
                </a:tc>
              </a:tr>
              <a:tr h="594360">
                <a:tc>
                  <a:txBody>
                    <a:bodyPr/>
                    <a:lstStyle/>
                    <a:p>
                      <a:pPr algn="l"/>
                      <a:r>
                        <a:rPr sz="1200" b="0">
                          <a:solidFill>
                            <a:srgbClr val="D0E4F7"/>
                          </a:solidFill>
                        </a:rPr>
                        <a:t>● AIエージェント開発・運用</a:t>
                      </a:r>
                    </a:p>
                  </a:txBody>
                  <a:tcPr>
                    <a:solidFill>
                      <a:srgbClr val="1E2D47"/>
                    </a:solidFill>
                  </a:tcPr>
                </a:tc>
                <a:tc>
                  <a:txBody>
                    <a:bodyPr/>
                    <a:lstStyle/>
                    <a:p>
                      <a:pPr algn="ctr"/>
                      <a:r>
                        <a:rPr sz="1200" b="0">
                          <a:solidFill>
                            <a:srgbClr val="8439AD"/>
                          </a:solidFill>
                        </a:rPr>
                        <a:t>83 件</a:t>
                      </a:r>
                    </a:p>
                  </a:txBody>
                  <a:tcPr>
                    <a:solidFill>
                      <a:srgbClr val="1E2D47"/>
                    </a:solidFill>
                  </a:tcPr>
                </a:tc>
                <a:tc>
                  <a:txBody>
                    <a:bodyPr/>
                    <a:lstStyle/>
                    <a:p>
                      <a:pPr algn="ctr"/>
                      <a:r>
                        <a:rPr sz="1200" b="0">
                          <a:solidFill>
                            <a:srgbClr val="D0E4F7"/>
                          </a:solidFill>
                        </a:rPr>
                        <a:t>32.8%</a:t>
                      </a:r>
                    </a:p>
                  </a:txBody>
                  <a:tcPr>
                    <a:solidFill>
                      <a:srgbClr val="1E2D47"/>
                    </a:solidFill>
                  </a:tcPr>
                </a:tc>
              </a:tr>
              <a:tr h="594360">
                <a:tc>
                  <a:txBody>
                    <a:bodyPr/>
                    <a:lstStyle/>
                    <a:p>
                      <a:pPr algn="l"/>
                      <a:r>
                        <a:rPr sz="1200" b="0">
                          <a:solidFill>
                            <a:srgbClr val="D0E4F7"/>
                          </a:solidFill>
                        </a:rPr>
                        <a:t>● 生成AI活用の現場実践・他社事例</a:t>
                      </a:r>
                    </a:p>
                  </a:txBody>
                  <a:tcPr>
                    <a:solidFill>
                      <a:srgbClr val="162238"/>
                    </a:solidFill>
                  </a:tcPr>
                </a:tc>
                <a:tc>
                  <a:txBody>
                    <a:bodyPr/>
                    <a:lstStyle/>
                    <a:p>
                      <a:pPr algn="ctr"/>
                      <a:r>
                        <a:rPr sz="1200" b="0">
                          <a:solidFill>
                            <a:srgbClr val="27AE60"/>
                          </a:solidFill>
                        </a:rPr>
                        <a:t>31 件</a:t>
                      </a:r>
                    </a:p>
                  </a:txBody>
                  <a:tcPr>
                    <a:solidFill>
                      <a:srgbClr val="162238"/>
                    </a:solidFill>
                  </a:tcPr>
                </a:tc>
                <a:tc>
                  <a:txBody>
                    <a:bodyPr/>
                    <a:lstStyle/>
                    <a:p>
                      <a:pPr algn="ctr"/>
                      <a:r>
                        <a:rPr sz="1200" b="0">
                          <a:solidFill>
                            <a:srgbClr val="D0E4F7"/>
                          </a:solidFill>
                        </a:rPr>
                        <a:t>12.3%</a:t>
                      </a:r>
                    </a:p>
                  </a:txBody>
                  <a:tcPr>
                    <a:solidFill>
                      <a:srgbClr val="162238"/>
                    </a:solidFill>
                  </a:tcPr>
                </a:tc>
              </a:tr>
              <a:tr h="594360">
                <a:tc>
                  <a:txBody>
                    <a:bodyPr/>
                    <a:lstStyle/>
                    <a:p>
                      <a:pPr algn="l"/>
                      <a:r>
                        <a:rPr sz="1200" b="0">
                          <a:solidFill>
                            <a:srgbClr val="D0E4F7"/>
                          </a:solidFill>
                        </a:rPr>
                        <a:t>● AIガバナンス・セキュリティ・社内ルール</a:t>
                      </a:r>
                    </a:p>
                  </a:txBody>
                  <a:tcPr>
                    <a:solidFill>
                      <a:srgbClr val="1E2D47"/>
                    </a:solidFill>
                  </a:tcPr>
                </a:tc>
                <a:tc>
                  <a:txBody>
                    <a:bodyPr/>
                    <a:lstStyle/>
                    <a:p>
                      <a:pPr algn="ctr"/>
                      <a:r>
                        <a:rPr sz="1200" b="0">
                          <a:solidFill>
                            <a:srgbClr val="E67E22"/>
                          </a:solidFill>
                        </a:rPr>
                        <a:t>16 件</a:t>
                      </a:r>
                    </a:p>
                  </a:txBody>
                  <a:tcPr>
                    <a:solidFill>
                      <a:srgbClr val="1E2D47"/>
                    </a:solidFill>
                  </a:tcPr>
                </a:tc>
                <a:tc>
                  <a:txBody>
                    <a:bodyPr/>
                    <a:lstStyle/>
                    <a:p>
                      <a:pPr algn="ctr"/>
                      <a:r>
                        <a:rPr sz="1200" b="0">
                          <a:solidFill>
                            <a:srgbClr val="D0E4F7"/>
                          </a:solidFill>
                        </a:rPr>
                        <a:t>6.3%</a:t>
                      </a:r>
                    </a:p>
                  </a:txBody>
                  <a:tcPr>
                    <a:solidFill>
                      <a:srgbClr val="1E2D47"/>
                    </a:solidFill>
                  </a:tcPr>
                </a:tc>
              </a:tr>
              <a:tr h="594360">
                <a:tc>
                  <a:txBody>
                    <a:bodyPr/>
                    <a:lstStyle/>
                    <a:p>
                      <a:pPr algn="l"/>
                      <a:r>
                        <a:rPr sz="1200" b="0">
                          <a:solidFill>
                            <a:srgbClr val="D0E4F7"/>
                          </a:solidFill>
                        </a:rPr>
                        <a:t>● その他</a:t>
                      </a:r>
                    </a:p>
                  </a:txBody>
                  <a:tcPr>
                    <a:solidFill>
                      <a:srgbClr val="162238"/>
                    </a:solidFill>
                  </a:tcPr>
                </a:tc>
                <a:tc>
                  <a:txBody>
                    <a:bodyPr/>
                    <a:lstStyle/>
                    <a:p>
                      <a:pPr algn="ctr"/>
                      <a:r>
                        <a:rPr sz="1200" b="0">
                          <a:solidFill>
                            <a:srgbClr val="7F8C8D"/>
                          </a:solidFill>
                        </a:rPr>
                        <a:t>83 件</a:t>
                      </a:r>
                    </a:p>
                  </a:txBody>
                  <a:tcPr>
                    <a:solidFill>
                      <a:srgbClr val="162238"/>
                    </a:solidFill>
                  </a:tcPr>
                </a:tc>
                <a:tc>
                  <a:txBody>
                    <a:bodyPr/>
                    <a:lstStyle/>
                    <a:p>
                      <a:pPr algn="ctr"/>
                      <a:r>
                        <a:rPr sz="1200" b="0">
                          <a:solidFill>
                            <a:srgbClr val="D0E4F7"/>
                          </a:solidFill>
                        </a:rPr>
                        <a:t>32.8%</a:t>
                      </a:r>
                    </a:p>
                  </a:txBody>
                  <a:tcPr>
                    <a:solidFill>
                      <a:srgbClr val="162238"/>
                    </a:solidFill>
                  </a:tcPr>
                </a:tc>
              </a:tr>
              <a:tr h="594360">
                <a:tc>
                  <a:txBody>
                    <a:bodyPr/>
                    <a:lstStyle/>
                    <a:p>
                      <a:pPr algn="l"/>
                      <a:r>
                        <a:rPr sz="1200" b="1">
                          <a:solidFill>
                            <a:srgbClr val="FFFFFF"/>
                          </a:solidFill>
                        </a:rPr>
                        <a:t>合計</a:t>
                      </a:r>
                    </a:p>
                  </a:txBody>
                  <a:tcPr>
                    <a:solidFill>
                      <a:srgbClr val="2D405C"/>
                    </a:solidFill>
                  </a:tcPr>
                </a:tc>
                <a:tc>
                  <a:txBody>
                    <a:bodyPr/>
                    <a:lstStyle/>
                    <a:p>
                      <a:pPr algn="ctr"/>
                      <a:r>
                        <a:rPr sz="1200" b="1">
                          <a:solidFill>
                            <a:srgbClr val="FFFFFF"/>
                          </a:solidFill>
                        </a:rPr>
                        <a:t>253 件</a:t>
                      </a:r>
                    </a:p>
                  </a:txBody>
                  <a:tcPr>
                    <a:solidFill>
                      <a:srgbClr val="2D405C"/>
                    </a:solidFill>
                  </a:tcPr>
                </a:tc>
                <a:tc>
                  <a:txBody>
                    <a:bodyPr/>
                    <a:lstStyle/>
                    <a:p>
                      <a:pPr algn="ctr"/>
                      <a:r>
                        <a:rPr sz="1200" b="1">
                          <a:solidFill>
                            <a:srgbClr val="FFFFFF"/>
                          </a:solidFill>
                        </a:rPr>
                        <a:t>100.0%</a:t>
                      </a:r>
                    </a:p>
                  </a:txBody>
                  <a:tcPr>
                    <a:solidFill>
                      <a:srgbClr val="2D405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IT運用・自動化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AIに41万行書かせた9か月の全記録を公開しました</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https://qiita.com/bluetalk/items/8e5316e5644a596f3f9e</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昨年から積極的に AI を触っておりますが今年に入ってからの進化が目覚ましく、AI の研究と実業を兼ねて自社SaaS を構築するプロジェクトを開始しました。某プレイガイドの設計・開発に携わっていた経験を活かしてチケット販売プラットフォーム「CoMuse Ticket」を立ち上げました。設計から本番運</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日報を「書かせる」のをやめたら、何が変わる？｜AIで営業報告を自動化する実践的な考え方</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https://qiita.com/DnD-inc/items/ec266470430ce114c80d</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日報を「書かせる」のをやめたら、何が変わる？｜AIで営業報告を自動化する実践的な考え方
&gt; 本記事は、株式会社DnD（https://dnd-inc.jp）のコラムを一部編集して掲載しています。
&gt; 初出: https://dnd-inc.jp/blog/ai-daily-report-autom</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74C3C"/>
                </a:solidFill>
              </a:rPr>
              <a:t>[HackerNews]  </a:t>
            </a:r>
            <a:r>
              <a:rPr sz="1200" b="1">
                <a:solidFill>
                  <a:srgbClr val="FFFFFF"/>
                </a:solidFill>
              </a:rPr>
              <a:t>Sharing files with ChatGPT when limit exceeded is legal?</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https://news.ycombinator.com/item?id=49572713</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for dropbox method:
but the Dropbox connector cannot extract the binary contents needed to inspect its PE/COM registration details.
I would need any 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RAG・検索基盤設計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【ファインチューニング vs RAG】社内ナレッジベース構築におけるコスト対効果の技術的比較</a:t>
            </a:r>
            <a:r>
              <a:rPr sz="900">
                <a:solidFill>
                  <a:srgbClr val="7F8C8D"/>
                </a:solidFill>
              </a:rPr>
              <a:t>  (2026-09-04)</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https://qiita.com/NKKTechGlobal/items/06126206c1aab15bc45a</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【ファインチューニング vs RAG】社内ナレッジベース構築におけるコスト対効果の技術的比較
!Feature(149).png
はじめに
こんにちは、NKKTech Global 技術チームです。
現在、多くの企業が生成AI（LLM）を活用した「社内ナレッジベース」の構築を検討、あるいは実施</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RAGの検索精度は「質問理解」で変わる：Fine-grained Query Understandingを整理してみた</a:t>
            </a:r>
            <a:r>
              <a:rPr sz="900">
                <a:solidFill>
                  <a:srgbClr val="7F8C8D"/>
                </a:solidFill>
              </a:rPr>
              <a:t>  (2026-09-04)</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https://qiita.com/engchina/items/f0a4f6dbe043d1fa4ba4</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初めに
RAGを作っていると、Embedding検索やRerankを入れているのに、回答が少しズレることがあります。
たとえば、ECサイトのヘルプ検索で、ユーザーがこう聞いたとします。
しかし、ヘルプ文書では「キャンセル」ではなく「注文取消」という用語で書かれているかもしれません。
また</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980B9"/>
                </a:solidFill>
              </a:rPr>
              <a:t>[Zenn]  </a:t>
            </a:r>
            <a:r>
              <a:rPr sz="1200" b="1">
                <a:solidFill>
                  <a:srgbClr val="FFFFFF"/>
                </a:solidFill>
              </a:rPr>
              <a:t>FlutterGemmaでGemma 4 E4Bが動かない理由を、公式CLIとの比較で切り分けた話</a:t>
            </a:r>
            <a:r>
              <a:rPr sz="900">
                <a:solidFill>
                  <a:srgbClr val="7F8C8D"/>
                </a:solidFill>
              </a:rPr>
              <a:t>  (2026-09-04)</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https://zenn.dev/gitmame00/articles/a8f5f300d4ea86</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結論：Gemma 4は動く。動かないのはFlutter側だった。
数週間、Exa-Vision Pro に Gemma 4 E4B を組み込もうとしていました。
目標はシンプルです。
完全オフラインで、スマホだけでRAG＋LLM推論を実現する。
ところが Flutter では何度やっても同じエラー。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AIエージェント開発・運用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CLAUDE.mdをそろそろ見直す時期かも ── Claude 5世代向けの最適化手順・スキル・プロジェクト種類別の例</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https://qiita.com/nogataka/items/d6a54f3694726b9141f3</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要点
- Anthropic は 2026年7月24日のブログで、Claude Opus 5 / Fable 5 向けに Claude Code のシステムプロンプトを 80% 以上削り、社内コーディング評価で性能低下が測定できなかったと公表しました。
- 理由は「制約の多くは最悪のケース回避のた</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【コスパ最強】月1万円の下位プラン投資で爆速成果！Antigravity × Cursor × ChatGPT × Claudeの「4AI連携」開発・業務・執筆術</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https://qiita.com/boraemon2000/items/71b60ef197bd8653a092</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【コスパ最強】月1万円の下位プラン投資で爆速成果！Antigravity × Cursor × ChatGPT × Claudeの「4AI連携」開発・業務・執筆術
1. はじめに：AI課金沼にハマっていませんか？
生成AIやAIエディタが実務に不可欠となった今、多くの人が直面するのが「AI課金の</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TensorFlowで作ったモデルをVertex AI(現Agent Platform)にデプロイして推論を試してみた</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https://qiita.com/yukisnow0704/items/cf1a6f6bb72e157a0cbf</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
Webエンジニアとして9年ほど、主にPHP/Laravelでの開発をやってきました。以前、工場向けの危険検知システムを開発する案件で、TensorFlow(CNN)を使った画像解析モデルの実装に携わったことがあります。ただ直近1年ほどは開発の現場から少し離れ気味で、その間にAI周りの技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生成AI活用の現場実践・他社事例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AI時代に求められるFDEというエンジニア像</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https://qiita.com/blue_islands/items/d65fcd34c40302dbaa9e</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生成AIの普及によって、「エンジニアの仕事がAIに奪われる」という話を聞くことが増えました。
一方で、企業のAI活用は急速に進み、AIを実際の業務に導入できるエンジニアの需要は高まっています。
エンジニアが余ると言われる一方で、エンジニアが足りないとも言われる。
一見すると矛盾しているようです</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9/5、今日のセキュリティニュース</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https://qiita.com/Kerdy/items/18fe414da694203d8393</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&gt; この記事は、note掲載記事の転載です。
!見出し画像
おはようございます、かーでぃです。
本記事は、様々なネットニュースサイトからセキュリティ記事を集めて提供している”セキュリティ関連ニュースRSS”から、気になったニュースをピックアップして紹介しています。
情シスさんやサイバーセキュリテ</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AIに「本音で」社長を語らせたら、開発者の急所を抉られて「関係のIaC」に着地した話</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https://qiita.com/kenichiyoshioka/items/f3a68b2df4f979ad08be</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&lt;!-- ★番外編・実録座談会。代表の意見を待って仕上げる素材版(2026-09-05)。公開前に qiitalint.py 必須 --&gt;
&gt; 📚 番外編：AI二体で、雇い主を本音で語る座談会
---
これは何か（脚色は、ひとつもありません）
これは、ひとりでSaaSを作って運用している私（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AIガバナンス・セキュリティ・社内ルール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【プロンプト公開】他のAIが3日後に知る情報を、Grokは「今」教えてくれる。Grok × Xで技術ニュース収集が完全無料で「週10分」に激変した話</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https://qiita.com/shinkai_/items/dfc92e02ca1c461ead58</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はじめに
AI関連のニュースって、とにかく量が多いですよね。
毎日のように新しいモデルが発表され、企業の動向がアップデートされ、セキュリティ関連の重大ニュースも次々に流れてきます。  
そして、そういった情報の「一次情報としての新鮮さ」で言うと、圧倒的に強いのはXです。ニュースメディアが記事化す</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67E22"/>
                </a:solidFill>
              </a:rPr>
              <a:t>[HackerNews]  </a:t>
            </a:r>
            <a:r>
              <a:rPr sz="1200" b="1">
                <a:solidFill>
                  <a:srgbClr val="FFFFFF"/>
                </a:solidFill>
              </a:rPr>
              <a:t>GPT-6 Astra in code review: Gains, privacy, and cost</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https://www.coderabbit.ai/blog/gpt-6-astra-code-review-evaluation</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GPT-6 Astra in code review: Gains, privacy, and cost</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【第1弾：LLM×音声認識】Nottaが使いにくかったので、Whisper×PyAnnote×Gemini APIで音声文字起こしパイプラインを自作した話</a:t>
            </a:r>
            <a:r>
              <a:rPr sz="900">
                <a:solidFill>
                  <a:srgbClr val="7F8C8D"/>
                </a:solidFill>
              </a:rPr>
              <a:t>  (2026-09-04)</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https://qiita.com/tool-bizsystems/items/2a6ee711552a50a395a6</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はじめに：なぜ自作したのか
市販の音声文字起こしツール（例：Nottaなど）を利用する中で、次のような制限にもどかしさを感じたことはないでしょうか。
- 録音時間に関する制限（3分縛りなど）
 月間利用時間の制限
- 完全クラウド依存によるプライバシーや仕様変更への不安
こうした制約を解消す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AIに41万行書かせた9か月の全記録を公開しました</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2"/>
              </a:rPr>
              <a:t>https://qiita.com/bluetalk/items/8e5316e5644a596f3f9e</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昨年から積極的に AI を触っておりますが今年に入ってからの進化が目覚ましく、AI の研究と実業を兼ねて自社SaaS を構築するプロジェクトを開始しました。某プレイガイドの設計・開発に携わっていた経験を活かしてチケット販売プラットフォーム「</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日報を「書かせる」のをやめたら、何が変わる？｜AIで営業報告を自動化する実践的な考え方</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3"/>
              </a:rPr>
              <a:t>https://qiita.com/DnD-inc/items/ec266470430ce114c80d</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日報を「書かせる」のをやめたら、何が変わる？｜AIで営業報告を自動化する実践的な考え方
&gt; 本記事は、株式会社DnD（https://dnd-inc.jp）のコラムを一部編集して掲載しています。
&gt; 初出: https://dnd-inc</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Sharing files with ChatGPT when limit exceeded is legal?</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74C3C"/>
                </a:solidFill>
              </a:rPr>
              <a:t>[HackerNews]  </a:t>
            </a:r>
            <a:r>
              <a:rPr sz="800">
                <a:solidFill>
                  <a:srgbClr val="5DADE8"/>
                </a:solidFill>
                <a:hlinkClick r:id="rId4"/>
              </a:rPr>
              <a:t>https://news.ycombinator.com/item?id=49572713</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for dropbox method:
but the Dropbox connector cannot extract the binary contents needed to inspect its PE/COM registrati</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OpenBLASってなんだ？ — NumPyの行列積が1コアで76 GFLOPS出る理由</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https://qiita.com/GeneLab_999/items/251b62aaec1e9b304469</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はじめに
この記事で得られること
読み終えると、明日から次の4つを自分で決められるようになります。
1. 自分のNumPyやPyTorchが どのBLASで動いているか を1コマンドで確かめ、乗り換えるべきか判断できる
2. マルチプ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3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ISO704を投げてAIの比喩をやめさせる</a:t>
            </a:r>
            <a:r>
              <a:rPr sz="900">
                <a:solidFill>
                  <a:srgbClr val="7F8C8D"/>
                </a:solidFill>
              </a:rPr>
              <a:t>  (2026-09-04)</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2"/>
              </a:rPr>
              <a:t>https://zenn.dev/hi_fi_anatomia/articles/137180ac014439</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ある日の不明な言葉
コンポーネント設計の話をしていたときに、ある変更案についてClaudeは「配管が増える」と言った。
別にこの単語自体は問題ないのだが、文脈の中で何を指しているのか分からず、読解が止まった。
どういう意図で使ったのか聞いて</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ChatGPTのチャットからnote投稿を自動化するMCPを作った。認証・画像・リンクカード・公開まで</a:t>
            </a:r>
            <a:r>
              <a:rPr sz="900">
                <a:solidFill>
                  <a:srgbClr val="7F8C8D"/>
                </a:solidFill>
              </a:rPr>
              <a:t>  (2026-09-02)</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3"/>
              </a:rPr>
              <a:t>https://zenn.dev/rikunode/articles/chatgpt-note-mcp-production-flow</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普通のChatGPTのチャットから、そのままnoteの記事作成・画像挿入・公開まで進めたくて、Content Publisher MCPにnoteアダプターを追加した。
最初からnote向けの処理を全部自作したわけではない。note-mcp</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ChatGPTからX投稿を自動化するMCPを作った。画像投稿と実運用で見つかった失敗判定まで</a:t>
            </a:r>
            <a:r>
              <a:rPr sz="900">
                <a:solidFill>
                  <a:srgbClr val="7F8C8D"/>
                </a:solidFill>
              </a:rPr>
              <a:t>  (2026-09-02)</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4"/>
              </a:rPr>
              <a:t>https://zenn.dev/rikunode/articles/chatgpt-x-mcp-production-debug</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ChatGPTからXへそのまま投稿できるようにしたくて、XActionsを土台に小さなMCPを作りました。
最初はテキストを投稿できれば十分だと思っていました。ところが実際に使い始めると、画像の受け渡し、XへのMedia Upload、投稿</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LangGraphで実装！マルチエージェントRAGの設計とワークフロー自動化</a:t>
            </a:r>
            <a:r>
              <a:rPr sz="900">
                <a:solidFill>
                  <a:srgbClr val="7F8C8D"/>
                </a:solidFill>
              </a:rPr>
              <a:t>  (2026-09-01)</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https://qiita.com/Sa0422/items/afda8441ea6d401f7451</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多くのRAGシステム開発者が「複雑な推論や高度な情報処理が難しい」という壁にぶつかっています。単一のLLMエージェントだけでは、動的なクエリルーティングや多段階の評価・修正が困難で、結果としてRAGの精度や信頼性が頭打ちになることが少なく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【ファインチューニング vs RAG】社内ナレッジベース構築におけるコスト対効果の技術的比較</a:t>
            </a:r>
            <a:r>
              <a:rPr sz="900">
                <a:solidFill>
                  <a:srgbClr val="7F8C8D"/>
                </a:solidFill>
              </a:rPr>
              <a:t>  (2026-09-04)</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2"/>
              </a:rPr>
              <a:t>https://qiita.com/NKKTechGlobal/items/06126206c1aab15bc45a</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【ファインチューニング vs RAG】社内ナレッジベース構築におけるコスト対効果の技術的比較
!Feature(149).png
はじめに
こんにちは、NKKTech Global 技術チームです。
現在、多くの企業が生成AI（LLM</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RAGの検索精度は「質問理解」で変わる：Fine-grained Query Understandingを整理してみた</a:t>
            </a:r>
            <a:r>
              <a:rPr sz="900">
                <a:solidFill>
                  <a:srgbClr val="7F8C8D"/>
                </a:solidFill>
              </a:rPr>
              <a:t>  (2026-09-04)</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3"/>
              </a:rPr>
              <a:t>https://qiita.com/engchina/items/f0a4f6dbe043d1fa4ba4</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初めに
RAGを作っていると、Embedding検索やRerankを入れているのに、回答が少しズレることがあります。
たとえば、ECサイトのヘルプ検索で、ユーザーがこう聞いたとします。
しかし、ヘルプ文書では「キャンセル」ではなく</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FlutterGemmaでGemma 4 E4Bが動かない理由を、公式CLIとの比較で切り分けた話</a:t>
            </a:r>
            <a:r>
              <a:rPr sz="900">
                <a:solidFill>
                  <a:srgbClr val="7F8C8D"/>
                </a:solidFill>
              </a:rPr>
              <a:t>  (2026-09-04)</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4"/>
              </a:rPr>
              <a:t>https://zenn.dev/gitmame00/articles/a8f5f300d4ea86</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結論：Gemma 4は動く。動かないのはFlutter側だった。
数週間、Exa-Vision Pro に Gemma 4 E4B を組み込もうとしていました。
目標はシンプルです。
完全オフラインで、スマホだけでRAG＋LLM推論を実現す</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Ollamaに自分の情報を持たせる② ― SYSTEM + RAGをGPU環境で実際に動かしてみる</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5"/>
              </a:rPr>
              <a:t>https://qiita.com/rino_yume/items/1712cc23e78542741ab7</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Ollamaに自分の情報を持たせる② ― SYSTEM + RAGをGPU環境で実際に動かしてみる
前回の記事では、Ollamaへ自分の情報を持たせる方法として、SYSTEM、RAG、LoRAを分けて考えました。
最後の「27. 次にや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18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LLMでカタログPDFから構造化データを抽出する：プロンプト設計と後処理の実践</a:t>
            </a:r>
            <a:r>
              <a:rPr sz="900">
                <a:solidFill>
                  <a:srgbClr val="7F8C8D"/>
                </a:solidFill>
              </a:rPr>
              <a:t>  (2026-09-04)</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2"/>
              </a:rPr>
              <a:t>https://zenn.dev/optimax/articles/0fc6979bd6e0eb</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0. 前提
本記事では、複数のアパレル系メーカーのカタログをもとに商品検索システムを構築するプロジェクトの中で、PDFカタログから構造化データを抽出する工程に取り組んだ際の知見を紹介します。なお、社名・ブランド名・社内プロジェクト名などの固</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ローカルRAG環境を非エンジニアに届ける｜ダブルクリックで入る「社内知恵袋(ShineosQA)」を作った話</a:t>
            </a:r>
            <a:r>
              <a:rPr sz="900">
                <a:solidFill>
                  <a:srgbClr val="7F8C8D"/>
                </a:solidFill>
              </a:rPr>
              <a:t>  (2026-09-04)</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3"/>
              </a:rPr>
              <a:t>https://zenn.dev/shineos/articles/shineos-qa-assistant-non-engineer-rag</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はじめに
前回、OllamaとOpen WebUIで作るRAG環境という記事を書きました。Docker Composeひとつで、社内文書を読み込んで答えてくれるローカルRAGが立ち上がる、という内容です。
で、この記事がそこそこ反響を呼んで</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Agentic RAGの自律判断を深掘り：LangGraphの思考プロセスとツール連携</a:t>
            </a:r>
            <a:r>
              <a:rPr sz="900">
                <a:solidFill>
                  <a:srgbClr val="7F8C8D"/>
                </a:solidFill>
              </a:rPr>
              <a:t>  (2026-09-04)</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4"/>
              </a:rPr>
              <a:t>https://qiita.com/Sa0422/items/3cbffd42e0e72e375a80</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従来のRAGでは、一度検索をミスしたら終わり」「検索結果が不十分でも、LLMはそのまま回答を生成してしまう」――多くのエンジニアがこの問題に直面しているのではないでしょうか。単なる情報検索ではなく、LLMエージェントが自律的に「思考」し、</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Weaviate Go Client入門：Goでベクトル検索・gRPCバッチ投入・RAGまで動かす</a:t>
            </a:r>
            <a:r>
              <a:rPr sz="900">
                <a:solidFill>
                  <a:srgbClr val="7F8C8D"/>
                </a:solidFill>
              </a:rPr>
              <a:t>  (2026-09-04)</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5"/>
              </a:rPr>
              <a:t>https://zenn.dev/nonejp/articles/661b567d4f8d87</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「GoでRAGを作りたいんだけど、ベクトルDBまわりの日本語情報が少なくない？」と思ったことはありませんか。
PythonならLangChainやLlamaIndexの記事が山ほど出てきます。一方で、GoでWeaviateを触るとなると、公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CLAUDE.mdをそろそろ見直す時期かも ── Claude 5世代向けの最適化手順・スキル・プロジェクト種類別の例</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2"/>
              </a:rPr>
              <a:t>https://qiita.com/nogataka/items/d6a54f3694726b9141f3</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要点
- Anthropic は 2026年7月24日のブログで、Claude Opus 5 / Fable 5 向けに Claude Code のシステムプロンプトを 80% 以上削り、社内コーディング評価で性能低下が測定できなかったと</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【コスパ最強】月1万円の下位プラン投資で爆速成果！Antigravity × Cursor × ChatGPT × Claudeの「4AI連携」開発・業務・執筆…</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3"/>
              </a:rPr>
              <a:t>https://qiita.com/boraemon2000/items/71b60ef197bd8653a092</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【コスパ最強】月1万円の下位プラン投資で爆速成果！Antigravity × Cursor × ChatGPT × Claudeの「4AI連携」開発・業務・執筆術
1. はじめに：AI課金沼にハマっていませんか？
生成AIやAIエディタ</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TensorFlowで作ったモデルをVertex AI(現Agent Platform)にデプロイして推論を試してみた</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4"/>
              </a:rPr>
              <a:t>https://qiita.com/yukisnow0704/items/cf1a6f6bb72e157a0cbf</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Webエンジニアとして9年ほど、主にPHP/Laravelでの開発をやってきました。以前、工場向けの危険検知システムを開発する案件で、TensorFlow(CNN)を使った画像解析モデルの実装に携わったことがあります。ただ直近1</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v2.1.252 - v2.1.261 リリースノートまとめ</a:t>
            </a:r>
            <a:r>
              <a:rPr sz="900">
                <a:solidFill>
                  <a:srgbClr val="7F8C8D"/>
                </a:solidFill>
              </a:rPr>
              <a:t>  (2026-09-05)</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5"/>
              </a:rPr>
              <a:t>https://qiita.com/NaokiIshimura/items/9cd4585a7fa902bd989c</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Claude Code の v2.1.252 〜 v2.1.261（全6リリース）の CHANGELOG をまとめました。今回は新しいデフォルトモデル Claude Fable 5.1 の追加と、会話横に差分を表示する  パネルが目玉です。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63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AIに毎日ブログを書かせたら、実質同じ記事を2本公開していた — タイトル一致では防げない重複の潰し方</a:t>
            </a:r>
            <a:r>
              <a:rPr sz="900">
                <a:solidFill>
                  <a:srgbClr val="7F8C8D"/>
                </a:solidFill>
              </a:rPr>
              <a:t>  (2026-09-05)</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2"/>
              </a:rPr>
              <a:t>https://qiita.com/Kujira_AI/items/924ef2f249268dc2f049</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何が起きたか
私は本業のエンジニアではないが、Claude Code を相棒にして個人ブログを毎日更新している。記事の執筆はAIに任せ、私は題材の方針と公開判断だけを持っている。
ある日、公開済みの記事に「実質同じ内容の記事が2本ある」</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Web 検索・WebFetch のツール権限がこのセッションでは許可されておらず、参考URLの記事本文を取得できませんでした。</a:t>
            </a:r>
            <a:r>
              <a:rPr sz="900">
                <a:solidFill>
                  <a:srgbClr val="7F8C8D"/>
                </a:solidFill>
              </a:rPr>
              <a:t>  (2026-09-05)</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3"/>
              </a:rPr>
              <a:t>https://qiita.com/syun136_616/items/213cb24a4360720a6766</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Web 検索・WebFetch のツール権限がこのセッションでは許可されておらず、参考URLの記事本文を取得できませんでした。
この題材（Anthropicのコマース用エージェントのオープンソース化）は私の知識のカットオフ（2026年1月</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でつまずいたときの切り分けメモ（2026-09-05）</a:t>
            </a:r>
            <a:r>
              <a:rPr sz="900">
                <a:solidFill>
                  <a:srgbClr val="7F8C8D"/>
                </a:solidFill>
              </a:rPr>
              <a:t>  (2026-09-05)</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4"/>
              </a:rPr>
              <a:t>https://qiita.com/homhom44/items/5ba74834713a512b4840</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Claude Code を使っていて詰まったときの切り分けメモです。GitHub Issues に実際に報告されている症状のうち、複数人が同じことを踏んでいるものを選び、手元で実際にコマンドを叩いて確認した範囲だけを書いています。本文は P</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「1+1=2」から AI Agent まで #00</a:t>
            </a:r>
            <a:r>
              <a:rPr sz="900">
                <a:solidFill>
                  <a:srgbClr val="7F8C8D"/>
                </a:solidFill>
              </a:rPr>
              <a:t>  (2026-09-05)</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5"/>
              </a:rPr>
              <a:t>https://qiita.com/Snow315/items/5fdbe6c6dfb25304b259</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「1+1=2」から AI Agent まで 00
とりあえず、やってみよう
最近、AIがものすごい勢いで広がっている。
仕事でも日常生活でもAIを目にすることが増えて、自分のような普通のITエンジニアにとっても、もう無関係ではない気が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AI時代に求められるFDEというエンジニア像</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https://qiita.com/blue_islands/items/d65fcd34c40302dbaa9e</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生成AIの普及によって、「エンジニアの仕事がAIに奪われる」という話を聞くことが増えました。
一方で、企業のAI活用は急速に進み、AIを実際の業務に導入できるエンジニアの需要は高まっています。
エンジニアが余ると言われる一方で、エンジニ</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9/5、今日のセキュリティニュース</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3"/>
              </a:rPr>
              <a:t>https://qiita.com/Kerdy/items/18fe414da694203d8393</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&gt; この記事は、note掲載記事の転載です。
!見出し画像
おはようございます、かーでぃです。
本記事は、様々なネットニュースサイトからセキュリティ記事を集めて提供している”セキュリティ関連ニュースRSS”から、気になったニュースをピッ</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AIに「本音で」社長を語らせたら、開発者の急所を抉られて「関係のIaC」に着地した話</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4"/>
              </a:rPr>
              <a:t>https://qiita.com/kenichiyoshioka/items/f3a68b2df4f979ad08be</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&lt;!-- ★番外編・実録座談会。代表の意見を待って仕上げる素材版(2026-09-05)。公開前に qiitalint.py 必須 --&gt;
&gt; 📚 番外編：AI二体で、雇い主を本音で語る座談会
---
これは何か（脚色は、ひとつもあり</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LLMは魔法じゃない — 本番で構造化をやって踏んだ4つの穴（既存のテストでは拾えない）</a:t>
            </a:r>
            <a:r>
              <a:rPr sz="900">
                <a:solidFill>
                  <a:srgbClr val="7F8C8D"/>
                </a:solidFill>
              </a:rPr>
              <a:t>  (2026-09-05)</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5"/>
              </a:rPr>
              <a:t>https://qiita.com/kenichiyoshioka/items/62e643337989b8ec905c</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&gt; 📚 スキルシートと市場価値 シリーズ ⑤：LLM固有の問題とは？
---
はじめに
弊社プロダクトのcnvSkillsheet（コンバートスキルシート）ではエンジニアの経歴書（スキルシート）を、Geminiで構造化しています。PD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6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耳で聞く！Python で学ぶ マクロ経済学 入門 9</a:t>
            </a:r>
            <a:r>
              <a:rPr sz="900">
                <a:solidFill>
                  <a:srgbClr val="7F8C8D"/>
                </a:solidFill>
              </a:rPr>
              <a:t>  (2026-09-05)</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https://qiita.com/maskot1977/items/ec2e50adced923fecb94</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&lt;iframe width="560" height="315" src="https://www.youtube.com/embed/NDJUU82dXk" frameborder="0" allow="accelerometer; au</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【備忘録】初めてスマホアプリを構築・ビルドしてみた</a:t>
            </a:r>
            <a:r>
              <a:rPr sz="900">
                <a:solidFill>
                  <a:srgbClr val="7F8C8D"/>
                </a:solidFill>
              </a:rPr>
              <a:t>  (2026-09-04)</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3"/>
              </a:rPr>
              <a:t>https://zenn.dev/matsu8/articles/dc85801019be38</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使った技術 - 箇条書き
フロントエンド: Flutter Dart Android
バックエンド: Python FastAPI Uvicorn Pydantic REST API / JSON
LLM: Google Gemini AP</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スポーツ分析で活用されるAIモデル入門：データからパフォーマンスを読み解く方法</a:t>
            </a:r>
            <a:r>
              <a:rPr sz="900">
                <a:solidFill>
                  <a:srgbClr val="7F8C8D"/>
                </a:solidFill>
              </a:rPr>
              <a:t>  (2026-09-04)</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4"/>
              </a:rPr>
              <a:t>https://qiita.com/wow88my_official/items/5b3ce2539a5996f315df</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スポーツ分野では、試合結果だけでなく、選手の走行距離、シュート位置、パス成功率、ポゼッション、心拍数など、さまざまなデータが収集されるようになっています。
こうしたデータを人間だけで分析するには限界があります。
そこで活用されているのが</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フリーランス案件の「求めるスキル」にAIが入り始めた——今、何を準備すべきか</a:t>
            </a:r>
            <a:r>
              <a:rPr sz="900">
                <a:solidFill>
                  <a:srgbClr val="7F8C8D"/>
                </a:solidFill>
              </a:rPr>
              <a:t>  (2026-09-04)</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5"/>
              </a:rPr>
              <a:t>https://zenn.dev/takabo/articles/ai-skill-requirement</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最近、案件の「求めるスキル」に「AI支援ツールを活用した開発経験」「LLMを用いた実務経験」といった一文をよく見る。まだ全案件の常識ではないが、確実に増えている。募集中案件を言語別に独自調査すると、AIに言及する割合はこうだった。
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【プロンプト公開】他のAIが3日後に知る情報を、Grokは「今」教えてくれる。Grok × Xで技術ニュース収集が完全無料で「週10分」に激変した話</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2"/>
              </a:rPr>
              <a:t>https://qiita.com/shinkai_/items/dfc92e02ca1c461ead58</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はじめに
AI関連のニュースって、とにかく量が多いですよね。
毎日のように新しいモデルが発表され、企業の動向がアップデートされ、セキュリティ関連の重大ニュースも次々に流れてきます。  
そして、そういった情報の「一次情報としての新鮮さ」</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67E22"/>
                </a:solidFill>
              </a:rPr>
              <a:t>▶ </a:t>
            </a:r>
            <a:r>
              <a:rPr sz="1200" b="1">
                <a:solidFill>
                  <a:srgbClr val="FFFFFF"/>
                </a:solidFill>
              </a:rPr>
              <a:t>GPT-6 Astra in code review: Gains, privacy, and cost</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67E22"/>
                </a:solidFill>
              </a:rPr>
              <a:t>[HackerNews]  </a:t>
            </a:r>
            <a:r>
              <a:rPr sz="800">
                <a:solidFill>
                  <a:srgbClr val="5DADE8"/>
                </a:solidFill>
                <a:hlinkClick r:id="rId3"/>
              </a:rPr>
              <a:t>https://www.coderabbit.ai/blog/gpt-6-astra-code-review-evaluation</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GPT-6 Astra in code review: Gains, privacy, and cost</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67E22"/>
                </a:solidFill>
              </a:rPr>
              <a:t>▶ </a:t>
            </a:r>
            <a:r>
              <a:rPr sz="1200" b="1">
                <a:solidFill>
                  <a:srgbClr val="FFFFFF"/>
                </a:solidFill>
              </a:rPr>
              <a:t>【第1弾：LLM×音声認識】Nottaが使いにくかったので、Whisper×PyAnnote×Gemini APIで音声文字起こしパイプラインを自作した話</a:t>
            </a:r>
            <a:r>
              <a:rPr sz="900">
                <a:solidFill>
                  <a:srgbClr val="7F8C8D"/>
                </a:solidFill>
              </a:rPr>
              <a:t>  (2026-09-04)</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4"/>
              </a:rPr>
              <a:t>https://qiita.com/tool-bizsystems/items/2a6ee711552a50a395a6</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はじめに：なぜ自作したのか
市販の音声文字起こしツール（例：Nottaなど）を利用する中で、次のような制限にもどかしさを感じたことはないでしょうか。
- 録音時間に関する制限（3分縛りなど）
 月間利用時間の制限
- 完全クラウド依存</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67E22"/>
                </a:solidFill>
              </a:rPr>
              <a:t>▶ </a:t>
            </a:r>
            <a:r>
              <a:rPr sz="1200" b="1">
                <a:solidFill>
                  <a:srgbClr val="FFFFFF"/>
                </a:solidFill>
              </a:rPr>
              <a:t>【プロンプトインジェクション】AI時代の「見えない指示」の落とし穴</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67E22"/>
                </a:solidFill>
              </a:rPr>
              <a:t>[Zenn]  </a:t>
            </a:r>
            <a:r>
              <a:rPr sz="800">
                <a:solidFill>
                  <a:srgbClr val="5DADE8"/>
                </a:solidFill>
                <a:hlinkClick r:id="rId5"/>
              </a:rPr>
              <a:t>https://zenn.dev/ykbone/articles/202609-prompt-injection</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はじめに
AIエディタやチャットAIに、こんなお願いをしたことはありませんか。
このURLの記事を読んで、要約して
私もやったことがあります。ある勉強会にて「その操作が情報漏洩の入り口になりうる」と聞いて、正直ぴんと来ませんでした。読ま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(2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ChatGPT・Copilot・Gemini… 業務視点でどう選べるか？ ChatAI 13 製品を「8つの独自指標」で比較してみた｜中小企業・管理職のための導…</a:t>
            </a:r>
            <a:r>
              <a:rPr sz="900">
                <a:solidFill>
                  <a:srgbClr val="7F8C8D"/>
                </a:solidFill>
              </a:rPr>
              <a:t>  (2026-09-04)</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2"/>
              </a:rPr>
              <a:t>https://qiita.com/songchong/items/78a9d9c28506ff90d331</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&gt; 「ChatGPT を会社で使って、情報漏洩や著作権は本当に大丈夫なのか？」
&gt; 「Microsoft 365 Copilot や Gemini も聞くが、うちの業務で本当に役立つのはどれだ？」
&gt; 「無料版や個人版のまま社員に使わせてい</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67E22"/>
                </a:solidFill>
              </a:rPr>
              <a:t>▶ </a:t>
            </a:r>
            <a:r>
              <a:rPr sz="1200" b="1">
                <a:solidFill>
                  <a:srgbClr val="FFFFFF"/>
                </a:solidFill>
              </a:rPr>
              <a:t>AIセキュリティ何から勉強すりゃええの？その4</a:t>
            </a:r>
            <a:r>
              <a:rPr sz="900">
                <a:solidFill>
                  <a:srgbClr val="7F8C8D"/>
                </a:solidFill>
              </a:rPr>
              <a:t>  (2026-08-30)</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3"/>
              </a:rPr>
              <a:t>https://qiita.com/mikihitooooo/items/d43a58615e948002d70b</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はじめに
今回は『A Survey of Attacks on Large Language Models』の IV-A2（Weight-based Attacks）の整理です。
全然進まないですが根気よく続けます。
IV-A2 Weig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(1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化合物の水溶解度を機械学習で予測してみる⑤：SHAP による解釈と文献との比較</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https://qiita.com/828rimo/items/6b7deeb6ed7088049af4</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会計システムを作ってみよう</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https://qiita.com/keiarr/items/271b1f27e5d79c1ca406</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クラウドLLMとローカルLLMをどう一元管理するか</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https://qiita.com/lykuro/items/667b30671c620225a916</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AIとつくる日本語プログラミング言語Aoi （あおい）（ステップ９）～ 中間表現（IR）の最小実装～</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https://qiita.com/mylifewithviolin/items/a787e4a85866fe52074f</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最もアラインしたAIが、なぜ危険度Critical？GPT-6 Astraの矛盾</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https://qiita.com/kinamocchi_tech/items/41704c6901b395121dab</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Claude API の Structured Outputs で JSON パースエラーを撲滅する実装手順 — beta ヘッダー・スキーマ制約・初…</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https://qiita.com/yureki_lab/items/44d9155ebe7a4db804ab</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なぜ、OpenAIのGPT-6 Astraの広告映像は滑稽なのか？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https://qiita.com/pdfractal/items/3aa92efb61341b7c1e19</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クレジットは「お金」じゃなくて「滑走路」だった — 相棒AIが見た、個人SaaSのクレジットの使い方</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https://qiita.com/kenichiyoshioka/items/3d616a9312120aa2f2e2</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リアルタイム音声AIが同じ発話に2回答するのを防ぐ：STT確定ログをPythonで実装する</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https://qiita.com/susie000720/items/5d1b0d599496e7f39466</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因果推論 Day 22／全30回　効果の異質性、平均の裏で誰に効いて誰に効かないか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https://qiita.com/akiralab/items/e68cd9bb60921149944d</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Claude Fable 5.1 vs. GPT-6 Astra, who wins on the 3D modeling?</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https://github.com/PhiloLabs/fable51-worlds/tree/main</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Lyria 3.5のモデルID統合とclip-preview廃止で必要な対応</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https://qiita.com/picnic/items/026123e37ab65481e2dc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(2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Ollama × Tailscale：自宅LLMサーバーを安全に公開する（OLLAMA_HOST=0.0.0.0を使わない）</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https://qiita.com/Noritama-Lab/items/bbac76085a5789a724d4</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因果推論 Day 21／全30回　ITTとLATE、割付は守られないという現実</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https://qiita.com/akiralab/items/58e351dcef244e5045ec</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【運用ログ】LLMルーターの月次見直し：2026年9月期（値上げ撤回による構成維持）</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https://qiita.com/sh39/items/1edad1c6bd98f5914955</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GPT-6 Astra on OpenRouter</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https://openrouter.ai/openai/gpt-6-astra</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文字数もNGワードも、実は同じ文字列マッチでコード実行検証できる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https://zenn.dev/every_ai_recipe/articles/claim-email-ngword-charcount-check</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3.8 Flash を GA 翌日に実測、課金される出力トークンの73%が思考ぶんだった</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https://qiita.com/kai_kou/items/b7699cec0a06a0ccfbfc</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LLMの「量子化」とは何か？ なぜ必要で、どうやって実装するのかを初心者向けに解説</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https://qiita.com/Takuya__/items/47007593066095ab4fb8</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わたしが好きな クッキー×コーヒードリンクの組み合わせ10選【複数AI協業】WEEKDAY COFFEE ROASTERS - 鳥取市の水洗いコーヒー…</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https://qiita.com/yamanakapom/items/232babe96dc8a38a55d8</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ASP.NET Core から OpenAI 互換 LLM Gateway を使って複数モデルを呼び出す方法</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https://qiita.com/nrouter_ai1991/items/229b4e1c389964a38dd9</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 審査官はQiita記事を引用した — ELYZA特許の審査記録を全部読む</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https://qiita.com/Ruria1024/items/17726dfb4369ca235687</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AIのプロンプトを打つ人に必要なたった一つのこと</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https://qiita.com/pdfractal/items/7f45c13455277009bba1</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AIで作ったHTMLゲーム、どこに投稿できる？ 2026年9月に7つ調べた</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https://zenn.dev/punipogames/articles/1950d42da0e4b1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(3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“Next-token predictor” is the wrong mental model for LLMs</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https://gmcgoldr.github.io/2026/09/04/llm-next-token-predictors.html</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LLMルーター運用ログ：2026年9月期における「変更なし」の判断根拠と評価プロセス</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https://zenn.dev/sh39works/articles/219dae985a0394</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Fable 5.1 vs GPT-6 Astra、同じ$10/$50でも請求が2倍違う理由</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https://qiita.com/GeneLab_999/items/220d7d4a43285df1775b</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GPT-6 Astraの概要</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https://zenn.dev/kotoda_ma/articles/07321e3dc01318</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LLMを信用しないために、素人が1年半かけてHWSという外部監査システムを作った</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https://qiita.com/punpunpun5963/items/00b6b2ce4d7319230b1c</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CMP 170HXのロングランテスト: 180W制限の代償とDP4Aパッチの検証</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https://zenn.dev/phpmyadmin/articles/cmp170hx-longrun-test</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AIにデータを集めさせる前に、3つの検査を決める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https://zenn.dev/data_boatrace/articles/18ec84203f366f</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大人用です。√x + √y = √261 、x &gt; y「高校入試頻出問題 自然数ｘとｙを求めよ」様を、計算はsympyで作図は手抜きのつもりでした。</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https://qiita.com/mrrclb48z/items/ac9ef60581c305940116</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Claude/ChatGPT/Gemini 即効スキル25個 全文日本語化（省略なし・コピペ可）</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https://zenn.dev/trailfusionai/articles/ai-news-20260513000251-07fa5e</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612回の図表再構築テストで分かったOCR・図形・コネクタの実態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https://qiita.com/daviechen/items/047cc1e31c21ad66bbe4</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化合物の水溶解度を機械学習で予測してみる④：フィンガープリントの導入</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https://qiita.com/828rimo/items/0f8791f604c818708d36</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Show HN: TERMy – A fast terminal assistant that does not use LLMs</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https://github.com/gioblu/NPC-Forge/blob/main/docs/development.md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(4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RTX 5060 Ti 16GBでローカルLLM(Qwen3.8 27B)にもう一度挑んだ話</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https://zenn.dev/yumeno/articles/rtx5060ti-qwen38-ollama-context-tuning</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3言語で字幕の遅延を測った — リズムは同じ、文字は違う</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https://zenn.dev/officekamiya/articles/gemini-live-subtitle-latency</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耳で聞く！Python で学ぶ マクロ経済学 入門 8</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https://qiita.com/maskot1977/items/226ef503f00dca1b4cf8</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DSAのVLOSE指定にChatGPTが加わった。閾値4,500万に対し申告1億5,910万、対応期限は指定通知から4ヶ月</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https://qiita.com/quotidia/items/e7e16a68fb321e9859e2</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Fable 5.1とGPT-6 Astraの定価が揃った。価格で選べなくなったのではなく、測らないと選べなくなった</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https://zenn.dev/genelab_999/articles/2281f72b68e2b0</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なぜ、喫茶店以外でスマホでChatGPT使う時は、質問したらすぐに画面を切らないといけないのか？</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https://zenn.dev/pdfractal/articles/c4676ea32a5895</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Claude Certified Developer – Foundations（CCDV-F）に3日・8時間で970点合格した勉強法</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https://qiita.com/Solbear/items/ad15ec59cc18cf9994c5</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【速報・障害情報】ChatGPTおよびCodexで大規模障害発生か（公式調査中）</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https://qiita.com/softbase/items/231c4fccfc9dc546e9b1</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Qiitaの下書きURLのブックマークのお気に入り登録のおすすめ</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https://qiita.com/mrrclb48z/items/818d00650fb564af4ff8</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GPT-6 Astra</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https://openai.com/index/gpt-6-astra/</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化合物の水溶解度を機械学習で予測してみる③：LightGBM で精度向上</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https://qiita.com/828rimo/items/9802e0cbe993559c7356</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LLMナレッジのためのブックマーク(URL)処理について考える</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https://zenn.dev/k_ts_ngo/articles/97351f029167e6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(5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プレゼンのスライド構成を、AIに骨組みだけ15分で作らせる</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https://qiita.com/okssusucha/items/9593deba0bc7f8cfaa76</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AI製Markdownを装飾された閲覧用HTMLに変換・共有できるサイトの機能紹介</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https://qiita.com/uni928/items/187526b0843bc09a4a39</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WordPressプラグインからロリポップ！AIゲートウェイを使う実装手順</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https://qiita.com/boraemon2000/items/a6b5579f75ccf5dbbeef</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GPT-2-likeからQwen2-likeへの実験：第2回 GELUをSwiGLUに変える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https://zenn.dev/yyamamot/articles/gpt2-to-qwen2-02-swiglu</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機械学習入門 第7回：アンサンブル学習を「複数モデルの判断を組み合わせる方法」として理解する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https://qiita.com/yoshisen/items/ed022a3cd246e76ca6a9</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Midnight AI Groove 26-09-01 claude mythos 51</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https://qiita.com/masykot582/items/c97b1e94b99eed0df55c</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Denseってなんだ？ — 生成速度は演算性能ではなくメモリ帯域で決まる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https://qiita.com/GeneLab_999/items/10101e6b6d1094c0c700</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MoE（Mixture of Experts）ってなんだ？ — 総パラメータでVRAMを見積もると必ず外す理由</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https://qiita.com/GeneLab_999/items/7c3a36aef4b908949a0b</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化合物の水溶解度を機械学習で予測してみる②：RDKit 記述子の追加</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https://qiita.com/828rimo/items/d37ed26ddedee42a3e5a</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品質ゲートを厳しくするほど、棒読みが生き残る — 検証が生む選択バイアス</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https://qiita.com/maccotaro/items/17a9762c4cc2bfa0cb8e</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Enterprise の Canvas アシスタントを使ってみた ― プロンプト1つで営業報告スライドが完成した話</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https://qiita.com/kuno_/items/1266f4eddb6c68ef18a7</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Chrome右クリックの「Ask ChatGPT」を消す</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https://zenn.dev/ux_xu/articles/7cd612d1e9d637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(6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フレーム問題とは？AIの古典的難問</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https://zenn.dev/h888s/articles/gtest-frame-problem</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同じ依頼文でClaudeとChatGPTの設計が割れた ― AIクロスレビューでも収束しなかった</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https://zenn.dev/colinnxt/articles/68f4fb459a4180</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ChatGPT無料版の「1日3ファイル」は、入れるときではなく質問するときに止まりました（2026-08-15の観測）</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https://zenn.dev/ojisan_ai_lab/articles/chatgpt-free-file-limit-20260902</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25億token学習したGPT-2 Smallに、さらに25億token学習させたら性能は上がるのか？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https://zenn.dev/projecticonik/articles/e505598daf46cd</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AIを褒めると性能は上がるのか？――文脈・メモリ・重み更新・RLHFを分けて考える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https://zenn.dev/c_a_p_engineer/articles/praising-ai-context-memory-rlhf</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「過去データは長いほど精度が上がる」は本当か？4時間入力が最も高精度だった | 第7回：AIで為替の未来予測は本当にできるのか？</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https://zenn.dev/hiro_algo/articles/fx-lstm-input-window-comparison</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大規模言語モデル（LLM）を端末で動かす無料の高校数学AIアプリを開発した</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https://zenn.dev/ai_chi/articles/cee2081ac9255a</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AI文章を整えるSkill「teire」を作ってみた</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https://qiita.com/HN6039940/items/e794b2340a113c85fd1d</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AI用ドキュメントと開発者用ドキュメントの混在問題を解決する — copilot-instructions 導入時の課題と段階的な運用開始方法</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https://qiita.com/h-nasu/items/5634ceb0619b37ef7f98</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ファインチューニング比較検証　--ジャンルの異なる学習データを使った時、モデル応答に違いが見られるか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https://zenn.dev/sapolas/articles/45a3a1456e1dfb</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監査プロンプトをAIツール別に持つのをやめた。10本を対象別3本へ統合した設計</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https://qiita.com/ishizakahiroshi/items/a7065348ad7ca46ca521</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画像生成・動画生成のプロンプトを再現可能にする設計</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https://qiita.com/mapmc/items/a37fb37d869aa657e300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(7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GitHub Copilot 向けの指示を構造化して管理</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https://qiita.com/h-nasu/items/d0b2601bb179a6cdd5eb</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SynthIDとは何か</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https://zenn.dev/todesking/articles/d23fd40b319388</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コラム：ペルソナプロンプトの箱庭設計とは</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https://qiita.com/otoyo0318/items/411f8f3d4813f66c3af9</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「AIへの指示がうまい人」は、実は言語化がうまいだけ——AIで鍛える一生モノの力</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https://qiita.com/Skillsheet-Port/items/0ea38eeebb9b94dc708e</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AIを使うときの感覚：上手な指示と長いチャットの扱い方</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https://qiita.com/ramutarafarm/items/3625867c29a869e9f94d</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コピペで使える AIにコードを書かせるプロンプト。初心者がまず覚える型と、そのまま使える例文集</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https://qiita.com/Rapls/items/8acc4aa395b04c184e96</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「トークン消費量が多い」はもう悪口だ——AIを使いこなせない人の、本当の弱点</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https://qiita.com/Skillsheet-Port/items/4cd692961ed03421b794</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AI時代のキャリア戦略　第7回 AIと人間は何が違うのか</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https://zenn.dev/jinfuroi/articles/b2e3c2c66f7d74</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生成AIと20回改修して、Jupyter Notebook上に「3Dバーチャートレース」を作った話</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https://zenn.dev/hajimeteradio3/articles/c710f3020097ae</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AI時代のキャリア戦略　第8回 AIは知識を学習する。人間は人生を学習する。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https://zenn.dev/jinfuroi/articles/f5ee4abc096810</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Web上で公開される生成AIチャットボット5社の回答速度を比較！</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https://zenn.dev/sapolas/articles/7e36aca3347e06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