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rino_yume/items/809c5a799d09631b830a" TargetMode="External"/><Relationship Id="rId3" Type="http://schemas.openxmlformats.org/officeDocument/2006/relationships/hyperlink" Target="https://qiita.com/jun-uen0/items/212606acda51952c7352" TargetMode="External"/><Relationship Id="rId4" Type="http://schemas.openxmlformats.org/officeDocument/2006/relationships/hyperlink" Target="https://zenn.dev/yuukikawabata/articles/anthropic-new-era-2026"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narunaru-uhchan/items/3382c979b0239a8f3307" TargetMode="External"/><Relationship Id="rId3" Type="http://schemas.openxmlformats.org/officeDocument/2006/relationships/hyperlink" Target="https://qiita.com/TOSHIMITSU_MIYACHI/items/fc4743e4a2fc864acc97" TargetMode="External"/><Relationship Id="rId4" Type="http://schemas.openxmlformats.org/officeDocument/2006/relationships/hyperlink" Target="https://qiita.com/atsushi11o7/items/8105909db8af82c1d52c"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ylifewithviolin/items/647c8d8ad9b9785ce942" TargetMode="External"/><Relationship Id="rId3" Type="http://schemas.openxmlformats.org/officeDocument/2006/relationships/hyperlink" Target="https://qiita.com/JinFuroi_JfSol/items/8f501c3ced8e9073c027" TargetMode="External"/><Relationship Id="rId4" Type="http://schemas.openxmlformats.org/officeDocument/2006/relationships/hyperlink" Target="https://qiita.com/okssusucha/items/c6adb0f5f7340449726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homhom44/items/a97c82b2fa8025230c74" TargetMode="External"/><Relationship Id="rId3" Type="http://schemas.openxmlformats.org/officeDocument/2006/relationships/hyperlink" Target="https://qiita.com/akira_papa_AI/items/c04182254534e644909c" TargetMode="External"/><Relationship Id="rId4" Type="http://schemas.openxmlformats.org/officeDocument/2006/relationships/hyperlink" Target="https://qiita.com/yanagih/items/2c9f8009141b9f350de7"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utakake/items/1610cab727ea838574c0" TargetMode="External"/><Relationship Id="rId3" Type="http://schemas.openxmlformats.org/officeDocument/2006/relationships/hyperlink" Target="https://zenn.dev/kimshoshi/articles/claude-fable-return-ai-governance" TargetMode="External"/><Relationship Id="rId4" Type="http://schemas.openxmlformats.org/officeDocument/2006/relationships/hyperlink" Target="https://zenn.dev/kairosai/articles/642d196be684c3"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rino_yume/items/809c5a799d09631b830a" TargetMode="External"/><Relationship Id="rId3" Type="http://schemas.openxmlformats.org/officeDocument/2006/relationships/hyperlink" Target="https://qiita.com/jun-uen0/items/212606acda51952c7352" TargetMode="External"/><Relationship Id="rId4" Type="http://schemas.openxmlformats.org/officeDocument/2006/relationships/hyperlink" Target="https://zenn.dev/yuukikawabata/articles/anthropic-new-era-2026" TargetMode="External"/><Relationship Id="rId5" Type="http://schemas.openxmlformats.org/officeDocument/2006/relationships/hyperlink" Target="https://zenn.dev/tottoko_hamu/articles/2026-05-31-09000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takeshishimada/articles/aidlc-v2-07-artifact-flow" TargetMode="External"/><Relationship Id="rId3" Type="http://schemas.openxmlformats.org/officeDocument/2006/relationships/hyperlink" Target="https://zenn.dev/amyusynaprise/articles/93e5e37d2c917f" TargetMode="External"/><Relationship Id="rId4" Type="http://schemas.openxmlformats.org/officeDocument/2006/relationships/hyperlink" Target="https://qiita.com/lhjjjk4/items/1b2b60d24cd2144ca881" TargetMode="External"/><Relationship Id="rId5" Type="http://schemas.openxmlformats.org/officeDocument/2006/relationships/hyperlink" Target="https://zenn.dev/ikahan/articles/backtest-self-decepti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narunaru-uhchan/items/3382c979b0239a8f3307" TargetMode="External"/><Relationship Id="rId3" Type="http://schemas.openxmlformats.org/officeDocument/2006/relationships/hyperlink" Target="https://qiita.com/TOSHIMITSU_MIYACHI/items/fc4743e4a2fc864acc97" TargetMode="External"/><Relationship Id="rId4" Type="http://schemas.openxmlformats.org/officeDocument/2006/relationships/hyperlink" Target="https://qiita.com/atsushi11o7/items/8105909db8af82c1d52c" TargetMode="External"/><Relationship Id="rId5" Type="http://schemas.openxmlformats.org/officeDocument/2006/relationships/hyperlink" Target="https://qiita.com/jjking/items/df69022976c528eec807"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nogi_fanguide/articles/nogizaka-rag-fansite" TargetMode="External"/><Relationship Id="rId3" Type="http://schemas.openxmlformats.org/officeDocument/2006/relationships/hyperlink" Target="https://qiita.com/asahide/items/6dcf8e480c58d6c9cb14" TargetMode="External"/><Relationship Id="rId4" Type="http://schemas.openxmlformats.org/officeDocument/2006/relationships/hyperlink" Target="https://zenn.dev/okadatk/articles/c36bf7a66832d5" TargetMode="External"/><Relationship Id="rId5" Type="http://schemas.openxmlformats.org/officeDocument/2006/relationships/hyperlink" Target="https://zenn.dev/hkame/articles/lora-qlora-finetun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ylifewithviolin/items/647c8d8ad9b9785ce942" TargetMode="External"/><Relationship Id="rId3" Type="http://schemas.openxmlformats.org/officeDocument/2006/relationships/hyperlink" Target="https://qiita.com/JinFuroi_JfSol/items/8f501c3ced8e9073c027" TargetMode="External"/><Relationship Id="rId4" Type="http://schemas.openxmlformats.org/officeDocument/2006/relationships/hyperlink" Target="https://qiita.com/okssusucha/items/c6adb0f5f73404497264" TargetMode="External"/><Relationship Id="rId5" Type="http://schemas.openxmlformats.org/officeDocument/2006/relationships/hyperlink" Target="https://qiita.com/sescore/items/ab45a950e1837918df5c"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sescore/items/6dbb31bee0f1a6082d95" TargetMode="External"/><Relationship Id="rId3" Type="http://schemas.openxmlformats.org/officeDocument/2006/relationships/hyperlink" Target="https://qiita.com/yureki_lab/items/6cbf6acd7e8b70eaef55" TargetMode="External"/><Relationship Id="rId4" Type="http://schemas.openxmlformats.org/officeDocument/2006/relationships/hyperlink" Target="https://qiita.com/0903osa/items/d5f2f565c6012cf31995" TargetMode="External"/><Relationship Id="rId5" Type="http://schemas.openxmlformats.org/officeDocument/2006/relationships/hyperlink" Target="https://qiita.com/xujfcn/items/ceaec243ae6d38fb1d1c"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homhom44/items/a97c82b2fa8025230c74" TargetMode="External"/><Relationship Id="rId3" Type="http://schemas.openxmlformats.org/officeDocument/2006/relationships/hyperlink" Target="https://qiita.com/akira_papa_AI/items/c04182254534e644909c" TargetMode="External"/><Relationship Id="rId4" Type="http://schemas.openxmlformats.org/officeDocument/2006/relationships/hyperlink" Target="https://qiita.com/yanagih/items/2c9f8009141b9f350de7" TargetMode="External"/><Relationship Id="rId5" Type="http://schemas.openxmlformats.org/officeDocument/2006/relationships/hyperlink" Target="https://qiita.com/SciCos/items/c65c74996e671b5ef6e4"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io0323/items/0a5d06e68398bb7182ef" TargetMode="External"/><Relationship Id="rId3" Type="http://schemas.openxmlformats.org/officeDocument/2006/relationships/hyperlink" Target="https://qiita.com/Skillsheet-Port/items/866f7f816bcc75291718" TargetMode="External"/><Relationship Id="rId4" Type="http://schemas.openxmlformats.org/officeDocument/2006/relationships/hyperlink" Target="https://qiita.com/maskot1977/items/e3f648e6b65f3eaddec0" TargetMode="External"/><Relationship Id="rId5" Type="http://schemas.openxmlformats.org/officeDocument/2006/relationships/hyperlink" Target="https://qiita.com/fukagawahiroki/items/459250e2d7f017b2f87c"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utakake/items/1610cab727ea838574c0" TargetMode="External"/><Relationship Id="rId3" Type="http://schemas.openxmlformats.org/officeDocument/2006/relationships/hyperlink" Target="https://zenn.dev/kimshoshi/articles/claude-fable-return-ai-governance" TargetMode="External"/><Relationship Id="rId4" Type="http://schemas.openxmlformats.org/officeDocument/2006/relationships/hyperlink" Target="https://zenn.dev/kairosai/articles/642d196be684c3" TargetMode="External"/><Relationship Id="rId5" Type="http://schemas.openxmlformats.org/officeDocument/2006/relationships/hyperlink" Target="https://zenn.dev/kairosai/articles/0796ba90b536c4"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Nemzo/items/4469182e80de84b2d2a4"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iraigent/items/1ad5df1e0a42868e97eb" TargetMode="External"/><Relationship Id="rId3" Type="http://schemas.openxmlformats.org/officeDocument/2006/relationships/hyperlink" Target="https://qiita.com/sukimaengineer/items/b0afa08d86cf816e6da7" TargetMode="External"/><Relationship Id="rId4" Type="http://schemas.openxmlformats.org/officeDocument/2006/relationships/hyperlink" Target="https://qiita.com/shoka-jp/items/e8c0d01453f8e5359242" TargetMode="External"/><Relationship Id="rId5" Type="http://schemas.openxmlformats.org/officeDocument/2006/relationships/hyperlink" Target="https://qiita.com/Rapls/items/5c69e34e4d9e8d46a533" TargetMode="External"/><Relationship Id="rId6" Type="http://schemas.openxmlformats.org/officeDocument/2006/relationships/hyperlink" Target="https://qiita.com/YushiYamamoto/items/2b16f596e60e4058f940" TargetMode="External"/><Relationship Id="rId7" Type="http://schemas.openxmlformats.org/officeDocument/2006/relationships/hyperlink" Target="https://qiita.com/kanata564/items/a0428f76a0d3e72b91be" TargetMode="External"/><Relationship Id="rId8" Type="http://schemas.openxmlformats.org/officeDocument/2006/relationships/hyperlink" Target="https://qiita.com/otoyo0318/items/648d1a4646d1bf88ce80" TargetMode="External"/><Relationship Id="rId9" Type="http://schemas.openxmlformats.org/officeDocument/2006/relationships/hyperlink" Target="https://qiita.com/furuse-kazufumi/items/44508c48f38a68abad35" TargetMode="External"/><Relationship Id="rId10" Type="http://schemas.openxmlformats.org/officeDocument/2006/relationships/hyperlink" Target="https://qiita.com/lhjjjk4/items/c21ef38c7f1aace599ff" TargetMode="External"/><Relationship Id="rId11" Type="http://schemas.openxmlformats.org/officeDocument/2006/relationships/hyperlink" Target="https://qiita.com/mhamadajp/items/dd8746fe8ba6ef33a01c" TargetMode="External"/><Relationship Id="rId12" Type="http://schemas.openxmlformats.org/officeDocument/2006/relationships/hyperlink" Target="https://qiita.com/bahamutra/items/c1a473ad35c1f61d4f54" TargetMode="External"/><Relationship Id="rId13" Type="http://schemas.openxmlformats.org/officeDocument/2006/relationships/hyperlink" Target="https://qiita.com/ramenman/items/87c7b54f767d35d1ed08"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nak3761/items/e70138288f4055fc1442" TargetMode="External"/><Relationship Id="rId3" Type="http://schemas.openxmlformats.org/officeDocument/2006/relationships/hyperlink" Target="https://qiita.com/io0323/items/8a02e72401c666d66f07" TargetMode="External"/><Relationship Id="rId4" Type="http://schemas.openxmlformats.org/officeDocument/2006/relationships/hyperlink" Target="https://zenn.dev/kiribako_dev/articles/coin-radius-scale-invariant-loss" TargetMode="External"/><Relationship Id="rId5" Type="http://schemas.openxmlformats.org/officeDocument/2006/relationships/hyperlink" Target="https://zenn.dev/kiribako_dev/articles/coin-detection-domain-gap" TargetMode="External"/><Relationship Id="rId6" Type="http://schemas.openxmlformats.org/officeDocument/2006/relationships/hyperlink" Target="https://ridgetext.com/blog/mapbox-llm-composition" TargetMode="External"/><Relationship Id="rId7" Type="http://schemas.openxmlformats.org/officeDocument/2006/relationships/hyperlink" Target="https://qiita.com/Marron-chan/items/1dfebcb14fb148d70ad1" TargetMode="External"/><Relationship Id="rId8" Type="http://schemas.openxmlformats.org/officeDocument/2006/relationships/hyperlink" Target="https://qiita.com/tingpromax/items/cfa6809ef2ccaff2b972" TargetMode="External"/><Relationship Id="rId9" Type="http://schemas.openxmlformats.org/officeDocument/2006/relationships/hyperlink" Target="https://qiita.com/kitasyunpp/items/3ec46a2da31e16338389" TargetMode="External"/><Relationship Id="rId10" Type="http://schemas.openxmlformats.org/officeDocument/2006/relationships/hyperlink" Target="https://github.com/openai/codex/issues/30364" TargetMode="External"/><Relationship Id="rId11" Type="http://schemas.openxmlformats.org/officeDocument/2006/relationships/hyperlink" Target="https://qiita.com/parayan0429/items/22e34fa082179b5d5700" TargetMode="External"/><Relationship Id="rId12" Type="http://schemas.openxmlformats.org/officeDocument/2006/relationships/hyperlink" Target="https://qiita.com/kitroc7134/items/117d4839f259bc403626" TargetMode="External"/><Relationship Id="rId13" Type="http://schemas.openxmlformats.org/officeDocument/2006/relationships/hyperlink" Target="https://qiita.com/lumichy/items/221aa7f5ddbbf36fa841"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bentenweb_fumi/articles/agddy4vzndlm" TargetMode="External"/><Relationship Id="rId3" Type="http://schemas.openxmlformats.org/officeDocument/2006/relationships/hyperlink" Target="https://zenn.dev/hurumoon/articles/c46b63de8a1a81" TargetMode="External"/><Relationship Id="rId4" Type="http://schemas.openxmlformats.org/officeDocument/2006/relationships/hyperlink" Target="https://zenn.dev/40ki/articles/0ead3a2bbf777a" TargetMode="External"/><Relationship Id="rId5" Type="http://schemas.openxmlformats.org/officeDocument/2006/relationships/hyperlink" Target="https://qiita.com/udowanllc/items/02f94e77663db04ab1cd" TargetMode="External"/><Relationship Id="rId6" Type="http://schemas.openxmlformats.org/officeDocument/2006/relationships/hyperlink" Target="https://zenn.dev/idonthaveapen/articles/ai-cannot-see-environment-boundaries" TargetMode="External"/><Relationship Id="rId7" Type="http://schemas.openxmlformats.org/officeDocument/2006/relationships/hyperlink" Target="https://qiita.com/GeneLab_999/items/e6698c108afc982c6f1f" TargetMode="External"/><Relationship Id="rId8" Type="http://schemas.openxmlformats.org/officeDocument/2006/relationships/hyperlink" Target="https://zenn.dev/kinotex/articles/b28a9c6dffabe0" TargetMode="External"/><Relationship Id="rId9" Type="http://schemas.openxmlformats.org/officeDocument/2006/relationships/hyperlink" Target="https://qiita.com/satoshi-sugiyama/items/40b747a7e4a247187f29" TargetMode="External"/><Relationship Id="rId10" Type="http://schemas.openxmlformats.org/officeDocument/2006/relationships/hyperlink" Target="https://zenn.dev/monteranakamu/articles/llm-exemplar-vs-instruction" TargetMode="External"/><Relationship Id="rId11" Type="http://schemas.openxmlformats.org/officeDocument/2006/relationships/hyperlink" Target="https://zenn.dev/mediiiiium/articles/llm-provider-resilience-design" TargetMode="External"/><Relationship Id="rId12" Type="http://schemas.openxmlformats.org/officeDocument/2006/relationships/hyperlink" Target="https://zenn.dev/monteranakamu/articles/local-llm-8b-benchmark" TargetMode="External"/><Relationship Id="rId13" Type="http://schemas.openxmlformats.org/officeDocument/2006/relationships/hyperlink" Target="https://zenn.dev/lumichy/articles/qwythos-9b-fable-5-202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inamocchi_tech/items/2b6d8006507658fc9807" TargetMode="External"/><Relationship Id="rId3" Type="http://schemas.openxmlformats.org/officeDocument/2006/relationships/hyperlink" Target="https://zenn.dev/little/articles/research-clarify-to-mvp-motivation" TargetMode="External"/><Relationship Id="rId4" Type="http://schemas.openxmlformats.org/officeDocument/2006/relationships/hyperlink" Target="https://qiita.com/quotidia/items/ca9348ac6cacf3ae91f1" TargetMode="External"/><Relationship Id="rId5" Type="http://schemas.openxmlformats.org/officeDocument/2006/relationships/hyperlink" Target="https://zenn.dev/nnn112358/articles/tts-lineage-map-from-vits" TargetMode="External"/><Relationship Id="rId6" Type="http://schemas.openxmlformats.org/officeDocument/2006/relationships/hyperlink" Target="https://zenn.dev/efta1989/articles/excel-to-tidy-data-powerquery" TargetMode="External"/><Relationship Id="rId7" Type="http://schemas.openxmlformats.org/officeDocument/2006/relationships/hyperlink" Target="https://zenn.dev/go5go69/articles/c202f4b2529298" TargetMode="External"/><Relationship Id="rId8" Type="http://schemas.openxmlformats.org/officeDocument/2006/relationships/hyperlink" Target="https://qiita.com/masykot582/items/b21f1a1710162b61dfea" TargetMode="External"/><Relationship Id="rId9" Type="http://schemas.openxmlformats.org/officeDocument/2006/relationships/hyperlink" Target="https://zenn.dev/tkpurine/articles/segment-anything-sam" TargetMode="External"/><Relationship Id="rId10" Type="http://schemas.openxmlformats.org/officeDocument/2006/relationships/hyperlink" Target="https://zenn.dev/every_ai_recipe/articles/chatgpt-prompt-3-tips-better-answer" TargetMode="External"/><Relationship Id="rId11" Type="http://schemas.openxmlformats.org/officeDocument/2006/relationships/hyperlink" Target="https://qiita.com/kei_kawai_g/items/5534efe1f9dbeb44a601" TargetMode="External"/><Relationship Id="rId12" Type="http://schemas.openxmlformats.org/officeDocument/2006/relationships/hyperlink" Target="https://qiita.com/shun-aoki/items/ee2b63d170008464f9ac" TargetMode="External"/><Relationship Id="rId13" Type="http://schemas.openxmlformats.org/officeDocument/2006/relationships/hyperlink" Target="https://zenn.dev/efta1989/articles/feature-selection-leak-for-material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faliye/articles/ffc8fe5c2708ef" TargetMode="External"/><Relationship Id="rId3" Type="http://schemas.openxmlformats.org/officeDocument/2006/relationships/hyperlink" Target="https://zenn.dev/genf740/articles/392c9702-a775-8114-b4ae-fbac290fdfcf" TargetMode="External"/><Relationship Id="rId4" Type="http://schemas.openxmlformats.org/officeDocument/2006/relationships/hyperlink" Target="https://qiita.com/s-kato-iret/items/3a55424a40f5c74eb725" TargetMode="External"/><Relationship Id="rId5" Type="http://schemas.openxmlformats.org/officeDocument/2006/relationships/hyperlink" Target="https://qiita.com/na-tamura/items/f7b6ea842c2995975a88" TargetMode="External"/><Relationship Id="rId6" Type="http://schemas.openxmlformats.org/officeDocument/2006/relationships/hyperlink" Target="https://qiita.com/okssusucha/items/2147bea0fdb1421d434c" TargetMode="External"/><Relationship Id="rId7" Type="http://schemas.openxmlformats.org/officeDocument/2006/relationships/hyperlink" Target="https://qiita.com/yanoathu0119/items/86783c2ca4e7704f80b6" TargetMode="External"/><Relationship Id="rId8" Type="http://schemas.openxmlformats.org/officeDocument/2006/relationships/hyperlink" Target="https://qiita.com/rino_yume/items/63a209bc28b2c36a2f3f" TargetMode="External"/><Relationship Id="rId9" Type="http://schemas.openxmlformats.org/officeDocument/2006/relationships/hyperlink" Target="https://qiita.com/architectJapan/items/6a221982a5256c6bba5b" TargetMode="External"/><Relationship Id="rId10" Type="http://schemas.openxmlformats.org/officeDocument/2006/relationships/hyperlink" Target="https://qiita.com/gksrlf3552/items/63e6bd170bd8fede2361" TargetMode="External"/><Relationship Id="rId11" Type="http://schemas.openxmlformats.org/officeDocument/2006/relationships/hyperlink" Target="https://qiita.com/masayasu_t/items/188fc60d664a08351f05" TargetMode="External"/><Relationship Id="rId12" Type="http://schemas.openxmlformats.org/officeDocument/2006/relationships/hyperlink" Target="https://qiita.com/xeje/items/6d4888b358e68e821d8c" TargetMode="External"/><Relationship Id="rId13" Type="http://schemas.openxmlformats.org/officeDocument/2006/relationships/hyperlink" Target="https://qiita.com/relu/items/9a5e54a15f70988e468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furuse-kazufumi/items/f660b18890687cfd1ed0" TargetMode="External"/><Relationship Id="rId3" Type="http://schemas.openxmlformats.org/officeDocument/2006/relationships/hyperlink" Target="https://qiita.com/sanoy625/items/9f759a6c92307fe5bc70" TargetMode="External"/><Relationship Id="rId4" Type="http://schemas.openxmlformats.org/officeDocument/2006/relationships/hyperlink" Target="https://qiita.com/gksrlf3552/items/32cc1d026f03f13352f2" TargetMode="External"/><Relationship Id="rId5" Type="http://schemas.openxmlformats.org/officeDocument/2006/relationships/hyperlink" Target="https://qiita.com/shorie/items/51227f84a172fe51f39c" TargetMode="External"/><Relationship Id="rId6" Type="http://schemas.openxmlformats.org/officeDocument/2006/relationships/hyperlink" Target="https://qiita.com/shorie/items/8637a82bf691c7d8459f" TargetMode="External"/><Relationship Id="rId7" Type="http://schemas.openxmlformats.org/officeDocument/2006/relationships/hyperlink" Target="https://qiita.com/shorie/items/ee40d393a6c97913f4c7" TargetMode="External"/><Relationship Id="rId8" Type="http://schemas.openxmlformats.org/officeDocument/2006/relationships/hyperlink" Target="https://zenn.dev/tkithrta/articles/565495606c522f" TargetMode="External"/><Relationship Id="rId9" Type="http://schemas.openxmlformats.org/officeDocument/2006/relationships/hyperlink" Target="https://qiita.com/mrrclb48z/items/7259fcb6b838016ae667" TargetMode="External"/><Relationship Id="rId10" Type="http://schemas.openxmlformats.org/officeDocument/2006/relationships/hyperlink" Target="https://qiita.com/citadex/items/dc42ac055eb1b96d3c55" TargetMode="External"/><Relationship Id="rId11" Type="http://schemas.openxmlformats.org/officeDocument/2006/relationships/hyperlink" Target="https://zenn.dev/fieldward/articles/7fa9de3b1ce14a" TargetMode="External"/><Relationship Id="rId12" Type="http://schemas.openxmlformats.org/officeDocument/2006/relationships/hyperlink" Target="https://qiita.com/y-miyake/items/6cbda67509b12bf50679" TargetMode="External"/><Relationship Id="rId13" Type="http://schemas.openxmlformats.org/officeDocument/2006/relationships/hyperlink" Target="https://qiita.com/masykot582/items/bc113f60456a6c57ff17"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iwa0114/items/ab5b0a111ad94ff56771" TargetMode="External"/><Relationship Id="rId3" Type="http://schemas.openxmlformats.org/officeDocument/2006/relationships/hyperlink" Target="https://qiita.com/revolutionbyhiddenvalues/items/cdb96a67b37ce627d23c" TargetMode="External"/><Relationship Id="rId4" Type="http://schemas.openxmlformats.org/officeDocument/2006/relationships/hyperlink" Target="https://qiita.com/mhamadajp/items/2037828d60013574f41e" TargetMode="External"/><Relationship Id="rId5" Type="http://schemas.openxmlformats.org/officeDocument/2006/relationships/hyperlink" Target="https://qiita.com/pao0415/items/61b9504b9af067277221" TargetMode="External"/><Relationship Id="rId6" Type="http://schemas.openxmlformats.org/officeDocument/2006/relationships/hyperlink" Target="https://qiita.com/yamamoto40293/items/770b123acd93d0b7d4ec" TargetMode="External"/><Relationship Id="rId7" Type="http://schemas.openxmlformats.org/officeDocument/2006/relationships/hyperlink" Target="https://qiita.com/torifukukaiou/items/d518184bbeb873901a65" TargetMode="External"/><Relationship Id="rId8" Type="http://schemas.openxmlformats.org/officeDocument/2006/relationships/hyperlink" Target="https://zenn.dev/lawrap/articles/c6037315de610c" TargetMode="External"/><Relationship Id="rId9" Type="http://schemas.openxmlformats.org/officeDocument/2006/relationships/hyperlink" Target="https://zenn.dev/pdfractal/articles/264b850f2b078c" TargetMode="External"/><Relationship Id="rId10" Type="http://schemas.openxmlformats.org/officeDocument/2006/relationships/hyperlink" Target="https://qiita.com/yoshinaga_slj/items/d243a77d295d021844fa" TargetMode="External"/><Relationship Id="rId11" Type="http://schemas.openxmlformats.org/officeDocument/2006/relationships/hyperlink" Target="https://zenn.dev/taka4rest/articles/9c3d0b2e936fb6" TargetMode="External"/><Relationship Id="rId12" Type="http://schemas.openxmlformats.org/officeDocument/2006/relationships/hyperlink" Target="https://qiita.com/Sato-310/items/821110f3048fb5ea69ca" TargetMode="External"/><Relationship Id="rId13" Type="http://schemas.openxmlformats.org/officeDocument/2006/relationships/hyperlink" Target="https://zenn.dev/slipway/articles/950740a65fa6fea7"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n9936951/articles/1de01ac080cbea" TargetMode="External"/><Relationship Id="rId3" Type="http://schemas.openxmlformats.org/officeDocument/2006/relationships/hyperlink" Target="https://qiita.com/dachshund129/items/4f428a3a048528fa2319" TargetMode="External"/><Relationship Id="rId4" Type="http://schemas.openxmlformats.org/officeDocument/2006/relationships/hyperlink" Target="https://zenn.dev/startupjp1/articles/promptdeck-cross-model-extension" TargetMode="External"/><Relationship Id="rId5" Type="http://schemas.openxmlformats.org/officeDocument/2006/relationships/hyperlink" Target="https://zenn.dev/mikimaro/articles/c826e93fb0cbe2" TargetMode="External"/><Relationship Id="rId6" Type="http://schemas.openxmlformats.org/officeDocument/2006/relationships/hyperlink" Target="https://zenn.dev/tokumeishatyo/articles/155e11bcfb3786" TargetMode="External"/><Relationship Id="rId7" Type="http://schemas.openxmlformats.org/officeDocument/2006/relationships/hyperlink" Target="https://qiita.com/otoyo0318/items/e49020323b974867f0e3" TargetMode="External"/><Relationship Id="rId8" Type="http://schemas.openxmlformats.org/officeDocument/2006/relationships/hyperlink" Target="https://qiita.com/lovanaut/items/529bcd57e78303cb4a10" TargetMode="External"/><Relationship Id="rId9" Type="http://schemas.openxmlformats.org/officeDocument/2006/relationships/hyperlink" Target="https://qiita.com/kuranku817/items/3f63d8d7117f876c9bd1" TargetMode="External"/><Relationship Id="rId10" Type="http://schemas.openxmlformats.org/officeDocument/2006/relationships/hyperlink" Target="https://qiita.com/lovanaut/items/3c47ffbf11bfc32ba05e" TargetMode="External"/><Relationship Id="rId11" Type="http://schemas.openxmlformats.org/officeDocument/2006/relationships/hyperlink" Target="https://qiita.com/Rapls/items/cad780d91cf8e9b6e3c5" TargetMode="External"/><Relationship Id="rId12" Type="http://schemas.openxmlformats.org/officeDocument/2006/relationships/hyperlink" Target="https://qiita.com/kinoto-r/items/07faedf0388f0dd7468e" TargetMode="External"/><Relationship Id="rId13" Type="http://schemas.openxmlformats.org/officeDocument/2006/relationships/hyperlink" Target="https://qiita.com/sasgawy/items/af8bd6fe02f5a5ec803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otoyo0318/items/b92103091ff69d585c7b" TargetMode="External"/><Relationship Id="rId3" Type="http://schemas.openxmlformats.org/officeDocument/2006/relationships/hyperlink" Target="https://zenn.dev/sapolas/articles/7e36aca3347e06" TargetMode="External"/><Relationship Id="rId4" Type="http://schemas.openxmlformats.org/officeDocument/2006/relationships/hyperlink" Target="https://zenn.dev/kenta_kadowaki/articles/56d3a502356202" TargetMode="External"/><Relationship Id="rId5" Type="http://schemas.openxmlformats.org/officeDocument/2006/relationships/hyperlink" Target="https://zenn.dev/mlboydaisuke/articles/e56291d606e61348ff27" TargetMode="External"/><Relationship Id="rId6" Type="http://schemas.openxmlformats.org/officeDocument/2006/relationships/hyperlink" Target="https://zenn.dev/miki_mini/articles/f5a0b85f84bbd6" TargetMode="External"/><Relationship Id="rId7" Type="http://schemas.openxmlformats.org/officeDocument/2006/relationships/hyperlink" Target="https://zenn.dev/nozmat/articles/e414ab808ebc1e" TargetMode="External"/><Relationship Id="rId8" Type="http://schemas.openxmlformats.org/officeDocument/2006/relationships/hyperlink" Target="https://zenn.dev/saturday/articles/97f0f577d40e14"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3240"/>
            <a:ext cx="12188952" cy="54864"/>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698480" cy="1371600"/>
          </a:xfrm>
          <a:prstGeom prst="rect">
            <a:avLst/>
          </a:prstGeom>
          <a:noFill/>
        </p:spPr>
        <p:txBody>
          <a:bodyPr wrap="square">
            <a:spAutoFit/>
          </a:bodyPr>
          <a:lstStyle/>
          <a:p>
            <a:pPr algn="ctr"/>
            <a:r>
              <a:rPr sz="4400" b="1">
                <a:solidFill>
                  <a:srgbClr val="FFFFFF"/>
                </a:solidFill>
              </a:rPr>
              <a:t>AI ニュース日報</a:t>
            </a:r>
          </a:p>
        </p:txBody>
      </p:sp>
      <p:sp>
        <p:nvSpPr>
          <p:cNvPr id="5" name="TextBox 4"/>
          <p:cNvSpPr txBox="1"/>
          <p:nvPr/>
        </p:nvSpPr>
        <p:spPr>
          <a:xfrm>
            <a:off x="731520" y="2743200"/>
            <a:ext cx="10698480" cy="640080"/>
          </a:xfrm>
          <a:prstGeom prst="rect">
            <a:avLst/>
          </a:prstGeom>
          <a:noFill/>
        </p:spPr>
        <p:txBody>
          <a:bodyPr wrap="square">
            <a:spAutoFit/>
          </a:bodyPr>
          <a:lstStyle/>
          <a:p>
            <a:pPr algn="ctr"/>
            <a:r>
              <a:rPr sz="2200" b="0">
                <a:solidFill>
                  <a:srgbClr val="AED6F1"/>
                </a:solidFill>
              </a:rPr>
              <a:t>2026-07-05</a:t>
            </a:r>
          </a:p>
        </p:txBody>
      </p:sp>
      <p:sp>
        <p:nvSpPr>
          <p:cNvPr id="6" name="TextBox 5"/>
          <p:cNvSpPr txBox="1"/>
          <p:nvPr/>
        </p:nvSpPr>
        <p:spPr>
          <a:xfrm>
            <a:off x="731520" y="3474720"/>
            <a:ext cx="10698480" cy="548640"/>
          </a:xfrm>
          <a:prstGeom prst="rect">
            <a:avLst/>
          </a:prstGeom>
          <a:noFill/>
        </p:spPr>
        <p:txBody>
          <a:bodyPr wrap="square">
            <a:spAutoFit/>
          </a:bodyPr>
          <a:lstStyle/>
          <a:p>
            <a:pPr algn="ctr"/>
            <a:r>
              <a:rPr sz="1800" b="0">
                <a:solidFill>
                  <a:srgbClr val="85C1E9"/>
                </a:solidFill>
              </a:rPr>
              <a:t>総収集記事数：209 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37160" cy="1005840"/>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1430000" cy="777240"/>
          </a:xfrm>
          <a:prstGeom prst="rect">
            <a:avLst/>
          </a:prstGeom>
          <a:noFill/>
        </p:spPr>
        <p:txBody>
          <a:bodyPr wrap="square">
            <a:spAutoFit/>
          </a:bodyPr>
          <a:lstStyle/>
          <a:p>
            <a:pPr algn="l"/>
            <a:r>
              <a:rPr sz="2600" b="1">
                <a:solidFill>
                  <a:srgbClr val="FFFFFF"/>
                </a:solidFill>
              </a:rPr>
              <a:t>本日のテーマ別サマリー</a:t>
            </a:r>
          </a:p>
        </p:txBody>
      </p:sp>
      <p:graphicFrame>
        <p:nvGraphicFramePr>
          <p:cNvPr id="6" name="Table 5"/>
          <p:cNvGraphicFramePr>
            <a:graphicFrameLocks noGrp="1"/>
          </p:cNvGraphicFramePr>
          <p:nvPr/>
        </p:nvGraphicFramePr>
        <p:xfrm>
          <a:off x="1371600" y="1554480"/>
          <a:ext cx="9418320" cy="4754880"/>
        </p:xfrm>
        <a:graphic>
          <a:graphicData uri="http://schemas.openxmlformats.org/drawingml/2006/table">
            <a:tbl>
              <a:tblPr firstRow="1" bandRow="1">
                <a:tableStyleId>{5C22544A-7EE6-4342-B048-85BDC9FD1C3A}</a:tableStyleId>
              </a:tblPr>
              <a:tblGrid>
                <a:gridCol w="5760720"/>
                <a:gridCol w="1737360"/>
                <a:gridCol w="1920240"/>
              </a:tblGrid>
              <a:tr h="594360">
                <a:tc>
                  <a:txBody>
                    <a:bodyPr/>
                    <a:lstStyle/>
                    <a:p>
                      <a:pPr algn="l"/>
                      <a:r>
                        <a:rPr sz="1100" b="1">
                          <a:solidFill>
                            <a:srgbClr val="FFFFFF"/>
                          </a:solidFill>
                        </a:rPr>
                        <a:t>テーマ</a:t>
                      </a:r>
                    </a:p>
                  </a:txBody>
                  <a:tcPr>
                    <a:solidFill>
                      <a:srgbClr val="233C5F"/>
                    </a:solidFill>
                  </a:tcPr>
                </a:tc>
                <a:tc>
                  <a:txBody>
                    <a:bodyPr/>
                    <a:lstStyle/>
                    <a:p>
                      <a:pPr algn="ctr"/>
                      <a:r>
                        <a:rPr sz="1100" b="1">
                          <a:solidFill>
                            <a:srgbClr val="FFFFFF"/>
                          </a:solidFill>
                        </a:rPr>
                        <a:t>件数</a:t>
                      </a:r>
                    </a:p>
                  </a:txBody>
                  <a:tcPr>
                    <a:solidFill>
                      <a:srgbClr val="233C5F"/>
                    </a:solidFill>
                  </a:tcPr>
                </a:tc>
                <a:tc>
                  <a:txBody>
                    <a:bodyPr/>
                    <a:lstStyle/>
                    <a:p>
                      <a:pPr algn="ctr"/>
                      <a:r>
                        <a:rPr sz="1100" b="1">
                          <a:solidFill>
                            <a:srgbClr val="FFFFFF"/>
                          </a:solidFill>
                        </a:rPr>
                        <a:t>割合</a:t>
                      </a:r>
                    </a:p>
                  </a:txBody>
                  <a:tcPr>
                    <a:solidFill>
                      <a:srgbClr val="233C5F"/>
                    </a:solidFill>
                  </a:tcPr>
                </a:tc>
              </a:tr>
              <a:tr h="594360">
                <a:tc>
                  <a:txBody>
                    <a:bodyPr/>
                    <a:lstStyle/>
                    <a:p>
                      <a:pPr algn="l"/>
                      <a:r>
                        <a:rPr sz="1200" b="0">
                          <a:solidFill>
                            <a:srgbClr val="D0E4F7"/>
                          </a:solidFill>
                        </a:rPr>
                        <a:t>● IT運用・自動化</a:t>
                      </a:r>
                    </a:p>
                  </a:txBody>
                  <a:tcPr>
                    <a:solidFill>
                      <a:srgbClr val="1E2D47"/>
                    </a:solidFill>
                  </a:tcPr>
                </a:tc>
                <a:tc>
                  <a:txBody>
                    <a:bodyPr/>
                    <a:lstStyle/>
                    <a:p>
                      <a:pPr algn="ctr"/>
                      <a:r>
                        <a:rPr sz="1200" b="0">
                          <a:solidFill>
                            <a:srgbClr val="E74C3C"/>
                          </a:solidFill>
                        </a:rPr>
                        <a:t>10 件</a:t>
                      </a:r>
                    </a:p>
                  </a:txBody>
                  <a:tcPr>
                    <a:solidFill>
                      <a:srgbClr val="1E2D47"/>
                    </a:solidFill>
                  </a:tcPr>
                </a:tc>
                <a:tc>
                  <a:txBody>
                    <a:bodyPr/>
                    <a:lstStyle/>
                    <a:p>
                      <a:pPr algn="ctr"/>
                      <a:r>
                        <a:rPr sz="1200" b="0">
                          <a:solidFill>
                            <a:srgbClr val="D0E4F7"/>
                          </a:solidFill>
                        </a:rPr>
                        <a:t>3.9%</a:t>
                      </a:r>
                    </a:p>
                  </a:txBody>
                  <a:tcPr>
                    <a:solidFill>
                      <a:srgbClr val="1E2D47"/>
                    </a:solidFill>
                  </a:tcPr>
                </a:tc>
              </a:tr>
              <a:tr h="594360">
                <a:tc>
                  <a:txBody>
                    <a:bodyPr/>
                    <a:lstStyle/>
                    <a:p>
                      <a:pPr algn="l"/>
                      <a:r>
                        <a:rPr sz="1200" b="0">
                          <a:solidFill>
                            <a:srgbClr val="D0E4F7"/>
                          </a:solidFill>
                        </a:rPr>
                        <a:t>● RAG・検索基盤設計</a:t>
                      </a:r>
                    </a:p>
                  </a:txBody>
                  <a:tcPr>
                    <a:solidFill>
                      <a:srgbClr val="162238"/>
                    </a:solidFill>
                  </a:tcPr>
                </a:tc>
                <a:tc>
                  <a:txBody>
                    <a:bodyPr/>
                    <a:lstStyle/>
                    <a:p>
                      <a:pPr algn="ctr"/>
                      <a:r>
                        <a:rPr sz="1200" b="0">
                          <a:solidFill>
                            <a:srgbClr val="2980B9"/>
                          </a:solidFill>
                        </a:rPr>
                        <a:t>29 件</a:t>
                      </a:r>
                    </a:p>
                  </a:txBody>
                  <a:tcPr>
                    <a:solidFill>
                      <a:srgbClr val="162238"/>
                    </a:solidFill>
                  </a:tcPr>
                </a:tc>
                <a:tc>
                  <a:txBody>
                    <a:bodyPr/>
                    <a:lstStyle/>
                    <a:p>
                      <a:pPr algn="ctr"/>
                      <a:r>
                        <a:rPr sz="1200" b="0">
                          <a:solidFill>
                            <a:srgbClr val="D0E4F7"/>
                          </a:solidFill>
                        </a:rPr>
                        <a:t>11.4%</a:t>
                      </a:r>
                    </a:p>
                  </a:txBody>
                  <a:tcPr>
                    <a:solidFill>
                      <a:srgbClr val="162238"/>
                    </a:solidFill>
                  </a:tcPr>
                </a:tc>
              </a:tr>
              <a:tr h="594360">
                <a:tc>
                  <a:txBody>
                    <a:bodyPr/>
                    <a:lstStyle/>
                    <a:p>
                      <a:pPr algn="l"/>
                      <a:r>
                        <a:rPr sz="1200" b="0">
                          <a:solidFill>
                            <a:srgbClr val="D0E4F7"/>
                          </a:solidFill>
                        </a:rPr>
                        <a:t>● AIエージェント開発・運用</a:t>
                      </a:r>
                    </a:p>
                  </a:txBody>
                  <a:tcPr>
                    <a:solidFill>
                      <a:srgbClr val="1E2D47"/>
                    </a:solidFill>
                  </a:tcPr>
                </a:tc>
                <a:tc>
                  <a:txBody>
                    <a:bodyPr/>
                    <a:lstStyle/>
                    <a:p>
                      <a:pPr algn="ctr"/>
                      <a:r>
                        <a:rPr sz="1200" b="0">
                          <a:solidFill>
                            <a:srgbClr val="8439AD"/>
                          </a:solidFill>
                        </a:rPr>
                        <a:t>70 件</a:t>
                      </a:r>
                    </a:p>
                  </a:txBody>
                  <a:tcPr>
                    <a:solidFill>
                      <a:srgbClr val="1E2D47"/>
                    </a:solidFill>
                  </a:tcPr>
                </a:tc>
                <a:tc>
                  <a:txBody>
                    <a:bodyPr/>
                    <a:lstStyle/>
                    <a:p>
                      <a:pPr algn="ctr"/>
                      <a:r>
                        <a:rPr sz="1200" b="0">
                          <a:solidFill>
                            <a:srgbClr val="D0E4F7"/>
                          </a:solidFill>
                        </a:rPr>
                        <a:t>27.5%</a:t>
                      </a:r>
                    </a:p>
                  </a:txBody>
                  <a:tcPr>
                    <a:solidFill>
                      <a:srgbClr val="1E2D47"/>
                    </a:solidFill>
                  </a:tcPr>
                </a:tc>
              </a:tr>
              <a:tr h="594360">
                <a:tc>
                  <a:txBody>
                    <a:bodyPr/>
                    <a:lstStyle/>
                    <a:p>
                      <a:pPr algn="l"/>
                      <a:r>
                        <a:rPr sz="1200" b="0">
                          <a:solidFill>
                            <a:srgbClr val="D0E4F7"/>
                          </a:solidFill>
                        </a:rPr>
                        <a:t>● 生成AI活用の現場実践・他社事例</a:t>
                      </a:r>
                    </a:p>
                  </a:txBody>
                  <a:tcPr>
                    <a:solidFill>
                      <a:srgbClr val="162238"/>
                    </a:solidFill>
                  </a:tcPr>
                </a:tc>
                <a:tc>
                  <a:txBody>
                    <a:bodyPr/>
                    <a:lstStyle/>
                    <a:p>
                      <a:pPr algn="ctr"/>
                      <a:r>
                        <a:rPr sz="1200" b="0">
                          <a:solidFill>
                            <a:srgbClr val="27AE60"/>
                          </a:solidFill>
                        </a:rPr>
                        <a:t>33 件</a:t>
                      </a:r>
                    </a:p>
                  </a:txBody>
                  <a:tcPr>
                    <a:solidFill>
                      <a:srgbClr val="162238"/>
                    </a:solidFill>
                  </a:tcPr>
                </a:tc>
                <a:tc>
                  <a:txBody>
                    <a:bodyPr/>
                    <a:lstStyle/>
                    <a:p>
                      <a:pPr algn="ctr"/>
                      <a:r>
                        <a:rPr sz="1200" b="0">
                          <a:solidFill>
                            <a:srgbClr val="D0E4F7"/>
                          </a:solidFill>
                        </a:rPr>
                        <a:t>12.9%</a:t>
                      </a:r>
                    </a:p>
                  </a:txBody>
                  <a:tcPr>
                    <a:solidFill>
                      <a:srgbClr val="162238"/>
                    </a:solidFill>
                  </a:tcPr>
                </a:tc>
              </a:tr>
              <a:tr h="594360">
                <a:tc>
                  <a:txBody>
                    <a:bodyPr/>
                    <a:lstStyle/>
                    <a:p>
                      <a:pPr algn="l"/>
                      <a:r>
                        <a:rPr sz="1200" b="0">
                          <a:solidFill>
                            <a:srgbClr val="D0E4F7"/>
                          </a:solidFill>
                        </a:rPr>
                        <a:t>● AIガバナンス・セキュリティ・社内ルール</a:t>
                      </a:r>
                    </a:p>
                  </a:txBody>
                  <a:tcPr>
                    <a:solidFill>
                      <a:srgbClr val="1E2D47"/>
                    </a:solidFill>
                  </a:tcPr>
                </a:tc>
                <a:tc>
                  <a:txBody>
                    <a:bodyPr/>
                    <a:lstStyle/>
                    <a:p>
                      <a:pPr algn="ctr"/>
                      <a:r>
                        <a:rPr sz="1200" b="0">
                          <a:solidFill>
                            <a:srgbClr val="E67E22"/>
                          </a:solidFill>
                        </a:rPr>
                        <a:t>10 件</a:t>
                      </a:r>
                    </a:p>
                  </a:txBody>
                  <a:tcPr>
                    <a:solidFill>
                      <a:srgbClr val="1E2D47"/>
                    </a:solidFill>
                  </a:tcPr>
                </a:tc>
                <a:tc>
                  <a:txBody>
                    <a:bodyPr/>
                    <a:lstStyle/>
                    <a:p>
                      <a:pPr algn="ctr"/>
                      <a:r>
                        <a:rPr sz="1200" b="0">
                          <a:solidFill>
                            <a:srgbClr val="D0E4F7"/>
                          </a:solidFill>
                        </a:rPr>
                        <a:t>3.9%</a:t>
                      </a:r>
                    </a:p>
                  </a:txBody>
                  <a:tcPr>
                    <a:solidFill>
                      <a:srgbClr val="1E2D47"/>
                    </a:solidFill>
                  </a:tcPr>
                </a:tc>
              </a:tr>
              <a:tr h="594360">
                <a:tc>
                  <a:txBody>
                    <a:bodyPr/>
                    <a:lstStyle/>
                    <a:p>
                      <a:pPr algn="l"/>
                      <a:r>
                        <a:rPr sz="1200" b="0">
                          <a:solidFill>
                            <a:srgbClr val="D0E4F7"/>
                          </a:solidFill>
                        </a:rPr>
                        <a:t>● その他</a:t>
                      </a:r>
                    </a:p>
                  </a:txBody>
                  <a:tcPr>
                    <a:solidFill>
                      <a:srgbClr val="162238"/>
                    </a:solidFill>
                  </a:tcPr>
                </a:tc>
                <a:tc>
                  <a:txBody>
                    <a:bodyPr/>
                    <a:lstStyle/>
                    <a:p>
                      <a:pPr algn="ctr"/>
                      <a:r>
                        <a:rPr sz="1200" b="0">
                          <a:solidFill>
                            <a:srgbClr val="7F8C8D"/>
                          </a:solidFill>
                        </a:rPr>
                        <a:t>103 件</a:t>
                      </a:r>
                    </a:p>
                  </a:txBody>
                  <a:tcPr>
                    <a:solidFill>
                      <a:srgbClr val="162238"/>
                    </a:solidFill>
                  </a:tcPr>
                </a:tc>
                <a:tc>
                  <a:txBody>
                    <a:bodyPr/>
                    <a:lstStyle/>
                    <a:p>
                      <a:pPr algn="ctr"/>
                      <a:r>
                        <a:rPr sz="1200" b="0">
                          <a:solidFill>
                            <a:srgbClr val="D0E4F7"/>
                          </a:solidFill>
                        </a:rPr>
                        <a:t>40.4%</a:t>
                      </a:r>
                    </a:p>
                  </a:txBody>
                  <a:tcPr>
                    <a:solidFill>
                      <a:srgbClr val="162238"/>
                    </a:solidFill>
                  </a:tcPr>
                </a:tc>
              </a:tr>
              <a:tr h="594360">
                <a:tc>
                  <a:txBody>
                    <a:bodyPr/>
                    <a:lstStyle/>
                    <a:p>
                      <a:pPr algn="l"/>
                      <a:r>
                        <a:rPr sz="1200" b="1">
                          <a:solidFill>
                            <a:srgbClr val="FFFFFF"/>
                          </a:solidFill>
                        </a:rPr>
                        <a:t>合計</a:t>
                      </a:r>
                    </a:p>
                  </a:txBody>
                  <a:tcPr>
                    <a:solidFill>
                      <a:srgbClr val="2D405C"/>
                    </a:solidFill>
                  </a:tcPr>
                </a:tc>
                <a:tc>
                  <a:txBody>
                    <a:bodyPr/>
                    <a:lstStyle/>
                    <a:p>
                      <a:pPr algn="ctr"/>
                      <a:r>
                        <a:rPr sz="1200" b="1">
                          <a:solidFill>
                            <a:srgbClr val="FFFFFF"/>
                          </a:solidFill>
                        </a:rPr>
                        <a:t>255 件</a:t>
                      </a:r>
                    </a:p>
                  </a:txBody>
                  <a:tcPr>
                    <a:solidFill>
                      <a:srgbClr val="2D405C"/>
                    </a:solidFill>
                  </a:tcPr>
                </a:tc>
                <a:tc>
                  <a:txBody>
                    <a:bodyPr/>
                    <a:lstStyle/>
                    <a:p>
                      <a:pPr algn="ctr"/>
                      <a:r>
                        <a:rPr sz="1200" b="1">
                          <a:solidFill>
                            <a:srgbClr val="FFFFFF"/>
                          </a:solidFill>
                        </a:rPr>
                        <a:t>100.0%</a:t>
                      </a:r>
                    </a:p>
                  </a:txBody>
                  <a:tcPr>
                    <a:solidFill>
                      <a:srgbClr val="2D405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IT運用・自動化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時系列データの異常値検知を5ステップで考えてみる</a:t>
            </a:r>
            <a:r>
              <a:rPr sz="900">
                <a:solidFill>
                  <a:srgbClr val="7F8C8D"/>
                </a:solidFill>
              </a:rPr>
              <a:t>  (2026-07-05)</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https://qiita.com/rino_yume/items/809c5a799d09631b830a</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時系列データの異常値検知を5ステップで考えてみる
〜ロバスト統計から予測残差・AI拡張まで〜
はじめに
時系列データの異常値検出は、センサー監視、防災、水文データ、設備保全、IoT、ログ監視など、さまざまな分野で重要になります。
従来は、
- 平均値から大きく外れた値
- 標準偏差で見た外れ</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AIに障害対応させたら、ありもしないハッキングを“自分で”でっち上げて錯乱した話</a:t>
            </a:r>
            <a:r>
              <a:rPr sz="900">
                <a:solidFill>
                  <a:srgbClr val="7F8C8D"/>
                </a:solidFill>
              </a:rPr>
              <a:t>  (2026-07-04)</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https://qiita.com/jun-uen0/items/212606acda51952c7352</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ある日の夕方、ある Web サービスのサーバが落ちた、という監視アラートが飛んできました。
その対応を、AIコーディングエージェントに任せてみました。半分は実験、半分は「定型の切り分けくらい余裕でしょ」という油断です。
先に、結論だけ正直に置いておきます。
前半は、そのへんの新人より優秀でした。
</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74C3C"/>
                </a:solidFill>
              </a:rPr>
              <a:t>[Zenn]  </a:t>
            </a:r>
            <a:r>
              <a:rPr sz="1200" b="1">
                <a:solidFill>
                  <a:srgbClr val="FFFFFF"/>
                </a:solidFill>
              </a:rPr>
              <a:t>「最強AI」は国家に止められる。Fable 5規制とSonnet 5登場から見えた、Anthropicの生存戦略と開発者の現実解</a:t>
            </a:r>
            <a:r>
              <a:rPr sz="900">
                <a:solidFill>
                  <a:srgbClr val="7F8C8D"/>
                </a:solidFill>
              </a:rPr>
              <a:t>  (2026-07-04)</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https://zenn.dev/yuukikawabata/articles/anthropic-new-era-2026</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2026年6月末から7月初頭にかけて、AI業界の最前線を走るAnthropicから、私たちの未来のAI利用を左右する極めて重要な「二つの大事件」がほぼ同時に発表されました。
一つは、最上位モデルである「Claude Fable 5」の輸出規制による一時停止と、そこからの劇的な復活。
もう一つは、日常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RAG・検索基盤設計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Claude Code スキルを plugin 化してどのプロジェクトからでも読書メモを引く</a:t>
            </a:r>
            <a:r>
              <a:rPr sz="900">
                <a:solidFill>
                  <a:srgbClr val="7F8C8D"/>
                </a:solidFill>
              </a:rPr>
              <a:t>  (2026-07-05)</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https://qiita.com/narunaru-uhchan/items/3382c979b0239a8f3307</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Claude Code スキルを plugin 化してどのプロジェクトからでも読書メモを引く
TL;DR
- 読書メモリポジトリ（LLM Wiki パターン）の運用スキル 6 つを  から Claude Code plugin に移行した
- あわせて新スキル  を追加し、他のどのプロジェクトか</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IndexNowをNodeスクリプト1本で実装する ― 記事公開を検索エンジンに即時通知（ChatGPT検索対策にも）</a:t>
            </a:r>
            <a:r>
              <a:rPr sz="900">
                <a:solidFill>
                  <a:srgbClr val="7F8C8D"/>
                </a:solidFill>
              </a:rPr>
              <a:t>  (2026-07-05)</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https://qiita.com/TOSHIMITSU_MIYACHI/items/fc4743e4a2fc864acc97</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IndexNowは、URLの追加・更新を検索エンジンに即時通知できるプロトコルです。BingやYandexなどが対応しています。新規ドメインだとクロール頻度が低く、記事を公開してもなかなか見つけてもらえないので、公開フローに組み込む価値があります。
もう1つの動機はChatGPT検索です。Chat</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LangChain で RAG を組むなら知っておきたい Pydantic の要素</a:t>
            </a:r>
            <a:r>
              <a:rPr sz="900">
                <a:solidFill>
                  <a:srgbClr val="7F8C8D"/>
                </a:solidFill>
              </a:rPr>
              <a:t>  (2026-07-04)</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https://qiita.com/atsushi11o7/items/8105909db8af82c1d52c</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LangChain で RAG を組んでいると、Pydantic を使うことになります。
自作の Retriever や Reranker、あるいは LLM に構造化データを返させるスキーマは、Pydantic の (を継承したクラス)として書きます。
正直なところ、これまでは Pyd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AIエージェント開発・運用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Copilotが生成した日本語トランスコンパイラ言語 Re:Mindの原型をGitHub CopilotのPlanエージェントで再計画（ステップ１）</a:t>
            </a:r>
            <a:r>
              <a:rPr sz="900">
                <a:solidFill>
                  <a:srgbClr val="7F8C8D"/>
                </a:solidFill>
              </a:rPr>
              <a:t>  (2026-07-05)</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https://qiita.com/mylifewithviolin/items/647c8d8ad9b9785ce942</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はじめに
生成AI(Microsoft Copilot)に日本語トランスコンパイラ言語 Re:Mindの実装言語仕様を読み込ませて、いくつかのプロンプトからトランスコンパイラ的な動きをさせてみたところ、Re:Mindっぽい仕様のASTパーサのテンプレと３言語（Java,C，VB.NET）のコードジェ</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AIエージェント設計で「統制ゲート」を定義しないと何が起きるか——技術者が知っておくべき組織設計の原則</a:t>
            </a:r>
            <a:r>
              <a:rPr sz="900">
                <a:solidFill>
                  <a:srgbClr val="7F8C8D"/>
                </a:solidFill>
              </a:rPr>
              <a:t>  (2026-07-05)</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https://qiita.com/JinFuroi_JfSol/items/8f501c3ced8e9073c027</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!アイキャッチ.png
はじめに：あなたのAIエージェントは本番で動いているか
PoCは動いた。精度も出た。しかし本番環境に上げた途端、誰も使わなくなった。あるいは現場が勝手にAIを使い始めて、管理できない「野良AIエージェント」が社内に増殖している。
こういった状況に心当たりがある技術者は少</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NVIDIAを1枚も使わず訓練した1.6兆パラメータのLongCat-2.0</a:t>
            </a:r>
            <a:r>
              <a:rPr sz="900">
                <a:solidFill>
                  <a:srgbClr val="7F8C8D"/>
                </a:solidFill>
              </a:rPr>
              <a:t>  (2026-07-05)</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https://qiita.com/okssusucha/items/c6adb0f5f73404497264</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OpenRouterの利用ランキングを2か月ほど、正体不明の「Owl Alpha」というモデルが上位で走り続けていた。エージェント系のコーディング用途で妙に評判がよく、しかしどこの誰が出しているのかは伏せられたまま。その中身が6月末に明かされた。中国の生活サービス大手Meituanが公開した Lon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生成AI活用の現場実践・他社事例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2026/7 本当にSonnetはOpusに実力が肉薄したのか？</a:t>
            </a:r>
            <a:r>
              <a:rPr sz="900">
                <a:solidFill>
                  <a:srgbClr val="7F8C8D"/>
                </a:solidFill>
              </a:rPr>
              <a:t>  (2026-07-05)</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https://qiita.com/homhom44/items/a97c82b2fa8025230c74</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Sonnetがついに「Opusでいいじゃん」って言われ始めた件、実際どうなのか集めてみた
2026年6月末にSonnet 5が出て以来、あちこちで「もうOpusいらないんじゃないか」という声を見るようになった。正直、この手の「新型は前世代を食う」論は毎回出てくるので話半分に聞いてたんだけど、今回は</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AIに「このバグ直して」って丸投げすると、なぜ半分ハズすのか — デバッグを"推測ゲーム"から"科学"に戻す、AIとの実践ガイド</a:t>
            </a:r>
            <a:r>
              <a:rPr sz="900">
                <a:solidFill>
                  <a:srgbClr val="7F8C8D"/>
                </a:solidFill>
              </a:rPr>
              <a:t>  (2026-07-04)</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https://qiita.com/akira_papa_AI/items/c04182254534e644909c</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はじめに — その「直して」、たぶん半分はハズしてます
エラーが出る。真っ赤なスタックトレースをコピーして、AIにペタッと貼る。「これ直して」。
……このムーブ、僕もめっちゃやります。速いし、当たると気持ちいい。
でも、正直に言いましょう。当たり外れが、けっこう激しくないですか。
数字でも出</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【2026-07-04集計】IBM Bob(Project Bob)関連Qiita記事 人気ランキング 全245件</a:t>
            </a:r>
            <a:r>
              <a:rPr sz="900">
                <a:solidFill>
                  <a:srgbClr val="7F8C8D"/>
                </a:solidFill>
              </a:rPr>
              <a:t>  (2026-07-04)</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https://qiita.com/yanagih/items/2c9f8009141b9f350de7</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この記事は、Qiitaで * または  タグが付いた記事を人気順にまとめたランキングです。IBM Bob（Project Bob）に興味がある方の、記事探しの入り口としてご活用ください。
:::note info
集計方法
- 対象: Qiitaで  または  タグが付いた記事 全245件
- 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AIガバナンス・セキュリティ・社内ルール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ローカルLLMでコーディングする前に言っておきたいことがある</a:t>
            </a:r>
            <a:r>
              <a:rPr sz="900">
                <a:solidFill>
                  <a:srgbClr val="7F8C8D"/>
                </a:solidFill>
              </a:rPr>
              <a:t>  (2026-07-04)</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https://qiita.com/kutakake/items/1610cab727ea838574c0</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ローカルLLMでコーディングする前に言っておきたいことがある
- タスクを分割しろ
- タスクが終わったらすぐcompactしろ
- MoEモデルを使ってはいけない
- バグったらセッションを切り替えろ
- セキュリティは人間が理解して具体的に指示しろ！！！！！！！！！！！
……
LM Studi</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67E22"/>
                </a:solidFill>
              </a:rPr>
              <a:t>[Zenn]  </a:t>
            </a:r>
            <a:r>
              <a:rPr sz="1200" b="1">
                <a:solidFill>
                  <a:srgbClr val="FFFFFF"/>
                </a:solidFill>
              </a:rPr>
              <a:t>Claude Fable 5復活で見えた、AIモデルを「ただのAPI」として扱えない時代</a:t>
            </a:r>
            <a:r>
              <a:rPr sz="900">
                <a:solidFill>
                  <a:srgbClr val="7F8C8D"/>
                </a:solidFill>
              </a:rPr>
              <a:t>  (2026-07-04)</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https://zenn.dev/kimshoshi/articles/claude-fable-return-ai-governance</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はじめに
報道ベースではあるが、Anthropicの高性能モデル Claude Fable 5 と Claude Mythos 5 をめぐるアクセス制限が解除され、順次復旧に向かうとされている。
単に「強いモデルがまた使えるようになった」という話ではない。
今回の一連の流れで見えたのは、LLMがもは</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67E22"/>
                </a:solidFill>
              </a:rPr>
              <a:t>[Zenn]  </a:t>
            </a:r>
            <a:r>
              <a:rPr sz="1200" b="1">
                <a:solidFill>
                  <a:srgbClr val="FFFFFF"/>
                </a:solidFill>
              </a:rPr>
              <a:t>解禁されたClaude Fable 5を実務で使い倒す：モデル切替＆フォールバック実装パターン</a:t>
            </a:r>
            <a:r>
              <a:rPr sz="900">
                <a:solidFill>
                  <a:srgbClr val="7F8C8D"/>
                </a:solidFill>
              </a:rPr>
              <a:t>  (2026-07-01)</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https://zenn.dev/kairosai/articles/642d196be684c3</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はじめに
2026年7月1日、輸出規制の撤回により「Claude Fable 5」が全世界で再開放されました。昨日まで使えなかった最上位モデルが今日から使える——このタイミングで、モデルの利用可否が動的に変わっても壊れないコードを書いておくと、今後の規制・解禁の波に振り回されずに済みます。
本記事で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時系列データの異常値検知を5ステップで考えてみる</a:t>
            </a:r>
            <a:r>
              <a:rPr sz="900">
                <a:solidFill>
                  <a:srgbClr val="7F8C8D"/>
                </a:solidFill>
              </a:rPr>
              <a:t>  (2026-07-05)</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https://qiita.com/rino_yume/items/809c5a799d09631b830a</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時系列データの異常値検知を5ステップで考えてみる
〜ロバスト統計から予測残差・AI拡張まで〜
はじめに
時系列データの異常値検出は、センサー監視、防災、水文データ、設備保全、IoT、ログ監視など、さまざまな分野で重要になります。
従来</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AIに障害対応させたら、ありもしないハッキングを“自分で”でっち上げて錯乱した話</a:t>
            </a:r>
            <a:r>
              <a:rPr sz="900">
                <a:solidFill>
                  <a:srgbClr val="7F8C8D"/>
                </a:solidFill>
              </a:rPr>
              <a:t>  (2026-07-04)</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3"/>
              </a:rPr>
              <a:t>https://qiita.com/jun-uen0/items/212606acda51952c7352</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ある日の夕方、ある Web サービスのサーバが落ちた、という監視アラートが飛んできました。
その対応を、AIコーディングエージェントに任せてみました。半分は実験、半分は「定型の切り分けくらい余裕でしょ」という油断です。
先に、結論だけ正直</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「最強AI」は国家に止められる。Fable 5規制とSonnet 5登場から見えた、Anthropicの生存戦略と開発者の現実解</a:t>
            </a:r>
            <a:r>
              <a:rPr sz="900">
                <a:solidFill>
                  <a:srgbClr val="7F8C8D"/>
                </a:solidFill>
              </a:rPr>
              <a:t>  (2026-07-04)</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4"/>
              </a:rPr>
              <a:t>https://zenn.dev/yuukikawabata/articles/anthropic-new-era-2026</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2026年6月末から7月初頭にかけて、AI業界の最前線を走るAnthropicから、私たちの未来のAI利用を左右する極めて重要な「二つの大事件」がほぼ同時に発表されました。
一つは、最上位モデルである「Claude Fable 5」の輸出規</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Claude Codeのtriggerリストを11日間育てた記録——8件の事故とAIガバナンスの実証</a:t>
            </a:r>
            <a:r>
              <a:rPr sz="900">
                <a:solidFill>
                  <a:srgbClr val="7F8C8D"/>
                </a:solidFill>
              </a:rPr>
              <a:t>  (2026-07-04)</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5"/>
              </a:rPr>
              <a:t>https://zenn.dev/tottoko_hamu/articles/2026-05-31-090000</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22日間・19件のインシデントを記録して分かったことは、「AIは自分の独断をリアルタイムで自己認識できない」という一点に集約される。外部チェックリスト（triggerリスト）を8件の事故から育て、「設計したルールが翌日機能した」初の瞬間を実</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2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AIで紐解くAI-DLC v2：成果物の流れ</a:t>
            </a:r>
            <a:r>
              <a:rPr sz="900">
                <a:solidFill>
                  <a:srgbClr val="7F8C8D"/>
                </a:solidFill>
              </a:rPr>
              <a:t>  (2026-07-04)</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2"/>
              </a:rPr>
              <a:t>https://zenn.dev/takeshishimada/articles/aidlc-v2-07-artifact-flow</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本記事の位置づけ — 本記事は、awslabs/aidlc-workflows リポジトリの規範ルールおよび利用ガイドを素材として、筆者が AI を活用して読み解き、まとめた解釈です。AWS が公式に発表した方法論ではなく、一次資料の翻訳・</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AI時代の崩壊構造生成速度 &gt; 理解速度がすべてを壊す</a:t>
            </a:r>
            <a:r>
              <a:rPr sz="900">
                <a:solidFill>
                  <a:srgbClr val="7F8C8D"/>
                </a:solidFill>
              </a:rPr>
              <a:t>  (2026-07-04)</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3"/>
              </a:rPr>
              <a:t>https://zenn.dev/amyusynaprise/articles/93e5e37d2c917f</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■これは技術記事ではない
これは実装の話ではなく、
AI時代のシステム構造の観察記録である。
■導入
AIがコードを書き、データを作り、業務まで自動化するようになった。
Claude Codeのようなエージェント型開発では、コードの大半がA</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AI Daily Digest · 2026年7月4日 — Claude Science、arXiv独立、AI投資額が過去最高の5,100億ドル</a:t>
            </a:r>
            <a:r>
              <a:rPr sz="900">
                <a:solidFill>
                  <a:srgbClr val="7F8C8D"/>
                </a:solidFill>
              </a:rPr>
              <a:t>  (2026-07-04)</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https://qiita.com/lhjjjk4/items/1b2b60d24cd2144ca881</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AI Daily Digest · 2026年7月4日
!Cover
---
1. AnthropicがClaude Scienceを発表 — 科学者向けAIワークベンチ
Anthropicは6月30日、生物・化学研究のワークフロー</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自分のバックテストに『これは間違いだと証明しろ』とAIをけしかけたら、結論が半分ひっくり返った</a:t>
            </a:r>
            <a:r>
              <a:rPr sz="900">
                <a:solidFill>
                  <a:srgbClr val="7F8C8D"/>
                </a:solidFill>
              </a:rPr>
              <a:t>  (2026-07-04)</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5"/>
              </a:rPr>
              <a:t>https://zenn.dev/ikahan/articles/backtest-self-deception</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
この記事はトレードの記事ではありません。「自分で作った検証が、自分に都合よく嘘をつく」仕組みの記事です。題材はたまたま相場データですが、出てくる4つの罠は A/Bテスト・機械学習・KPI分析など、数字で何かを判断するすべての場面に効きま</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Claude Code スキルを plugin 化してどのプロジェクトからでも読書メモを引く</a:t>
            </a:r>
            <a:r>
              <a:rPr sz="900">
                <a:solidFill>
                  <a:srgbClr val="7F8C8D"/>
                </a:solidFill>
              </a:rPr>
              <a:t>  (2026-07-05)</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https://qiita.com/narunaru-uhchan/items/3382c979b0239a8f3307</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Claude Code スキルを plugin 化してどのプロジェクトからでも読書メモを引く
TL;DR
- 読書メモリポジトリ（LLM Wiki パターン）の運用スキル 6 つを  から Claude Code plugin に移行し</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IndexNowをNodeスクリプト1本で実装する ― 記事公開を検索エンジンに即時通知（ChatGPT検索対策にも）</a:t>
            </a:r>
            <a:r>
              <a:rPr sz="900">
                <a:solidFill>
                  <a:srgbClr val="7F8C8D"/>
                </a:solidFill>
              </a:rPr>
              <a:t>  (2026-07-05)</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https://qiita.com/TOSHIMITSU_MIYACHI/items/fc4743e4a2fc864acc97</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IndexNowは、URLの追加・更新を検索エンジンに即時通知できるプロトコルです。BingやYandexなどが対応しています。新規ドメインだとクロール頻度が低く、記事を公開してもなかなか見つけてもらえないので、公開フローに組み込む価値があ</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LangChain で RAG を組むなら知っておきたい Pydantic の要素</a:t>
            </a:r>
            <a:r>
              <a:rPr sz="900">
                <a:solidFill>
                  <a:srgbClr val="7F8C8D"/>
                </a:solidFill>
              </a:rPr>
              <a:t>  (2026-07-04)</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https://qiita.com/atsushi11o7/items/8105909db8af82c1d52c</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LangChain で RAG を組んでいると、Pydantic を使うことになります。
自作の Retriever や Reranker、あるいは LLM に構造化データを返させるスキーマは、Pydantic の (を継承した</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自己修正型検索と状態管理：LangGraph×LlamaIndexによるエージェントRAG構築</a:t>
            </a:r>
            <a:r>
              <a:rPr sz="900">
                <a:solidFill>
                  <a:srgbClr val="7F8C8D"/>
                </a:solidFill>
              </a:rPr>
              <a:t>  (2026-07-04)</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5"/>
              </a:rPr>
              <a:t>https://qiita.com/jjking/items/df69022976c528eec807</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従来のRAGが抱える課題とエージェントRAGの必要性
LLMに外部知識を組み込む手法として「RAG（検索拡張生成）」は広く普及しています。しかし、従来の「Naive RAG」には大きな課題があります。それは「質問に対して一度だけ検索を行い、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20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乃木坂46の全ブログ4,726件+公式ニュース約1万件をRAGで知識化して、メンバー関係図を自動生成した</a:t>
            </a:r>
            <a:r>
              <a:rPr sz="900">
                <a:solidFill>
                  <a:srgbClr val="7F8C8D"/>
                </a:solidFill>
              </a:rPr>
              <a:t>  (2026-07-04)</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2"/>
              </a:rPr>
              <a:t>https://zenn.dev/nogi_fanguide/articles/nogizaka-rag-fansite</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
本文は基本的にClaude(Claude Code)が執筆し、筆者が事実確認と添削をしています。サイト本体の開発も同じ分業で行っており、詳しくは後半の「開発の分業」の節で触れます。
乃木坂46の公式メンバーブログ全4,726件と公式ニ</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Oracle 26ai の in-DB 埋め込み（VECTOR_EMBEDDING）で Agentic RAG を DB 内で完結させてみた</a:t>
            </a:r>
            <a:r>
              <a:rPr sz="900">
                <a:solidFill>
                  <a:srgbClr val="7F8C8D"/>
                </a:solidFill>
              </a:rPr>
              <a:t>  (2026-07-04)</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https://qiita.com/asahide/items/6dcf8e480c58d6c9cb14</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1. はじめに
前回、Google の ADK（Agent Development Kit）＋ Gemini ＋ MCP Toolbox for Databases の標準構成で、データベースを Oracle Autonomous Dat</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ローカルで機密性高くRAGじゃないセマンティック検索</a:t>
            </a:r>
            <a:r>
              <a:rPr sz="900">
                <a:solidFill>
                  <a:srgbClr val="7F8C8D"/>
                </a:solidFill>
              </a:rPr>
              <a:t>  (2026-07-04)</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4"/>
              </a:rPr>
              <a:t>https://zenn.dev/okadatk/articles/c36bf7a66832d5</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Search_app2 アーキテクチャ解説
お客様とのやり取りは当然機密情報もあり、セキュリティで守られているとはいえ大量（数万）のファイルをアップロードして検索させるわけにもいかず、ローカルのRAGが欲しいと思いました。すでに多くの方が実</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LoRA・QLoRAを図解する</a:t>
            </a:r>
            <a:r>
              <a:rPr sz="900">
                <a:solidFill>
                  <a:srgbClr val="7F8C8D"/>
                </a:solidFill>
              </a:rPr>
              <a:t>  (2026-07-03)</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5"/>
              </a:rPr>
              <a:t>https://zenn.dev/hkame/articles/lora-qlora-finetuning</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本記事では、Fine-tuningの中核技術であるLoRAとQLoRAの仕組みを図解で整理します。また、先日行った検証でLoRAをCPUで動作させており、「なぜCPUでも動くのか」「GPUとどう使い分けるか」にも触れていきます。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Copilotが生成した日本語トランスコンパイラ言語 Re:Mindの原型をGitHub CopilotのPlanエージェントで再計画（ステップ１）</a:t>
            </a:r>
            <a:r>
              <a:rPr sz="900">
                <a:solidFill>
                  <a:srgbClr val="7F8C8D"/>
                </a:solidFill>
              </a:rPr>
              <a:t>  (2026-07-05)</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https://qiita.com/mylifewithviolin/items/647c8d8ad9b9785ce942</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生成AI(Microsoft Copilot)に日本語トランスコンパイラ言語 Re:Mindの実装言語仕様を読み込ませて、いくつかのプロンプトからトランスコンパイラ的な動きをさせてみたところ、Re:Mindっぽい仕様のASTパーサ</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AIエージェント設計で「統制ゲート」を定義しないと何が起きるか——技術者が知っておくべき組織設計の原則</a:t>
            </a:r>
            <a:r>
              <a:rPr sz="900">
                <a:solidFill>
                  <a:srgbClr val="7F8C8D"/>
                </a:solidFill>
              </a:rPr>
              <a:t>  (2026-07-05)</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https://qiita.com/JinFuroi_JfSol/items/8f501c3ced8e9073c027</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!アイキャッチ.png
はじめに：あなたのAIエージェントは本番で動いているか
PoCは動いた。精度も出た。しかし本番環境に上げた途端、誰も使わなくなった。あるいは現場が勝手にAIを使い始めて、管理できない「野良AIエージェント」が社内</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NVIDIAを1枚も使わず訓練した1.6兆パラメータのLongCat-2.0</a:t>
            </a:r>
            <a:r>
              <a:rPr sz="900">
                <a:solidFill>
                  <a:srgbClr val="7F8C8D"/>
                </a:solidFill>
              </a:rPr>
              <a:t>  (2026-07-05)</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https://qiita.com/okssusucha/items/c6adb0f5f73404497264</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OpenRouterの利用ランキングを2か月ほど、正体不明の「Owl Alpha」というモデルが上位で走り続けていた。エージェント系のコーディング用途で妙に評判がよく、しかしどこの誰が出しているのかは伏せられたまま。その中身が6月末に明かさ</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【2026年最新・実装付き】AIエージェントフレームワーク徹底比較：LangChain・CrewAI・AutoGen・Claude Agent SDK・Dify…</a:t>
            </a:r>
            <a:r>
              <a:rPr sz="900">
                <a:solidFill>
                  <a:srgbClr val="7F8C8D"/>
                </a:solidFill>
              </a:rPr>
              <a:t>  (2026-07-05)</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https://qiita.com/sescore/items/ab45a950e1837918df5c</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【2026年最新・実装付き】AIエージェントフレームワーク徹底比較：LangChain・CrewAI・AutoGen・Claude Agent SDK・Dify をコードで選ぶ
はじめに
AIエージェントフレームワークの選定は、2026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41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「SESつらい」から脱出した私がOpenClawで9体のAIエージェント経営OSを構築した全手順【2026年最新徹底解説】</a:t>
            </a:r>
            <a:r>
              <a:rPr sz="900">
                <a:solidFill>
                  <a:srgbClr val="7F8C8D"/>
                </a:solidFill>
              </a:rPr>
              <a:t>  (2026-07-05)</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https://qiita.com/sescore/items/6dbb31bee0f1a6082d95</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はじめに：SES1年目の閉塞感とAIの出会い
「SESつらい」と感じていたのは、エンジニアとしてキャリアをスタートして最初の1年間だった。
客先常駐でひたすらコードを書く毎日。スキルは確実に伸びていたが、自分の将来像が見えない。SES </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 のサブエージェント (.claude/agents) 自作入門 — 並列調査で重いリサーチを分担させる手順と3つのハマりどころ【2026…</a:t>
            </a:r>
            <a:r>
              <a:rPr sz="900">
                <a:solidFill>
                  <a:srgbClr val="7F8C8D"/>
                </a:solidFill>
              </a:rPr>
              <a:t>  (2026-07-05)</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https://qiita.com/yureki_lab/items/6cbf6acd7e8b70eaef55</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 対象と前提
Claude Code で調査系のタスク(コードベース把握、ライブラリ比較、ログ解析など)を投げると、メインの会話コンテキストがファイル内容で埋まってすぐ苦しくなる。この解決策が サブエージェント。調査を別コンテ</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【AIエージェント】Claude Code vs Antigravity CLI！一晩で200ドル溶かさないための「自律ループ制御」超入門（第8回）</a:t>
            </a:r>
            <a:r>
              <a:rPr sz="900">
                <a:solidFill>
                  <a:srgbClr val="7F8C8D"/>
                </a:solidFill>
              </a:rPr>
              <a:t>  (2026-07-05)</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https://qiita.com/0903osa/items/d5f2f565c6012cf31995</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僕のメンターからおすすめされた本の紹介連載、第8回です。
※本記事では、以降 antigravity CLI のコマンド表記を agy と統一して記述します。
今回は、AIエージェントが不可逆な操作（Merge・Deploy・R</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DeepSeek V4 Pro with Codex and Claude Code: Endpoint Compatibility Test</a:t>
            </a:r>
            <a:r>
              <a:rPr sz="900">
                <a:solidFill>
                  <a:srgbClr val="7F8C8D"/>
                </a:solidFill>
              </a:rPr>
              <a:t>  (2026-07-05)</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https://qiita.com/xujfcn/items/ceaec243ae6d38fb1d1c</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DeepSeek V4 Pro with Codex and Claude Code: Endpoint Compatibility Test
Can  be used with Codex and Claude Code? The 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2026/7 本当にSonnetはOpusに実力が肉薄したのか？</a:t>
            </a:r>
            <a:r>
              <a:rPr sz="900">
                <a:solidFill>
                  <a:srgbClr val="7F8C8D"/>
                </a:solidFill>
              </a:rPr>
              <a:t>  (2026-07-05)</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https://qiita.com/homhom44/items/a97c82b2fa8025230c74</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Sonnetがついに「Opusでいいじゃん」って言われ始めた件、実際どうなのか集めてみた
2026年6月末にSonnet 5が出て以来、あちこちで「もうOpusいらないんじゃないか」という声を見るようになった。正直、この手の「新型は前世代</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AIに「このバグ直して」って丸投げすると、なぜ半分ハズすのか — デバッグを"推測ゲーム"から"科学"に戻す、AIとの実践ガイド</a:t>
            </a:r>
            <a:r>
              <a:rPr sz="900">
                <a:solidFill>
                  <a:srgbClr val="7F8C8D"/>
                </a:solidFill>
              </a:rPr>
              <a:t>  (2026-07-04)</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https://qiita.com/akira_papa_AI/items/c04182254534e644909c</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 その「直して」、たぶん半分はハズしてます
エラーが出る。真っ赤なスタックトレースをコピーして、AIにペタッと貼る。「これ直して」。
……このムーブ、僕もめっちゃやります。速いし、当たると気持ちいい。
でも、正直に言いまし</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【2026-07-04集計】IBM Bob(Project Bob)関連Qiita記事 人気ランキング 全245件</a:t>
            </a:r>
            <a:r>
              <a:rPr sz="900">
                <a:solidFill>
                  <a:srgbClr val="7F8C8D"/>
                </a:solidFill>
              </a:rPr>
              <a:t>  (2026-07-04)</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https://qiita.com/yanagih/items/2c9f8009141b9f350de7</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この記事は、Qiitaで * または  タグが付いた記事を人気順にまとめたランキングです。IBM Bob（Project Bob）に興味がある方の、記事探しの入り口としてご活用ください。
:::note info
集計方法
- 対象: Q</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GASでAIプロンプトの実行ログをSheetsに残す：校務下書きをあとから検証しやすくする最小構成</a:t>
            </a:r>
            <a:r>
              <a:rPr sz="900">
                <a:solidFill>
                  <a:srgbClr val="7F8C8D"/>
                </a:solidFill>
              </a:rPr>
              <a:t>  (2026-07-04)</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5"/>
              </a:rPr>
              <a:t>https://qiita.com/SciCos/items/c65c74996e671b5ef6e4</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GASでAIプロンプトの実行ログをSheetsに残す：校務下書きをあとから検証しやすくする最小構成
この記事の位置づけ
この投稿は、これまでのGAS校務AI活用記事の続きとして書いています。
&gt; 「Google Apps Script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6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【書評】 Hands-On Machine Learning with Scikit-Learn, Keras, and TensorFlow, 3rd Edi…</a:t>
            </a:r>
            <a:r>
              <a:rPr sz="900">
                <a:solidFill>
                  <a:srgbClr val="7F8C8D"/>
                </a:solidFill>
              </a:rPr>
              <a:t>  (2026-07-04)</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https://qiita.com/io0323/items/0a5d06e68398bb7182ef</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本書は、機械学習の基礎概念から深層学習の実装まで、Aurélien Gérón氏が体系的にまとめた実践書です。
scikit-learn・Keras・TensorFlowという業界標準ツールを軸に、理論と実装の両輪で学べる構成に</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AIに仕事を奪われるエンジニアと、使う側に回る人の決定的な差</a:t>
            </a:r>
            <a:r>
              <a:rPr sz="900">
                <a:solidFill>
                  <a:srgbClr val="7F8C8D"/>
                </a:solidFill>
              </a:rPr>
              <a:t>  (2026-07-03)</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https://qiita.com/Skillsheet-Port/items/866f7f816bcc75291718</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AIに「奪われる側」と「使う側」を分けるのは才能じゃない——現場で見えた決定的な差
「AIに仕事を奪われる」——この言葉に一度はヒヤッとした人は多い。
だが500人を見てきて、そして自分でもAIだけでSaaSを作って思う。奪われる人と使う</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多文化共生はなぜ難しいのか？ ― 情報・同化・生産性から考える現実解 : Pythonで学ぶ マクロ経済学入門 (95)</a:t>
            </a:r>
            <a:r>
              <a:rPr sz="900">
                <a:solidFill>
                  <a:srgbClr val="7F8C8D"/>
                </a:solidFill>
              </a:rPr>
              <a:t>  (2026-07-03)</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https://qiita.com/maskot1977/items/e3f648e6b65f3eaddec0</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user:
「Pythonで学ぶマクロ経済学入門」、第95回を始めましょう。まず前回の復習として、
「レモンの原理はなぜ社会を分断するのか？ ― 情報の透明性と信頼が日本の未来を左右する : Pythonで学ぶ マクロ経済学入門 (94</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AI Studio のバイブコーディングで作った天気アプリを Cloud Run にワンクリックデプロイしてみた</a:t>
            </a:r>
            <a:r>
              <a:rPr sz="900">
                <a:solidFill>
                  <a:srgbClr val="7F8C8D"/>
                </a:solidFill>
              </a:rPr>
              <a:t>  (2026-07-02)</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5"/>
              </a:rPr>
              <a:t>https://qiita.com/fukagawahiroki/items/459250e2d7f017b2f87c</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こんにちは！KDDIアイレット DX開発事業部 深川です
KDDIアイレットの取り組みとして6月22日〜7月3日の期間で開催中の「Google Cloud Next '26 / Google I/O やってみた系ブログリレー」、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ローカルLLMでコーディングする前に言っておきたいことがある</a:t>
            </a:r>
            <a:r>
              <a:rPr sz="900">
                <a:solidFill>
                  <a:srgbClr val="7F8C8D"/>
                </a:solidFill>
              </a:rPr>
              <a:t>  (2026-07-04)</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2"/>
              </a:rPr>
              <a:t>https://qiita.com/kutakake/items/1610cab727ea838574c0</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ローカルLLMでコーディングする前に言っておきたいことがある
- タスクを分割しろ
- タスクが終わったらすぐcompactしろ
- MoEモデルを使ってはいけない
- バグったらセッションを切り替えろ
- セキュリティは人間が理解して具体</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67E22"/>
                </a:solidFill>
              </a:rPr>
              <a:t>▶ </a:t>
            </a:r>
            <a:r>
              <a:rPr sz="1200" b="1">
                <a:solidFill>
                  <a:srgbClr val="FFFFFF"/>
                </a:solidFill>
              </a:rPr>
              <a:t>Claude Fable 5復活で見えた、AIモデルを「ただのAPI」として扱えない時代</a:t>
            </a:r>
            <a:r>
              <a:rPr sz="900">
                <a:solidFill>
                  <a:srgbClr val="7F8C8D"/>
                </a:solidFill>
              </a:rPr>
              <a:t>  (2026-07-04)</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67E22"/>
                </a:solidFill>
              </a:rPr>
              <a:t>[Zenn]  </a:t>
            </a:r>
            <a:r>
              <a:rPr sz="800">
                <a:solidFill>
                  <a:srgbClr val="5DADE8"/>
                </a:solidFill>
                <a:hlinkClick r:id="rId3"/>
              </a:rPr>
              <a:t>https://zenn.dev/kimshoshi/articles/claude-fable-return-ai-governance</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報道ベースではあるが、Anthropicの高性能モデル Claude Fable 5 と Claude Mythos 5 をめぐるアクセス制限が解除され、順次復旧に向かうとされている。
単に「強いモデルがまた使えるようになった」と</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67E22"/>
                </a:solidFill>
              </a:rPr>
              <a:t>▶ </a:t>
            </a:r>
            <a:r>
              <a:rPr sz="1200" b="1">
                <a:solidFill>
                  <a:srgbClr val="FFFFFF"/>
                </a:solidFill>
              </a:rPr>
              <a:t>解禁されたClaude Fable 5を実務で使い倒す：モデル切替＆フォールバック実装パターン</a:t>
            </a:r>
            <a:r>
              <a:rPr sz="900">
                <a:solidFill>
                  <a:srgbClr val="7F8C8D"/>
                </a:solidFill>
              </a:rPr>
              <a:t>  (2026-07-01)</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67E22"/>
                </a:solidFill>
              </a:rPr>
              <a:t>[Zenn]  </a:t>
            </a:r>
            <a:r>
              <a:rPr sz="800">
                <a:solidFill>
                  <a:srgbClr val="5DADE8"/>
                </a:solidFill>
                <a:hlinkClick r:id="rId4"/>
              </a:rPr>
              <a:t>https://zenn.dev/kairosai/articles/642d196be684c3</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2026年7月1日、輸出規制の撤回により「Claude Fable 5」が全世界で再開放されました。昨日まで使えなかった最上位モデルが今日から使える——このタイミングで、モデルの利用可否が動的に変わっても壊れないコードを書いておく</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67E22"/>
                </a:solidFill>
              </a:rPr>
              <a:t>▶ </a:t>
            </a:r>
            <a:r>
              <a:rPr sz="1200" b="1">
                <a:solidFill>
                  <a:srgbClr val="FFFFFF"/>
                </a:solidFill>
              </a:rPr>
              <a:t>【2026年6月版】Claude・GPT・Geminiをタスクで自動ルーティングする実装パターン</a:t>
            </a:r>
            <a:r>
              <a:rPr sz="900">
                <a:solidFill>
                  <a:srgbClr val="7F8C8D"/>
                </a:solidFill>
              </a:rPr>
              <a:t>  (2026-06-30)</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67E22"/>
                </a:solidFill>
              </a:rPr>
              <a:t>[Zenn]  </a:t>
            </a:r>
            <a:r>
              <a:rPr sz="800">
                <a:solidFill>
                  <a:srgbClr val="5DADE8"/>
                </a:solidFill>
                <a:hlinkClick r:id="rId5"/>
              </a:rPr>
              <a:t>https://zenn.dev/kairosai/articles/0796ba90b536c4</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2026年6月、フロンティアモデルが一気に出揃いました。Anthropicの Claude Fable 5（100万トークン文脈・常時思考・128K出力）、OpenAIの GPT-5.6 Sol Preview（コード/科学/セキ</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　(2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【プロンプト】AI上司と壁打ちで無敵</a:t>
            </a:r>
            <a:r>
              <a:rPr sz="900">
                <a:solidFill>
                  <a:srgbClr val="7F8C8D"/>
                </a:solidFill>
              </a:rPr>
              <a:t>  (2026-06-22)</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2"/>
              </a:rPr>
              <a:t>https://qiita.com/Nemzo/items/4469182e80de84b2d2a4</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エンジニアとして働く中で、提案資料や設計書を作成する機会は多いと思います。
しかし、いざ上司にレビューを依頼すると「コストの根拠は？」「このパターンのリスク対応が抜けている」など、いつも同じようなポイントで差し戻しを食らって心が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(1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無料診断フォームの回答をAIに渡す前に正規化するGAS実装</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https://qiita.com/Miraigent/items/1ad5df1e0a42868e97eb</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LLMはほぼチューリングマシンである</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https://qiita.com/sukimaengineer/items/b0afa08d86cf816e6da7</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Fable5から「Opusの上」に何ができたのか5分で把握する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https://qiita.com/shoka-jp/items/e8c0d01453f8e5359242</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「特定モデル前提」のアンチパターン5つ。Fable 5が3日で消えたので見直したNG例と直し方</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https://qiita.com/Rapls/items/5c69e34e4d9e8d46a533</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セルフホストLLMのGPU容量を増やすFP8 KV-cache量子化：vLLMの--kv-cache-dtype fp8を本番のレバーにする（2026…</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https://qiita.com/YushiYamamoto/items/2b16f596e60e4058f940</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ローカルフォルダを指定してツリービューで指定したファイルのみをUithub風テキストにしてくれるPythonコード</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https://qiita.com/kanata564/items/a0428f76a0d3e72b91be</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LLM記述構文"MARI" Tips:システムペルソナ参照、青い奴らが大集合</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https://qiita.com/otoyo0318/items/648d1a4646d1bf88ce80</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GPU付きPCの納品を待つ間に、CPUでできることを全部やってみた ― 歩行進化・LLMマージ・性格ダイヤルの記録</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https://qiita.com/furuse-kazufumi/items/44508c48f38a68abad35</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 Daily Digest · 2026年7月5日 — AI投資額が5,100億ドル、Claude Sonnet 5、Kling AIが28億ドル…</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https://qiita.com/lhjjjk4/items/c21ef38c7f1aace599ff</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ヒントで強化学習は難問を解けるようになる</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https://qiita.com/mhamadajp/items/dd8746fe8ba6ef33a01c</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3. Prompt Engineeringは「お願いの書き方」ではなかった（LLMは会話を覚えていない？）</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https://qiita.com/bahamutra/items/c1a473ad35c1f61d4f54</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「言うだけでご飯が出てくる装置」が欲しすぎたので、まずLINE×AI献立提案から作ることにした</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https://qiita.com/ramenman/items/87c7b54f767d35d1ed08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(2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Claudeに「Qiita記事を書くプロジェクト」を作ってもらった話</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https://qiita.com/nak3761/items/e70138288f4055fc1442</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【書評】PythonによるAIプログラミング入門 ―ディープラーニングを始める前に身につけておくべき15の基礎技術</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https://qiita.com/io0323/items/8a02e72401c666d66f07</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回帰で「小さく写る対象」だけ精度が出ない ― scale-imbalanced loss を log-radius で直す</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https://zenn.dev/kiribako_dev/articles/coin-radius-scale-invariant-loss</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ドメインギャップだと思ったら自分のデータの画角だった ― fine-tune 3回の記録</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https://zenn.dev/kiribako_dev/articles/coin-detection-domain-gap</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Mapping with In-Memory Layers to Reduce LLM Overload</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https://ridgetext.com/blog/mapbox-llm-composition</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vLLM の中身を覗いて、自作 kernel で LLM の生成速度を約15%上げた話</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https://qiita.com/Marron-chan/items/1dfebcb14fb148d70ad1</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「プロンプトが書けない」の別解：参照画像3枚で画像生成を制御する仕組みと限界</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https://qiita.com/tingpromax/items/cfa6809ef2ccaff2b972</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Codexを“生成AI”で終わらせない。Gitと組み合わせたら開発フローにちゃんと組み込めた話</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https://qiita.com/kitasyunpp/items/3ec46a2da31e16338389</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GPT-5.5 Codex reasoning-token clustering may be leading to degraded perform…</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https://github.com/openai/codex/issues/30364</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1年前にCopilotで挫折した「ポケカ風画像生成アプリ」をスマホからCodexへ指示して完成させた</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https://qiita.com/parayan0429/items/22e34fa082179b5d5700</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GitHub Spec Kit の `/speckit.converge` を試す：実装のズレを検出して改修タスク化できるか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https://qiita.com/kitroc7134/items/117d4839f259bc403626</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Claude Fable 5 を9Bモデルに蒸留？ 100万トークンの超長文推理モデル「Qwythos-9B」を4GBのVRAMで動かす</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https://qiita.com/lumichy/items/221aa7f5ddbbf36fa841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(3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画像生成AIの衝撃と、高まるコーディング人材の価値</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https://zenn.dev/bentenweb_fumi/articles/agddy4vzndlm</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2023年10月からバイブコーディングで生みだしたものらを振り返る</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https://zenn.dev/hurumoon/articles/c46b63de8a1a81</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意味は境界でなく「程度」で揺らぐ — LLMで中観の無自性を測る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https://zenn.dev/40ki/articles/0ead3a2bbf777a</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Fable 5を分析したら、定額のOpusでもかなり再現できた話</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https://qiita.com/udowanllc/items/02f94e77663db04ab1cd</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消したはずのフォルダを、AIが「修復しました」と直してくる — AIは環境の境界が見えない</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https://zenn.dev/idonthaveapen/articles/ai-cannot-see-environment-boundaries</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おかえりFable 5！ただし料金はOpusの2倍 ─ 財布を溶かさない使い方ガイド</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https://qiita.com/GeneLab_999/items/e6698c108afc982c6f1f</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スマホだけでAI脳になる！ 未経験でもAIと作るローカルLLM ～複数アプリ間のモデル共有と容量削減編～</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https://zenn.dev/kinotex/articles/b28a9c6dffabe0</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Google AI StudioでCloud SQLを使ったWebアプリケーションを開発する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https://qiita.com/satoshi-sugiyama/items/40b747a7e4a247187f29</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ローカルLLMに形式を守らせるなら「条件の説明」より「型の例示」? qwen3:8b に制約8種で確かめた</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https://zenn.dev/monteranakamu/articles/llm-exemplar-vs-instruction</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モデルは壊れる前提で設計する — 個人開発でLLM APIを使うときの3つの防御パターン</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https://zenn.dev/mediiiiium/articles/llm-provider-resilience-design</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RTX 4060(VRAM 8GB)でローカルLLMはどこまで使える? Ollama + qwen3:8b を25問実測</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https://zenn.dev/monteranakamu/articles/local-llm-8b-benchmark</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Claude Fable 5 を9Bモデルに蒸留？ 100万トークンの超長文推理モデル「Qwythos-9B」を4GBのVRAMで動かす</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https://zenn.dev/lumichy/articles/qwythos-9b-fable-5-2026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(4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Anthropic×ゲイツ財団2億ドル提携！AIは世界の格差を本当に救えるのか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https://qiita.com/kinamocchi_tech/items/2b6d8006507658fc9807</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「ふんわり要求 → 明確な課題」を作るとはどういうことか——clarify_to_mvp の動機と先行研究整理</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https://zenn.dev/little/articles/research-clarify-to-mvp-motivation</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マーガレット・アトウッドが語ったAIの「ゴミを入れればゴミが出る」：Claudeの誤答から考える生成AIの確かめ方</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https://qiita.com/quotidia/items/ca9348ac6cacf3ae91f1</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VITSから見るTTS 10系統マップ(2016–2026)</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https://zenn.dev/nnn112358/articles/tts-lineage-map-from-vits</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研究者のExcelを機械学習データに変換する——Power Query と pandas で学ぶ整然データ</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https://zenn.dev/efta1989/articles/excel-to-tidy-data-powerquery</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Fable5で深海ポートフォリオを作り、そのログをOpus 4.8に監査させた話</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https://zenn.dev/go5go69/articles/c202f4b2529298</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26-06-29</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https://qiita.com/masykot582/items/b21f1a1710162b61dfea</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生成AIに「SAM（Segment Anything）」を聞いてみた（クリックで任意の対象を切り抜く）</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https://zenn.dev/tkpurine/articles/segment-anything-sam</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同じプロンプトなのに答えの質がぶれる時、埋めるべきは指示ではなく前提だった</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https://zenn.dev/every_ai_recipe/articles/chatgpt-prompt-3-tips-better-answer</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営業ロープレを「AIが“顧客役”を演じる」形で作る ― 表情・感情・緊張度の可視化と、実装者が考えたこと</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https://qiita.com/kei_kawai_g/items/5534efe1f9dbeb44a601</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Google 検索グラウンディングを検証してみた 〜画像検索・Maps 対応と課金の注意点〜</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https://qiita.com/shun-aoki/items/ee2b63d170008464f9ac</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材料・化学データの特徴量設計——Pipeline によるデータリーク防止と Stability Selection</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https://zenn.dev/efta1989/articles/feature-selection-leak-for-materials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(5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2026年上半期 AIについての私見---トークンと企業のジレン(もう少しの我慢、耐えればきっとよくなる)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https://zenn.dev/faliye/articles/ffc8fe5c2708ef</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【第1回】ChatGPTをライターではなくインタビュアーにした話</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https://zenn.dev/genf740/articles/392c9702-a775-8114-b4ae-fbac290fdfcf</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Live Avatarを使ってプレゼン練習AIを作ってみた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https://qiita.com/s-kato-iret/items/3a55424a40f5c74eb725</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ノーコードでスプレッドシートが“操作できるアプリ”に。Gemini の Sheet Canvas が想像以上だった</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https://qiita.com/na-tamura/items/f7b6ea842c2995975a88</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iOS 27のLanguageModelプロトコルでClaudeもGeminiも差し替える</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https://qiita.com/okssusucha/items/2147bea0fdb1421d434c</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理学療法士がKaggleで脳卒中予測に挑戦した話③｜他の人のコードを読んでみた</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https://qiita.com/yanoathu0119/items/86783c2ca4e7704f80b6</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Kaggle「ROGII - Wellbore Geology Prediction」ベースライン実装まとめ（第1弾）</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https://qiita.com/rino_yume/items/63a209bc28b2c36a2f3f</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公共工事入札情報を毎日自動収集する「建設業データ基盤」を作っている話</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https://qiita.com/architectJapan/items/6a221982a5256c6bba5b</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[レビュー] Googleが6/30に公開したテーブルデータ用の基盤モデルTabFMは、信用でGBMに勝てるか。</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https://qiita.com/gksrlf3552/items/63e6bd170bd8fede2361</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生成AI初心者向け～業務で使う前に知っておきたい基本と注意点～</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https://qiita.com/masayasu_t/items/188fc60d664a08351f05</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動画生成AIのブレイクスルーは何か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https://qiita.com/xeje/items/6d4888b358e68e821d8c</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世界で最も長い時間思考するプロンプトは何か？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https://qiita.com/relu/items/9a5e54a15f70988e468d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(6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 は「次の一語を当てる機械」― 作って分かった AI の中身、ぜんぶ入り【一般版・完全版】</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https://qiita.com/furuse-kazufumi/items/f660b18890687cfd1ed0</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ＡＩが法律を読んで判断して楽になると思っていた話</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https://qiita.com/sanoy625/items/9f759a6c92307fe5bc70</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金融データサイエンス基礎Part 5. 順位付けだけでは足りません：信用モデル評価の三つの軸</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https://qiita.com/gksrlf3552/items/32cc1d026f03f13352f2</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回帰・生成・検索タスクの評価指標まとめ ― MSEからBLEU/ROUGE、MAP@Kまで</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https://qiita.com/shorie/items/51227f84a172fe51f39c</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テキストの数値化はどう進化したか ― BoW・TF-IDFからword2vecまで</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https://qiita.com/shorie/items/8637a82bf691c7d8459f</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自然言語処理はなぜ難しいのか ―「テキストを数値に変える」という視点から整理する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https://qiita.com/shorie/items/ee40d393a6c97913f4c7</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 PlusのProjectsだけでプログラミング言語を作り始めて早10週間</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https://zenn.dev/tkithrta/articles/565495606c522f</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定期預金の利息の計算をsympy,gas,libreCalc でGemini先生に教えてもらいました。</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https://qiita.com/mrrclb48z/items/7259fcb6b838016ae667</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AIに「引用される」とは何か — LLMO/AEOの仕組みと、AIに拾われるコンテンツ設計</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https://qiita.com/citadex/items/dc42ac055eb1b96d3c55</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「AIでサイトは作れたのに公開できない」を診断形式で解く無料ツールを作った</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https://zenn.dev/fieldward/articles/7fa9de3b1ce14a</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BigQueryの会話型分析を試したら、同じ質問でもGeminiの生成結果が変わった話</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https://qiita.com/y-miyake/items/6cbda67509b12bf50679</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26-06-26 GPT-5.6制限公開、評価の混迷</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https://qiita.com/masykot582/items/bc113f60456a6c57ff17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(7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AIの会話に、心地いい「間」を。 ── Gemini Live APIでAI同士のポッドキャストを作った話</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https://qiita.com/iwa0114/items/ab5b0a111ad94ff56771</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AnythingLLM、結局何が便利なのか。手元のWindows環境と保存先まで確認した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https://qiita.com/revolutionbyhiddenvalues/items/cdb96a67b37ce627d23c</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生成AI時代の非構造化データ管理はIT技術者の中核課題である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https://qiita.com/mhamadajp/items/2037828d60013574f41e</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「次世代の検索手法」を試したら、まさかの惨敗だった話</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https://qiita.com/pao0415/items/61b9504b9af067277221</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もし世界がAIに支配されたら? ——15日間、5つの箱庭に生まれた文明の記録</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https://qiita.com/yamamoto40293/items/770b123acd93d0b7d4ec</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生成AIにgit commitを頼むときのプロンプト</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https://qiita.com/torifukukaiou/items/d518184bbeb873901a65</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【生成AIに聞いてみた】どの生成AIに相談する？（2026年初夏編） 〜知識の鮮度から見る生成AIの違い〜</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https://zenn.dev/lawrap/articles/c6037315de610c</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なぜ、ChatGPTは、5.2⇒5.4がシリーズ最大の進化に見えるのか？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https://zenn.dev/pdfractal/articles/264b850f2b078c</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AIに要約を5回繰り返させたら、元の文章はどこまで崩壊するのか（Claude vs GPT比較）</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https://qiita.com/yoshinaga_slj/items/d243a77d295d021844fa</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GPTとまともな議論をするには、ちょっとした工夫が必要だった</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https://zenn.dev/taka4rest/articles/9c3d0b2e936fb6</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サッカー応援イラストをAI生成するプロンプト設計メモ</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https://qiita.com/Sato-310/items/821110f3048fb5ea69ca</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GEO（生成エンジン最適化）とは？AI検索時代にエンジニアが知るべき記事の書き方</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https://zenn.dev/slipway/articles/950740a65fa6fea7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(8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ChatGPTとClaudeの複数課金がキツいので、API持ち込み型のAI比較SaaSを個人開発した話</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https://zenn.dev/n9936951/articles/1de01ac080cbea</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最新LLMにプロンプトエンジニアリングは逆効果？ OpenAI・Anthropic・Googleの公式ガイドを読み解く</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https://qiita.com/dachshund129/items/4f428a3a048528fa2319</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3つのAIに毎日同じプロンプトをコピペするのをやめたくて、Chrome拡張を作った（PromptDeck）</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https://zenn.dev/startupjp1/articles/promptdeck-cross-model-extension</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定例の報告スライド、毎回ゼロから作っていませんか——状況シート1枚からLLMに「報告骨子」を作らせる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https://zenn.dev/mikimaro/articles/c826e93fb0cbe2</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ChatGPTImageで狙い通りの出力と、漫画のネタだしをするアプリ作成</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https://zenn.dev/tokumeishatyo/articles/155e11bcfb3786</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コラム：Claud AI-過剰セーフティガードがもたらす「道具としての予測可能性」の崩壊-2</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https://qiita.com/otoyo0318/items/e49020323b974867f0e3</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ChatGPTでフォーム回答を分析するプロンプトを業務用に分ける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https://qiita.com/lovanaut/items/529bcd57e78303cb4a10</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論文探索用プロンプト公開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https://qiita.com/kuranku817/items/3f63d8d7117f876c9bd1</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問い合わせ内容をAI分類するプロンプトとレビュー列の作り方</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https://qiita.com/lovanaut/items/3c47ffbf11bfc32ba05e</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コピペで使える エラー修正のAIプロンプト。初心者がまず覚える型と、そのまま使える例文集</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https://qiita.com/Rapls/items/cad780d91cf8e9b6e3c5</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AIへ入力する前に、ExcelとPythonで指定語句をローカル置換する方法</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https://qiita.com/kinoto-r/items/07faedf0388f0dd7468e</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LLMのプロンプト原則</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https://qiita.com/sasgawy/items/af8bd6fe02f5a5ec803d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(9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コラム：Claud AI-過剰セーフティガードがもたらす「道具としての予測可能性」の崩壊</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https://qiita.com/otoyo0318/items/b92103091ff69d585c7b</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Web上で公開される生成AIチャットボット5社の回答速度を比較！</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https://zenn.dev/sapolas/articles/7e36aca3347e06</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OpenAIとAnthropicが2026年6月12日に発表した内容から、企業のAI導入に必要な要素を整理します。</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https://zenn.dev/kenta_kadowaki/articles/56d3a502356202</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StableDiffusionでLoraを使う（コードから使う）</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https://zenn.dev/mlboydaisuke/articles/e56291d606e61348ff27</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AIが詐欺師に『かんぴょう巻き？』と言い始めた話——Claude Artifactで詐欺電話撃退デモアプリを20分で作った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https://zenn.dev/miki_mini/articles/f5a0b85f84bbd6</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自然言語によるLiveness Probe：/LPプロトコルを用いたAPI主導のLLM動的デバッグとセッション管理</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https://zenn.dev/nozmat/articles/e414ab808ebc1e</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普通の写真を一瞬で爆笑＆ノスタルジックな思い出に変える最強AIプロンプト3選</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https://zenn.dev/saturday/articles/97f0f577d40e14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