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ishikawa_slj/items/05ef8ef8609b9e33d4bb" TargetMode="External"/><Relationship Id="rId3" Type="http://schemas.openxmlformats.org/officeDocument/2006/relationships/hyperlink" Target="https://qiita.com/mhamadajp/items/109238062fd35db3e201" TargetMode="External"/><Relationship Id="rId4" Type="http://schemas.openxmlformats.org/officeDocument/2006/relationships/hyperlink" Target="https://qiita.com/Sudeepbhivajikedar/items/4171bd6297de906d0f2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NKKTechGlobal/items/4371b646b4427e21d2da" TargetMode="External"/><Relationship Id="rId3" Type="http://schemas.openxmlformats.org/officeDocument/2006/relationships/hyperlink" Target="https://qiita.com/DaokFrontier/items/3eb8341e39b46d8c4760" TargetMode="External"/><Relationship Id="rId4" Type="http://schemas.openxmlformats.org/officeDocument/2006/relationships/hyperlink" Target="https://qiita.com/keiichik_kk/items/b227e6ac89105e8c5512"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usa_rock/items/f0655389d520e0e238ff" TargetMode="External"/><Relationship Id="rId3" Type="http://schemas.openxmlformats.org/officeDocument/2006/relationships/hyperlink" Target="https://qiita.com/moonwalker/items/61fa726dc8473d908faa" TargetMode="External"/><Relationship Id="rId4" Type="http://schemas.openxmlformats.org/officeDocument/2006/relationships/hyperlink" Target="https://qiita.com/jqit_suwa/items/acb61138c4550eef480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alpine/articles/85565059b97ee9" TargetMode="External"/><Relationship Id="rId3" Type="http://schemas.openxmlformats.org/officeDocument/2006/relationships/hyperlink" Target="https://qiita.com/inoyu-qiita/items/71cac5d790eb08090551" TargetMode="External"/><Relationship Id="rId4" Type="http://schemas.openxmlformats.org/officeDocument/2006/relationships/hyperlink" Target="https://qiita.com/krcross/items/a915959282f9f047a367"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777atsushi/items/566b2fb3bb73fed14ed2" TargetMode="External"/><Relationship Id="rId3" Type="http://schemas.openxmlformats.org/officeDocument/2006/relationships/hyperlink" Target="https://qiita.com/mrrclb48z/items/2e631760e14a212b396f"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ishikawa_slj/items/05ef8ef8609b9e33d4bb" TargetMode="External"/><Relationship Id="rId3" Type="http://schemas.openxmlformats.org/officeDocument/2006/relationships/hyperlink" Target="https://qiita.com/mhamadajp/items/109238062fd35db3e201" TargetMode="External"/><Relationship Id="rId4" Type="http://schemas.openxmlformats.org/officeDocument/2006/relationships/hyperlink" Target="https://qiita.com/Sudeepbhivajikedar/items/4171bd6297de906d0f2e" TargetMode="External"/><Relationship Id="rId5" Type="http://schemas.openxmlformats.org/officeDocument/2006/relationships/hyperlink" Target="https://qiita.com/todiii/items/b18f0df1cd6b8462435b"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joinclass/articles/1-20260816220005-7966" TargetMode="External"/><Relationship Id="rId3" Type="http://schemas.openxmlformats.org/officeDocument/2006/relationships/hyperlink" Target="https://qiita.com/taka_yayoi/items/d72bf2aee859a5b879e9" TargetMode="External"/><Relationship Id="rId4" Type="http://schemas.openxmlformats.org/officeDocument/2006/relationships/hyperlink" Target="https://qiita.com/kamome_susume/items/305a18a0d462c50e2fc4" TargetMode="External"/><Relationship Id="rId5" Type="http://schemas.openxmlformats.org/officeDocument/2006/relationships/hyperlink" Target="https://qiita.com/Taj/items/b777c18a1e6921ef22d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NKKTechGlobal/items/4371b646b4427e21d2da" TargetMode="External"/><Relationship Id="rId3" Type="http://schemas.openxmlformats.org/officeDocument/2006/relationships/hyperlink" Target="https://qiita.com/DaokFrontier/items/3eb8341e39b46d8c4760" TargetMode="External"/><Relationship Id="rId4" Type="http://schemas.openxmlformats.org/officeDocument/2006/relationships/hyperlink" Target="https://qiita.com/keiichik_kk/items/b227e6ac89105e8c5512" TargetMode="External"/><Relationship Id="rId5" Type="http://schemas.openxmlformats.org/officeDocument/2006/relationships/hyperlink" Target="https://qiita.com/rootontech/items/7f2ac1cac4a2f04e4fd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rootontech/items/c1bf1b0259e3a0fa97f5" TargetMode="External"/><Relationship Id="rId3" Type="http://schemas.openxmlformats.org/officeDocument/2006/relationships/hyperlink" Target="https://qiita.com/rootontech/items/7eeec6b95ce509ff33a2" TargetMode="External"/><Relationship Id="rId4" Type="http://schemas.openxmlformats.org/officeDocument/2006/relationships/hyperlink" Target="https://qiita.com/shirok/items/6d67f981b547f181d644" TargetMode="External"/><Relationship Id="rId5" Type="http://schemas.openxmlformats.org/officeDocument/2006/relationships/hyperlink" Target="https://zenn.dev/albatrosary/articles/84b21877602fa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usa_rock/items/f0655389d520e0e238ff" TargetMode="External"/><Relationship Id="rId3" Type="http://schemas.openxmlformats.org/officeDocument/2006/relationships/hyperlink" Target="https://qiita.com/moonwalker/items/61fa726dc8473d908faa" TargetMode="External"/><Relationship Id="rId4" Type="http://schemas.openxmlformats.org/officeDocument/2006/relationships/hyperlink" Target="https://qiita.com/jqit_suwa/items/acb61138c4550eef4803" TargetMode="External"/><Relationship Id="rId5" Type="http://schemas.openxmlformats.org/officeDocument/2006/relationships/hyperlink" Target="https://qiita.com/Simon_Zhang/items/841b8f93f59aa20ced8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GeneLab_999/items/79e098834cd89681894d" TargetMode="External"/><Relationship Id="rId3" Type="http://schemas.openxmlformats.org/officeDocument/2006/relationships/hyperlink" Target="https://qiita.com/masykot582/items/4ac66083fd6f9781c91e" TargetMode="External"/><Relationship Id="rId4" Type="http://schemas.openxmlformats.org/officeDocument/2006/relationships/hyperlink" Target="https://qiita.com/kazuharu2022/items/99166ebe11c85b0e3454" TargetMode="External"/><Relationship Id="rId5" Type="http://schemas.openxmlformats.org/officeDocument/2006/relationships/hyperlink" Target="https://qiita.com/emptybaba/items/ac9bcd3dfd910f34c3d7"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alpine/articles/85565059b97ee9" TargetMode="External"/><Relationship Id="rId3" Type="http://schemas.openxmlformats.org/officeDocument/2006/relationships/hyperlink" Target="https://qiita.com/inoyu-qiita/items/71cac5d790eb08090551" TargetMode="External"/><Relationship Id="rId4" Type="http://schemas.openxmlformats.org/officeDocument/2006/relationships/hyperlink" Target="https://qiita.com/krcross/items/a915959282f9f047a367" TargetMode="External"/><Relationship Id="rId5" Type="http://schemas.openxmlformats.org/officeDocument/2006/relationships/hyperlink" Target="https://qiita.com/kenichiyoshioka/items/33eb43be044f7f19b1f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damadama0519-sketch/items/119a0c037b787b164b19" TargetMode="External"/><Relationship Id="rId3" Type="http://schemas.openxmlformats.org/officeDocument/2006/relationships/hyperlink" Target="https://qiita.com/Reotech/items/be25d4724ce4a79dc390" TargetMode="External"/><Relationship Id="rId4" Type="http://schemas.openxmlformats.org/officeDocument/2006/relationships/hyperlink" Target="https://qiita.com/HarmonicModeler/items/16ee10081ec4b058c929" TargetMode="External"/><Relationship Id="rId5" Type="http://schemas.openxmlformats.org/officeDocument/2006/relationships/hyperlink" Target="https://zenn.dev/mbk_digital/articles/4945c084b8694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777atsushi/items/566b2fb3bb73fed14ed2" TargetMode="External"/><Relationship Id="rId3" Type="http://schemas.openxmlformats.org/officeDocument/2006/relationships/hyperlink" Target="https://qiita.com/mrrclb48z/items/2e631760e14a212b396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Akiko_Miyamoto/items/4f28eb75891f23221e70" TargetMode="External"/><Relationship Id="rId3" Type="http://schemas.openxmlformats.org/officeDocument/2006/relationships/hyperlink" Target="https://qiita.com/bellx2/items/111d02772389afa8efb6" TargetMode="External"/><Relationship Id="rId4" Type="http://schemas.openxmlformats.org/officeDocument/2006/relationships/hyperlink" Target="https://qiita.com/akiralab/items/103d9831a97452668f9b" TargetMode="External"/><Relationship Id="rId5" Type="http://schemas.openxmlformats.org/officeDocument/2006/relationships/hyperlink" Target="https://qiita.com/vivinko/items/bdda0fcdeb53e45e5471" TargetMode="External"/><Relationship Id="rId6" Type="http://schemas.openxmlformats.org/officeDocument/2006/relationships/hyperlink" Target="https://qiita.com/eiri_ai/items/eaf0c01cdfc1707a78fe" TargetMode="External"/><Relationship Id="rId7" Type="http://schemas.openxmlformats.org/officeDocument/2006/relationships/hyperlink" Target="https://qiita.com/hokutoh/items/97c8838725735c57cf06" TargetMode="External"/><Relationship Id="rId8" Type="http://schemas.openxmlformats.org/officeDocument/2006/relationships/hyperlink" Target="https://qiita.com/Souken521/items/cc19041251e9dda8361d" TargetMode="External"/><Relationship Id="rId9" Type="http://schemas.openxmlformats.org/officeDocument/2006/relationships/hyperlink" Target="https://qiita.com/hironakamura_ai/items/b2358a740c361034bb8a" TargetMode="External"/><Relationship Id="rId10" Type="http://schemas.openxmlformats.org/officeDocument/2006/relationships/hyperlink" Target="https://qiita.com/mackey1966/items/10d4395b76561bb5e210" TargetMode="External"/><Relationship Id="rId11" Type="http://schemas.openxmlformats.org/officeDocument/2006/relationships/hyperlink" Target="https://qiita.com/pikafenger/items/04a173e0ec705577c51a" TargetMode="External"/><Relationship Id="rId12" Type="http://schemas.openxmlformats.org/officeDocument/2006/relationships/hyperlink" Target="https://qiita.com/pmc-ko/items/2433a398aa59c3633674" TargetMode="External"/><Relationship Id="rId13" Type="http://schemas.openxmlformats.org/officeDocument/2006/relationships/hyperlink" Target="https://qiita.com/h-nasu/items/d0b2601bb179a6cdd5eb"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lyr/items/47181de612154038769d" TargetMode="External"/><Relationship Id="rId3" Type="http://schemas.openxmlformats.org/officeDocument/2006/relationships/hyperlink" Target="https://qiita.com/kinamocchi_tech/items/0524507518ad77c55450" TargetMode="External"/><Relationship Id="rId4" Type="http://schemas.openxmlformats.org/officeDocument/2006/relationships/hyperlink" Target="https://qiita.com/shirube-lab/items/ec7d89391940e0f17058" TargetMode="External"/><Relationship Id="rId5" Type="http://schemas.openxmlformats.org/officeDocument/2006/relationships/hyperlink" Target="https://qiita.com/pich/items/b9c8656070c29583ccdd" TargetMode="External"/><Relationship Id="rId6" Type="http://schemas.openxmlformats.org/officeDocument/2006/relationships/hyperlink" Target="https://sixcolors.com/post/2026/08/llms-arent-writing/" TargetMode="External"/><Relationship Id="rId7" Type="http://schemas.openxmlformats.org/officeDocument/2006/relationships/hyperlink" Target="https://qiita.com/kazuharu2022/items/7bd8234c374ea01d2ec8" TargetMode="External"/><Relationship Id="rId8" Type="http://schemas.openxmlformats.org/officeDocument/2006/relationships/hyperlink" Target="https://lwn.net/Articles/1083275/" TargetMode="External"/><Relationship Id="rId9" Type="http://schemas.openxmlformats.org/officeDocument/2006/relationships/hyperlink" Target="https://git.cerberusgames.ca/Starstreak/PurgeHound/" TargetMode="External"/><Relationship Id="rId10" Type="http://schemas.openxmlformats.org/officeDocument/2006/relationships/hyperlink" Target="https://news.ycombinator.com/item?id=49342406" TargetMode="External"/><Relationship Id="rId11" Type="http://schemas.openxmlformats.org/officeDocument/2006/relationships/hyperlink" Target="https://qiita.com/Synthorai/items/878ef90071e0295a1f5f" TargetMode="External"/><Relationship Id="rId12" Type="http://schemas.openxmlformats.org/officeDocument/2006/relationships/hyperlink" Target="https://qiita.com/kuis/items/299df6c76fa3870aec69" TargetMode="External"/><Relationship Id="rId13" Type="http://schemas.openxmlformats.org/officeDocument/2006/relationships/hyperlink" Target="https://qiita.com/quotidia/items/4a2bd3428d342c72862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404media.co/show-how-3m-is-0-at-fault-expert-witness-used-chatgpt-to-write-report-defending-company-in-deadly-explosion-lawsuit/" TargetMode="External"/><Relationship Id="rId3" Type="http://schemas.openxmlformats.org/officeDocument/2006/relationships/hyperlink" Target="https://zenn.dev/mkj/articles/runpod-cost-optimization_20260724" TargetMode="External"/><Relationship Id="rId4" Type="http://schemas.openxmlformats.org/officeDocument/2006/relationships/hyperlink" Target="https://zenn.dev/nakanishitf/articles/bec3dc44dd1b65" TargetMode="External"/><Relationship Id="rId5" Type="http://schemas.openxmlformats.org/officeDocument/2006/relationships/hyperlink" Target="https://zenn.dev/talks_tldr_jp/articles/tldr25-majors-prediction" TargetMode="External"/><Relationship Id="rId6" Type="http://schemas.openxmlformats.org/officeDocument/2006/relationships/hyperlink" Target="https://zenn.dev/dhq_boiler/articles/9e9bda0c2d5dfd" TargetMode="External"/><Relationship Id="rId7" Type="http://schemas.openxmlformats.org/officeDocument/2006/relationships/hyperlink" Target="https://zenn.dev/mohhh_ok/articles/2026-08-luna-japanese-ranking" TargetMode="External"/><Relationship Id="rId8" Type="http://schemas.openxmlformats.org/officeDocument/2006/relationships/hyperlink" Target="https://qiita.com/maskot1977/items/32ea927727c693cff1cb" TargetMode="External"/><Relationship Id="rId9" Type="http://schemas.openxmlformats.org/officeDocument/2006/relationships/hyperlink" Target="https://zenn.dev/sikada/articles/devstory-rule-diet" TargetMode="External"/><Relationship Id="rId10" Type="http://schemas.openxmlformats.org/officeDocument/2006/relationships/hyperlink" Target="https://zenn.dev/abalol/articles/ef518139af593c" TargetMode="External"/><Relationship Id="rId11" Type="http://schemas.openxmlformats.org/officeDocument/2006/relationships/hyperlink" Target="https://qiita.com/0903osa/items/e9f2dc5906c9c0ac635c" TargetMode="External"/><Relationship Id="rId12" Type="http://schemas.openxmlformats.org/officeDocument/2006/relationships/hyperlink" Target="https://qiita.com/asayan_mana/items/dd33e421e3cccc0430b1" TargetMode="External"/><Relationship Id="rId13" Type="http://schemas.openxmlformats.org/officeDocument/2006/relationships/hyperlink" Target="https://openrouter.ai/openai/gpt-5.6-so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rrclb48z/items/9a6c5aa6f48d4b85093b" TargetMode="External"/><Relationship Id="rId3" Type="http://schemas.openxmlformats.org/officeDocument/2006/relationships/hyperlink" Target="https://qiita.com/terurl/items/42f8ca935e30888fdbd1" TargetMode="External"/><Relationship Id="rId4" Type="http://schemas.openxmlformats.org/officeDocument/2006/relationships/hyperlink" Target="https://zenn.dev/satoshiakiyama/articles/fa3ac9ac64cc93" TargetMode="External"/><Relationship Id="rId5" Type="http://schemas.openxmlformats.org/officeDocument/2006/relationships/hyperlink" Target="https://zenn.dev/flip451/articles/sotohe-semantic-gate" TargetMode="External"/><Relationship Id="rId6" Type="http://schemas.openxmlformats.org/officeDocument/2006/relationships/hyperlink" Target="https://speko.ai/" TargetMode="External"/><Relationship Id="rId7" Type="http://schemas.openxmlformats.org/officeDocument/2006/relationships/hyperlink" Target="https://zenn.dev/suwash/articles/openai-web-computer-history-p2_20260815" TargetMode="External"/><Relationship Id="rId8" Type="http://schemas.openxmlformats.org/officeDocument/2006/relationships/hyperlink" Target="https://qiita.com/uni928/items/aafeb5fd51aadc29f9d8" TargetMode="External"/><Relationship Id="rId9" Type="http://schemas.openxmlformats.org/officeDocument/2006/relationships/hyperlink" Target="https://qiita.com/maskot1977/items/58214aaa5c08ffb32193" TargetMode="External"/><Relationship Id="rId10" Type="http://schemas.openxmlformats.org/officeDocument/2006/relationships/hyperlink" Target="https://blog.roboflow.com/openai-gpt-5-6/" TargetMode="External"/><Relationship Id="rId11" Type="http://schemas.openxmlformats.org/officeDocument/2006/relationships/hyperlink" Target="https://qiita.com/micomia/items/b4303b25e4679630a7bc" TargetMode="External"/><Relationship Id="rId12" Type="http://schemas.openxmlformats.org/officeDocument/2006/relationships/hyperlink" Target="https://qiita.com/i_aki0110/items/bd586a9053215509d805" TargetMode="External"/><Relationship Id="rId13" Type="http://schemas.openxmlformats.org/officeDocument/2006/relationships/hyperlink" Target="https://qiita.com/yukihayama/items/1350de719d30d995b66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asykot582/items/9ce6f10eb31637065a7f" TargetMode="External"/><Relationship Id="rId3" Type="http://schemas.openxmlformats.org/officeDocument/2006/relationships/hyperlink" Target="https://qiita.com/kazuharu2022/items/b0c45ff57c4f639a609c" TargetMode="External"/><Relationship Id="rId4" Type="http://schemas.openxmlformats.org/officeDocument/2006/relationships/hyperlink" Target="https://zenn.dev/kotakotahiro/articles/28b4f169d7ee5b" TargetMode="External"/><Relationship Id="rId5" Type="http://schemas.openxmlformats.org/officeDocument/2006/relationships/hyperlink" Target="https://qiita.com/Reotech/items/8df27c15430b35b97cad" TargetMode="External"/><Relationship Id="rId6" Type="http://schemas.openxmlformats.org/officeDocument/2006/relationships/hyperlink" Target="https://zenn.dev/upgradetech/articles/962c9d557465b2" TargetMode="External"/><Relationship Id="rId7" Type="http://schemas.openxmlformats.org/officeDocument/2006/relationships/hyperlink" Target="https://qiita.com/moharamo/items/407c057bb315d59da8af" TargetMode="External"/><Relationship Id="rId8" Type="http://schemas.openxmlformats.org/officeDocument/2006/relationships/hyperlink" Target="https://qiita.com/kazuharu2022/items/9b6f2c5b00627ea64af9" TargetMode="External"/><Relationship Id="rId9" Type="http://schemas.openxmlformats.org/officeDocument/2006/relationships/hyperlink" Target="https://qiita.com/kuis/items/69f71d014be33d82cac4" TargetMode="External"/><Relationship Id="rId10" Type="http://schemas.openxmlformats.org/officeDocument/2006/relationships/hyperlink" Target="https://zenn.dev/paseri_kurosawa/articles/2486fc3766b201" TargetMode="External"/><Relationship Id="rId11" Type="http://schemas.openxmlformats.org/officeDocument/2006/relationships/hyperlink" Target="https://zenn.dev/every_ai_recipe/articles/ai-model-check-3-steps" TargetMode="External"/><Relationship Id="rId12" Type="http://schemas.openxmlformats.org/officeDocument/2006/relationships/hyperlink" Target="https://qiita.com/mrrclb48z/items/7f6c8bc6d69f63a20fb4" TargetMode="External"/><Relationship Id="rId13" Type="http://schemas.openxmlformats.org/officeDocument/2006/relationships/hyperlink" Target="https://qiita.com/hase-k0x01/items/1980764fe9c694b6fd77"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ocrjp/articles/c8ccf7c1c4ee82" TargetMode="External"/><Relationship Id="rId3" Type="http://schemas.openxmlformats.org/officeDocument/2006/relationships/hyperlink" Target="https://zenn.dev/shige111111324/articles/c27df84f5fff95" TargetMode="External"/><Relationship Id="rId4" Type="http://schemas.openxmlformats.org/officeDocument/2006/relationships/hyperlink" Target="https://qiita.com/s_horikoshi/items/22804dfa955e2ce46255" TargetMode="External"/><Relationship Id="rId5" Type="http://schemas.openxmlformats.org/officeDocument/2006/relationships/hyperlink" Target="https://zenn.dev/todesking/articles/d23fd40b319388" TargetMode="External"/><Relationship Id="rId6" Type="http://schemas.openxmlformats.org/officeDocument/2006/relationships/hyperlink" Target="https://zenn.dev/nishimo/articles/m365-apps-excel-chatgpt-addin" TargetMode="External"/><Relationship Id="rId7" Type="http://schemas.openxmlformats.org/officeDocument/2006/relationships/hyperlink" Target="https://zenn.dev/libercraft/articles/20260816-tabpfn-v2-5-vs-gbdt" TargetMode="External"/><Relationship Id="rId8" Type="http://schemas.openxmlformats.org/officeDocument/2006/relationships/hyperlink" Target="https://qiita.com/io0323/items/13ed440ae2282311f49f" TargetMode="External"/><Relationship Id="rId9" Type="http://schemas.openxmlformats.org/officeDocument/2006/relationships/hyperlink" Target="https://qiita.com/YuukiYoshida/items/a36aef013f2b486642fb" TargetMode="External"/><Relationship Id="rId10" Type="http://schemas.openxmlformats.org/officeDocument/2006/relationships/hyperlink" Target="https://qiita.com/YuukiYoshida/items/68aa14df457be0eea1c6" TargetMode="External"/><Relationship Id="rId11" Type="http://schemas.openxmlformats.org/officeDocument/2006/relationships/hyperlink" Target="https://qiita.com/sutaminajing40/items/4aca440dfaf01cc989a6" TargetMode="External"/><Relationship Id="rId12" Type="http://schemas.openxmlformats.org/officeDocument/2006/relationships/hyperlink" Target="https://zenn.dev/wasurenamemo/articles/b56c8c73b44add" TargetMode="External"/><Relationship Id="rId13" Type="http://schemas.openxmlformats.org/officeDocument/2006/relationships/hyperlink" Target="https://zenn.dev/m2yagyu/articles/llm-hallucination-confidenc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efta1989/articles/cleansing-order-bdl-for-materials" TargetMode="External"/><Relationship Id="rId3" Type="http://schemas.openxmlformats.org/officeDocument/2006/relationships/hyperlink" Target="https://zenn.dev/kairosai/articles/9bd3f257e61640" TargetMode="External"/><Relationship Id="rId4" Type="http://schemas.openxmlformats.org/officeDocument/2006/relationships/hyperlink" Target="https://qiita.com/io0323/items/cf840c2857c8df39ec99" TargetMode="External"/><Relationship Id="rId5" Type="http://schemas.openxmlformats.org/officeDocument/2006/relationships/hyperlink" Target="https://zenn.dev/every_ai_recipe/articles/ai-memory-work-mode-settings" TargetMode="External"/><Relationship Id="rId6" Type="http://schemas.openxmlformats.org/officeDocument/2006/relationships/hyperlink" Target="https://zenn.dev/chalcedony/articles/892dd57656c2b4" TargetMode="External"/><Relationship Id="rId7" Type="http://schemas.openxmlformats.org/officeDocument/2006/relationships/hyperlink" Target="https://zenn.dev/id774/articles/ec528731c19d05" TargetMode="External"/><Relationship Id="rId8" Type="http://schemas.openxmlformats.org/officeDocument/2006/relationships/hyperlink" Target="https://qiita.com/Skillsheet-Port/items/0ea38eeebb9b94dc708e" TargetMode="External"/><Relationship Id="rId9" Type="http://schemas.openxmlformats.org/officeDocument/2006/relationships/hyperlink" Target="https://engineering.myhoai.com/posts/a-simple-fix-for-llm-tail-latency/" TargetMode="External"/><Relationship Id="rId10" Type="http://schemas.openxmlformats.org/officeDocument/2006/relationships/hyperlink" Target="https://qiita.com/ramutarafarm/items/3625867c29a869e9f94d" TargetMode="External"/><Relationship Id="rId11" Type="http://schemas.openxmlformats.org/officeDocument/2006/relationships/hyperlink" Target="https://qiita.com/Rapls/items/8acc4aa395b04c184e96" TargetMode="External"/><Relationship Id="rId12" Type="http://schemas.openxmlformats.org/officeDocument/2006/relationships/hyperlink" Target="https://qiita.com/Skillsheet-Port/items/4cd692961ed03421b794" TargetMode="External"/><Relationship Id="rId13" Type="http://schemas.openxmlformats.org/officeDocument/2006/relationships/hyperlink" Target="https://zenn.dev/jinfuroi/articles/b2e3c2c66f7d7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asa1113/items/a5093e0c5cd81ff56e10" TargetMode="External"/><Relationship Id="rId3" Type="http://schemas.openxmlformats.org/officeDocument/2006/relationships/hyperlink" Target="https://qiita.com/emuyn/items/4379a56943d36d20ef02" TargetMode="External"/><Relationship Id="rId4" Type="http://schemas.openxmlformats.org/officeDocument/2006/relationships/hyperlink" Target="https://zenn.dev/hajimeteradio3/articles/c710f3020097ae" TargetMode="External"/><Relationship Id="rId5" Type="http://schemas.openxmlformats.org/officeDocument/2006/relationships/hyperlink" Target="https://zenn.dev/jinfuroi/articles/f5ee4abc096810" TargetMode="External"/><Relationship Id="rId6" Type="http://schemas.openxmlformats.org/officeDocument/2006/relationships/hyperlink" Target="https://qiita.com/AlexAlex/items/553b864dd25c0ce81adb" TargetMode="External"/><Relationship Id="rId7" Type="http://schemas.openxmlformats.org/officeDocument/2006/relationships/hyperlink" Target="https://qiita.com/Yukidarusan/items/334a22d80a482e70e914" TargetMode="External"/><Relationship Id="rId8" Type="http://schemas.openxmlformats.org/officeDocument/2006/relationships/hyperlink" Target="https://qiita.com/moname_ai/items/b665e51fb6f754bc768b" TargetMode="External"/><Relationship Id="rId9" Type="http://schemas.openxmlformats.org/officeDocument/2006/relationships/hyperlink" Target="https://qiita.com/ha-te/items/0b0bd40a8806572743c8" TargetMode="External"/><Relationship Id="rId10" Type="http://schemas.openxmlformats.org/officeDocument/2006/relationships/hyperlink" Target="https://qiita.com/ha-te/items/a477099b8255f58c12be" TargetMode="External"/><Relationship Id="rId11" Type="http://schemas.openxmlformats.org/officeDocument/2006/relationships/hyperlink" Target="https://zenn.dev/sapolas/articles/7e36aca3347e06" TargetMode="External"/><Relationship Id="rId12" Type="http://schemas.openxmlformats.org/officeDocument/2006/relationships/hyperlink" Target="https://zenn.dev/kenta_kadowaki/articles/56d3a5023562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88952" cy="54864"/>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1371600"/>
          </a:xfrm>
          <a:prstGeom prst="rect">
            <a:avLst/>
          </a:prstGeom>
          <a:noFill/>
        </p:spPr>
        <p:txBody>
          <a:bodyPr wrap="square">
            <a:spAutoFit/>
          </a:bodyPr>
          <a:lstStyle/>
          <a:p>
            <a:pPr algn="ctr"/>
            <a:r>
              <a:rPr sz="4400" b="1">
                <a:solidFill>
                  <a:srgbClr val="FFFFFF"/>
                </a:solidFill>
              </a:rPr>
              <a:t>AI ニュース日報</a:t>
            </a:r>
          </a:p>
        </p:txBody>
      </p:sp>
      <p:sp>
        <p:nvSpPr>
          <p:cNvPr id="5" name="TextBox 4"/>
          <p:cNvSpPr txBox="1"/>
          <p:nvPr/>
        </p:nvSpPr>
        <p:spPr>
          <a:xfrm>
            <a:off x="731520" y="2743200"/>
            <a:ext cx="10698480" cy="640080"/>
          </a:xfrm>
          <a:prstGeom prst="rect">
            <a:avLst/>
          </a:prstGeom>
          <a:noFill/>
        </p:spPr>
        <p:txBody>
          <a:bodyPr wrap="square">
            <a:spAutoFit/>
          </a:bodyPr>
          <a:lstStyle/>
          <a:p>
            <a:pPr algn="ctr"/>
            <a:r>
              <a:rPr sz="2200" b="0">
                <a:solidFill>
                  <a:srgbClr val="AED6F1"/>
                </a:solidFill>
              </a:rPr>
              <a:t>2026-08-18</a:t>
            </a:r>
          </a:p>
        </p:txBody>
      </p:sp>
      <p:sp>
        <p:nvSpPr>
          <p:cNvPr id="6" name="TextBox 5"/>
          <p:cNvSpPr txBox="1"/>
          <p:nvPr/>
        </p:nvSpPr>
        <p:spPr>
          <a:xfrm>
            <a:off x="731520" y="3474720"/>
            <a:ext cx="10698480" cy="548640"/>
          </a:xfrm>
          <a:prstGeom prst="rect">
            <a:avLst/>
          </a:prstGeom>
          <a:noFill/>
        </p:spPr>
        <p:txBody>
          <a:bodyPr wrap="square">
            <a:spAutoFit/>
          </a:bodyPr>
          <a:lstStyle/>
          <a:p>
            <a:pPr algn="ctr"/>
            <a:r>
              <a:rPr sz="1800" b="0">
                <a:solidFill>
                  <a:srgbClr val="85C1E9"/>
                </a:solidFill>
              </a:rPr>
              <a:t>総収集記事数：209 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100584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1430000" cy="777240"/>
          </a:xfrm>
          <a:prstGeom prst="rect">
            <a:avLst/>
          </a:prstGeom>
          <a:noFill/>
        </p:spPr>
        <p:txBody>
          <a:bodyPr wrap="square">
            <a:spAutoFit/>
          </a:bodyPr>
          <a:lstStyle/>
          <a:p>
            <a:pPr algn="l"/>
            <a:r>
              <a:rPr sz="2600" b="1">
                <a:solidFill>
                  <a:srgbClr val="FFFFFF"/>
                </a:solidFill>
              </a:rPr>
              <a:t>本日のテーマ別サマリー</a:t>
            </a:r>
          </a:p>
        </p:txBody>
      </p:sp>
      <p:graphicFrame>
        <p:nvGraphicFramePr>
          <p:cNvPr id="6" name="Table 5"/>
          <p:cNvGraphicFramePr>
            <a:graphicFrameLocks noGrp="1"/>
          </p:cNvGraphicFramePr>
          <p:nvPr/>
        </p:nvGraphicFramePr>
        <p:xfrm>
          <a:off x="1371600" y="1554480"/>
          <a:ext cx="9418320" cy="4754880"/>
        </p:xfrm>
        <a:graphic>
          <a:graphicData uri="http://schemas.openxmlformats.org/drawingml/2006/table">
            <a:tbl>
              <a:tblPr firstRow="1" bandRow="1">
                <a:tableStyleId>{5C22544A-7EE6-4342-B048-85BDC9FD1C3A}</a:tableStyleId>
              </a:tblPr>
              <a:tblGrid>
                <a:gridCol w="5760720"/>
                <a:gridCol w="1737360"/>
                <a:gridCol w="1920240"/>
              </a:tblGrid>
              <a:tr h="594360">
                <a:tc>
                  <a:txBody>
                    <a:bodyPr/>
                    <a:lstStyle/>
                    <a:p>
                      <a:pPr algn="l"/>
                      <a:r>
                        <a:rPr sz="1100" b="1">
                          <a:solidFill>
                            <a:srgbClr val="FFFFFF"/>
                          </a:solidFill>
                        </a:rPr>
                        <a:t>テーマ</a:t>
                      </a:r>
                    </a:p>
                  </a:txBody>
                  <a:tcPr>
                    <a:solidFill>
                      <a:srgbClr val="233C5F"/>
                    </a:solidFill>
                  </a:tcPr>
                </a:tc>
                <a:tc>
                  <a:txBody>
                    <a:bodyPr/>
                    <a:lstStyle/>
                    <a:p>
                      <a:pPr algn="ctr"/>
                      <a:r>
                        <a:rPr sz="1100" b="1">
                          <a:solidFill>
                            <a:srgbClr val="FFFFFF"/>
                          </a:solidFill>
                        </a:rPr>
                        <a:t>件数</a:t>
                      </a:r>
                    </a:p>
                  </a:txBody>
                  <a:tcPr>
                    <a:solidFill>
                      <a:srgbClr val="233C5F"/>
                    </a:solidFill>
                  </a:tcPr>
                </a:tc>
                <a:tc>
                  <a:txBody>
                    <a:bodyPr/>
                    <a:lstStyle/>
                    <a:p>
                      <a:pPr algn="ctr"/>
                      <a:r>
                        <a:rPr sz="1100" b="1">
                          <a:solidFill>
                            <a:srgbClr val="FFFFFF"/>
                          </a:solidFill>
                        </a:rPr>
                        <a:t>割合</a:t>
                      </a:r>
                    </a:p>
                  </a:txBody>
                  <a:tcPr>
                    <a:solidFill>
                      <a:srgbClr val="233C5F"/>
                    </a:solidFill>
                  </a:tcPr>
                </a:tc>
              </a:tr>
              <a:tr h="594360">
                <a:tc>
                  <a:txBody>
                    <a:bodyPr/>
                    <a:lstStyle/>
                    <a:p>
                      <a:pPr algn="l"/>
                      <a:r>
                        <a:rPr sz="1200" b="0">
                          <a:solidFill>
                            <a:srgbClr val="D0E4F7"/>
                          </a:solidFill>
                        </a:rPr>
                        <a:t>● IT運用・自動化</a:t>
                      </a:r>
                    </a:p>
                  </a:txBody>
                  <a:tcPr>
                    <a:solidFill>
                      <a:srgbClr val="1E2D47"/>
                    </a:solidFill>
                  </a:tcPr>
                </a:tc>
                <a:tc>
                  <a:txBody>
                    <a:bodyPr/>
                    <a:lstStyle/>
                    <a:p>
                      <a:pPr algn="ctr"/>
                      <a:r>
                        <a:rPr sz="1200" b="0">
                          <a:solidFill>
                            <a:srgbClr val="E74C3C"/>
                          </a:solidFill>
                        </a:rPr>
                        <a:t>14 件</a:t>
                      </a:r>
                    </a:p>
                  </a:txBody>
                  <a:tcPr>
                    <a:solidFill>
                      <a:srgbClr val="1E2D47"/>
                    </a:solidFill>
                  </a:tcPr>
                </a:tc>
                <a:tc>
                  <a:txBody>
                    <a:bodyPr/>
                    <a:lstStyle/>
                    <a:p>
                      <a:pPr algn="ctr"/>
                      <a:r>
                        <a:rPr sz="1200" b="0">
                          <a:solidFill>
                            <a:srgbClr val="D0E4F7"/>
                          </a:solidFill>
                        </a:rPr>
                        <a:t>5.5%</a:t>
                      </a:r>
                    </a:p>
                  </a:txBody>
                  <a:tcPr>
                    <a:solidFill>
                      <a:srgbClr val="1E2D47"/>
                    </a:solidFill>
                  </a:tcPr>
                </a:tc>
              </a:tr>
              <a:tr h="594360">
                <a:tc>
                  <a:txBody>
                    <a:bodyPr/>
                    <a:lstStyle/>
                    <a:p>
                      <a:pPr algn="l"/>
                      <a:r>
                        <a:rPr sz="1200" b="0">
                          <a:solidFill>
                            <a:srgbClr val="D0E4F7"/>
                          </a:solidFill>
                        </a:rPr>
                        <a:t>● RAG・検索基盤設計</a:t>
                      </a:r>
                    </a:p>
                  </a:txBody>
                  <a:tcPr>
                    <a:solidFill>
                      <a:srgbClr val="162238"/>
                    </a:solidFill>
                  </a:tcPr>
                </a:tc>
                <a:tc>
                  <a:txBody>
                    <a:bodyPr/>
                    <a:lstStyle/>
                    <a:p>
                      <a:pPr algn="ctr"/>
                      <a:r>
                        <a:rPr sz="1200" b="0">
                          <a:solidFill>
                            <a:srgbClr val="2980B9"/>
                          </a:solidFill>
                        </a:rPr>
                        <a:t>40 件</a:t>
                      </a:r>
                    </a:p>
                  </a:txBody>
                  <a:tcPr>
                    <a:solidFill>
                      <a:srgbClr val="162238"/>
                    </a:solidFill>
                  </a:tcPr>
                </a:tc>
                <a:tc>
                  <a:txBody>
                    <a:bodyPr/>
                    <a:lstStyle/>
                    <a:p>
                      <a:pPr algn="ctr"/>
                      <a:r>
                        <a:rPr sz="1200" b="0">
                          <a:solidFill>
                            <a:srgbClr val="D0E4F7"/>
                          </a:solidFill>
                        </a:rPr>
                        <a:t>15.8%</a:t>
                      </a:r>
                    </a:p>
                  </a:txBody>
                  <a:tcPr>
                    <a:solidFill>
                      <a:srgbClr val="162238"/>
                    </a:solidFill>
                  </a:tcPr>
                </a:tc>
              </a:tr>
              <a:tr h="594360">
                <a:tc>
                  <a:txBody>
                    <a:bodyPr/>
                    <a:lstStyle/>
                    <a:p>
                      <a:pPr algn="l"/>
                      <a:r>
                        <a:rPr sz="1200" b="0">
                          <a:solidFill>
                            <a:srgbClr val="D0E4F7"/>
                          </a:solidFill>
                        </a:rPr>
                        <a:t>● AIエージェント開発・運用</a:t>
                      </a:r>
                    </a:p>
                  </a:txBody>
                  <a:tcPr>
                    <a:solidFill>
                      <a:srgbClr val="1E2D47"/>
                    </a:solidFill>
                  </a:tcPr>
                </a:tc>
                <a:tc>
                  <a:txBody>
                    <a:bodyPr/>
                    <a:lstStyle/>
                    <a:p>
                      <a:pPr algn="ctr"/>
                      <a:r>
                        <a:rPr sz="1200" b="0">
                          <a:solidFill>
                            <a:srgbClr val="8439AD"/>
                          </a:solidFill>
                        </a:rPr>
                        <a:t>76 件</a:t>
                      </a:r>
                    </a:p>
                  </a:txBody>
                  <a:tcPr>
                    <a:solidFill>
                      <a:srgbClr val="1E2D47"/>
                    </a:solidFill>
                  </a:tcPr>
                </a:tc>
                <a:tc>
                  <a:txBody>
                    <a:bodyPr/>
                    <a:lstStyle/>
                    <a:p>
                      <a:pPr algn="ctr"/>
                      <a:r>
                        <a:rPr sz="1200" b="0">
                          <a:solidFill>
                            <a:srgbClr val="D0E4F7"/>
                          </a:solidFill>
                        </a:rPr>
                        <a:t>30.0%</a:t>
                      </a:r>
                    </a:p>
                  </a:txBody>
                  <a:tcPr>
                    <a:solidFill>
                      <a:srgbClr val="1E2D47"/>
                    </a:solidFill>
                  </a:tcPr>
                </a:tc>
              </a:tr>
              <a:tr h="594360">
                <a:tc>
                  <a:txBody>
                    <a:bodyPr/>
                    <a:lstStyle/>
                    <a:p>
                      <a:pPr algn="l"/>
                      <a:r>
                        <a:rPr sz="1200" b="0">
                          <a:solidFill>
                            <a:srgbClr val="D0E4F7"/>
                          </a:solidFill>
                        </a:rPr>
                        <a:t>● 生成AI活用の現場実践・他社事例</a:t>
                      </a:r>
                    </a:p>
                  </a:txBody>
                  <a:tcPr>
                    <a:solidFill>
                      <a:srgbClr val="162238"/>
                    </a:solidFill>
                  </a:tcPr>
                </a:tc>
                <a:tc>
                  <a:txBody>
                    <a:bodyPr/>
                    <a:lstStyle/>
                    <a:p>
                      <a:pPr algn="ctr"/>
                      <a:r>
                        <a:rPr sz="1200" b="0">
                          <a:solidFill>
                            <a:srgbClr val="27AE60"/>
                          </a:solidFill>
                        </a:rPr>
                        <a:t>23 件</a:t>
                      </a:r>
                    </a:p>
                  </a:txBody>
                  <a:tcPr>
                    <a:solidFill>
                      <a:srgbClr val="162238"/>
                    </a:solidFill>
                  </a:tcPr>
                </a:tc>
                <a:tc>
                  <a:txBody>
                    <a:bodyPr/>
                    <a:lstStyle/>
                    <a:p>
                      <a:pPr algn="ctr"/>
                      <a:r>
                        <a:rPr sz="1200" b="0">
                          <a:solidFill>
                            <a:srgbClr val="D0E4F7"/>
                          </a:solidFill>
                        </a:rPr>
                        <a:t>9.1%</a:t>
                      </a:r>
                    </a:p>
                  </a:txBody>
                  <a:tcPr>
                    <a:solidFill>
                      <a:srgbClr val="162238"/>
                    </a:solidFill>
                  </a:tcPr>
                </a:tc>
              </a:tr>
              <a:tr h="594360">
                <a:tc>
                  <a:txBody>
                    <a:bodyPr/>
                    <a:lstStyle/>
                    <a:p>
                      <a:pPr algn="l"/>
                      <a:r>
                        <a:rPr sz="1200" b="0">
                          <a:solidFill>
                            <a:srgbClr val="D0E4F7"/>
                          </a:solidFill>
                        </a:rPr>
                        <a:t>● AIガバナンス・セキュリティ・社内ルール</a:t>
                      </a:r>
                    </a:p>
                  </a:txBody>
                  <a:tcPr>
                    <a:solidFill>
                      <a:srgbClr val="1E2D47"/>
                    </a:solidFill>
                  </a:tcPr>
                </a:tc>
                <a:tc>
                  <a:txBody>
                    <a:bodyPr/>
                    <a:lstStyle/>
                    <a:p>
                      <a:pPr algn="ctr"/>
                      <a:r>
                        <a:rPr sz="1200" b="0">
                          <a:solidFill>
                            <a:srgbClr val="E67E22"/>
                          </a:solidFill>
                        </a:rPr>
                        <a:t>5 件</a:t>
                      </a:r>
                    </a:p>
                  </a:txBody>
                  <a:tcPr>
                    <a:solidFill>
                      <a:srgbClr val="1E2D47"/>
                    </a:solidFill>
                  </a:tcPr>
                </a:tc>
                <a:tc>
                  <a:txBody>
                    <a:bodyPr/>
                    <a:lstStyle/>
                    <a:p>
                      <a:pPr algn="ctr"/>
                      <a:r>
                        <a:rPr sz="1200" b="0">
                          <a:solidFill>
                            <a:srgbClr val="D0E4F7"/>
                          </a:solidFill>
                        </a:rPr>
                        <a:t>2.0%</a:t>
                      </a:r>
                    </a:p>
                  </a:txBody>
                  <a:tcPr>
                    <a:solidFill>
                      <a:srgbClr val="1E2D47"/>
                    </a:solidFill>
                  </a:tcPr>
                </a:tc>
              </a:tr>
              <a:tr h="594360">
                <a:tc>
                  <a:txBody>
                    <a:bodyPr/>
                    <a:lstStyle/>
                    <a:p>
                      <a:pPr algn="l"/>
                      <a:r>
                        <a:rPr sz="1200" b="0">
                          <a:solidFill>
                            <a:srgbClr val="D0E4F7"/>
                          </a:solidFill>
                        </a:rPr>
                        <a:t>● その他</a:t>
                      </a:r>
                    </a:p>
                  </a:txBody>
                  <a:tcPr>
                    <a:solidFill>
                      <a:srgbClr val="162238"/>
                    </a:solidFill>
                  </a:tcPr>
                </a:tc>
                <a:tc>
                  <a:txBody>
                    <a:bodyPr/>
                    <a:lstStyle/>
                    <a:p>
                      <a:pPr algn="ctr"/>
                      <a:r>
                        <a:rPr sz="1200" b="0">
                          <a:solidFill>
                            <a:srgbClr val="7F8C8D"/>
                          </a:solidFill>
                        </a:rPr>
                        <a:t>95 件</a:t>
                      </a:r>
                    </a:p>
                  </a:txBody>
                  <a:tcPr>
                    <a:solidFill>
                      <a:srgbClr val="162238"/>
                    </a:solidFill>
                  </a:tcPr>
                </a:tc>
                <a:tc>
                  <a:txBody>
                    <a:bodyPr/>
                    <a:lstStyle/>
                    <a:p>
                      <a:pPr algn="ctr"/>
                      <a:r>
                        <a:rPr sz="1200" b="0">
                          <a:solidFill>
                            <a:srgbClr val="D0E4F7"/>
                          </a:solidFill>
                        </a:rPr>
                        <a:t>37.5%</a:t>
                      </a:r>
                    </a:p>
                  </a:txBody>
                  <a:tcPr>
                    <a:solidFill>
                      <a:srgbClr val="162238"/>
                    </a:solidFill>
                  </a:tcPr>
                </a:tc>
              </a:tr>
              <a:tr h="594360">
                <a:tc>
                  <a:txBody>
                    <a:bodyPr/>
                    <a:lstStyle/>
                    <a:p>
                      <a:pPr algn="l"/>
                      <a:r>
                        <a:rPr sz="1200" b="1">
                          <a:solidFill>
                            <a:srgbClr val="FFFFFF"/>
                          </a:solidFill>
                        </a:rPr>
                        <a:t>合計</a:t>
                      </a:r>
                    </a:p>
                  </a:txBody>
                  <a:tcPr>
                    <a:solidFill>
                      <a:srgbClr val="2D405C"/>
                    </a:solidFill>
                  </a:tcPr>
                </a:tc>
                <a:tc>
                  <a:txBody>
                    <a:bodyPr/>
                    <a:lstStyle/>
                    <a:p>
                      <a:pPr algn="ctr"/>
                      <a:r>
                        <a:rPr sz="1200" b="1">
                          <a:solidFill>
                            <a:srgbClr val="FFFFFF"/>
                          </a:solidFill>
                        </a:rPr>
                        <a:t>253 件</a:t>
                      </a:r>
                    </a:p>
                  </a:txBody>
                  <a:tcPr>
                    <a:solidFill>
                      <a:srgbClr val="2D405C"/>
                    </a:solidFill>
                  </a:tcPr>
                </a:tc>
                <a:tc>
                  <a:txBody>
                    <a:bodyPr/>
                    <a:lstStyle/>
                    <a:p>
                      <a:pPr algn="ctr"/>
                      <a:r>
                        <a:rPr sz="1200" b="1">
                          <a:solidFill>
                            <a:srgbClr val="FFFFFF"/>
                          </a:solidFill>
                        </a:rPr>
                        <a:t>100.0%</a:t>
                      </a:r>
                    </a:p>
                  </a:txBody>
                  <a:tcPr>
                    <a:solidFill>
                      <a:srgbClr val="2D405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IT運用・自動化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Power Platform SolutionのZIP・msapp展開をバッチファイルで自動化してみた</a:t>
            </a:r>
            <a:r>
              <a:rPr sz="900">
                <a:solidFill>
                  <a:srgbClr val="7F8C8D"/>
                </a:solidFill>
              </a:rPr>
              <a:t>  (2026-08-18)</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https://qiita.com/ishikawa_slj/items/05ef8ef8609b9e33d4bb</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!image.png
はじめに
Power PlatformでSolutionをエクスポートすると、ZIPファイルとして出力されます。
Solutionの中身をソースとして確認するには、Solution ZIPに加えて  配下の  も展開する必要があります。
さらに、展開後にはランダムIDや</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最初から業務全体を自動化しなくてよい</a:t>
            </a:r>
            <a:r>
              <a:rPr sz="900">
                <a:solidFill>
                  <a:srgbClr val="7F8C8D"/>
                </a:solidFill>
              </a:rPr>
              <a:t>  (2026-08-18)</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https://qiita.com/mhamadajp/items/109238062fd35db3e201</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日立建機の技術問い合わせ対応に学ぶ、ボトムアップ型AIエージェント導入
生成AIの全社導入では、経営が方針を示し、予算と共通基盤を用意し、情報システム部門がルールと研修を整えるトップダウンの推進が重要である。だが、それだけでは現場で本当に使われるAIは生まれにくい。
経営が掲げる「生産性向上」「</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AIアシスタントはどこまで進化する？2025〜2035年の市場動向と技術トレンド</a:t>
            </a:r>
            <a:r>
              <a:rPr sz="900">
                <a:solidFill>
                  <a:srgbClr val="7F8C8D"/>
                </a:solidFill>
              </a:rPr>
              <a:t>  (2026-08-18)</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https://qiita.com/Sudeepbhivajikedar/items/4171bd6297de906d0f2e</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生成AIや大規模言語モデル（LLM）の進化により、AIアシスタントは単純な質問応答ツールから、業務プロセスを支援・自動化するソフトウェアへと進化しています。
特に企業では、カスタマーサポート、ソフトウェア開発、社内検索、データ分析、文書作成など、さまざまな業務へのAIアシスタントの組み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RAG・検索基盤設計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数千万ドキュメント規模の巨大エンタープライズRAG：検索速度と精度を両立させるハイエラキー型インデックス</a:t>
            </a:r>
            <a:r>
              <a:rPr sz="900">
                <a:solidFill>
                  <a:srgbClr val="7F8C8D"/>
                </a:solidFill>
              </a:rPr>
              <a:t>  (2026-08-18)</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https://qiita.com/NKKTechGlobal/items/4371b646b4427e21d2da</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数千万ドキュメント規模の巨大エンタープライズRAG：検索速度と精度を両立させるハイエラキー型インデックス
!Feature(110).png
はじめに
こんにちは、NKKTech Global 技術チームです。
企業のDXが進むにつれ、RAG（Retrieval-Augmented Gener</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マルチエージェントRAGの深層：複雑な推論を解くLangGraph実装の仕組み</a:t>
            </a:r>
            <a:r>
              <a:rPr sz="900">
                <a:solidFill>
                  <a:srgbClr val="7F8C8D"/>
                </a:solidFill>
              </a:rPr>
              <a:t>  (2026-08-18)</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https://qiita.com/DaokFrontier/items/3eb8341e39b46d8c4760</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「シングルエージェントRAGではもう限界…複雑な質問やマルチステップの推論が必要なタスクで、LLMアプリが期待通りの性能を出せずに悩んでいませんか？」
従来のRAG（Retrieval Augmented Generation）システムは、単一のLLMエージェントが情報を検索し、回答を生成するシン</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オントロジーは「学者の道具」から「AIエージェントの教科書」になった話（2）なぜLLM時代に再注目されているのか</a:t>
            </a:r>
            <a:r>
              <a:rPr sz="900">
                <a:solidFill>
                  <a:srgbClr val="7F8C8D"/>
                </a:solidFill>
              </a:rPr>
              <a:t>  (2026-08-18)</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https://qiita.com/keiichik_kk/items/b227e6ac89105e8c5512</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前回のおさらい
前回は、オントロジーとは「業務の概念と関係を機械が誤解しないよう整理した設計図」であり、2000年代の「セマンティックウェブ」時代には専門家が手作業で厳密に作る重い仕組みだった、という話をしました。
今回は本題、なぜこの古びた概念が2026年の今また注目されているのかを掘り下げま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AIエージェント開発・運用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SDKなしでMCPのStreamable HTTPサーバを作って、仕組みを理解する【MCP深掘りシリーズ 2】</a:t>
            </a:r>
            <a:r>
              <a:rPr sz="900">
                <a:solidFill>
                  <a:srgbClr val="7F8C8D"/>
                </a:solidFill>
              </a:rPr>
              <a:t>  (2026-08-18)</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https://qiita.com/musa_rock/items/f0655389d520e0e238ff</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はじめに
MCPを支える技術要素を、SDKを使わない生実装と実測ログで深掘りするシリーズの第2回です。
- 第1回: MCPサーバは「SDKなし100行」で作れる — Claude Codeとの通信を盗聴して中身を全部見てみた
- 第2回（本記事）: Streamable HTTP — 同じサー</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Tencent Cloud TokenHubのモデルをDeepSeek Harnessで利用する方法</a:t>
            </a:r>
            <a:r>
              <a:rPr sz="900">
                <a:solidFill>
                  <a:srgbClr val="7F8C8D"/>
                </a:solidFill>
              </a:rPr>
              <a:t>  (2026-08-18)</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https://qiita.com/moonwalker/items/61fa726dc8473d908faa</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&gt; 本記事は2026年8月18日時点の検証結果です。DeepSeek HarnessはDeveloper Previewのため、今後UIや設定方法が変更される可能性があります。
はじめに
DeepSeek Harness（dsh）は、DeepSeek AIが公開したオープンソースのAgent H</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14MBのAIモデルは本当に動いた — DLL 1個・RAM 37MB・1回0.5秒、ただし日本語は0/5</a:t>
            </a:r>
            <a:r>
              <a:rPr sz="900">
                <a:solidFill>
                  <a:srgbClr val="7F8C8D"/>
                </a:solidFill>
              </a:rPr>
              <a:t>  (2026-08-18)</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https://qiita.com/jqit_suwa/items/acb61138c4550eef4803</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GitHub Trending に「14MB のモデル」が来ていました。
Cactus Compute の Needle 2 です。45M パラメータで、ツール呼び出しに特化しています。週で +3,627 スター伸びていました。
14MB というのは、画像1枚くらいのサイズです。しかも「モデルフ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生成AI活用の現場実践・他社事例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7AE60"/>
                </a:solidFill>
              </a:rPr>
              <a:t>[Zenn]  </a:t>
            </a:r>
            <a:r>
              <a:rPr sz="1200" b="1">
                <a:solidFill>
                  <a:srgbClr val="FFFFFF"/>
                </a:solidFill>
              </a:rPr>
              <a:t>AIを使い倒す：罪悪感ゼロのカタカナ・プロンプト辞書</a:t>
            </a:r>
            <a:r>
              <a:rPr sz="900">
                <a:solidFill>
                  <a:srgbClr val="7F8C8D"/>
                </a:solidFill>
              </a:rPr>
              <a:t>  (2026-08-17)</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https://zenn.dev/alpine/articles/85565059b97ee9</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はじめに
MS CopilotなどのビジネスAIを利用する際、我々日本人は無意識に「丁寧すぎる依頼」を記述し、思考のリソースを浪費しがちです。しかし、ビジネスの現場で嫌われる「無責任なカタカナ指示」こそ、AIにとっては 「解釈の自由度を与える高度な命令」 となります。
本ガイドでは、現実で言われたら</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プロンプト1行で、赤枠＋番号つきの手順画像をAIに作らせた ~Claude編~</a:t>
            </a:r>
            <a:r>
              <a:rPr sz="900">
                <a:solidFill>
                  <a:srgbClr val="7F8C8D"/>
                </a:solidFill>
              </a:rPr>
              <a:t>  (2026-08-17)</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https://qiita.com/inoyu-qiita/items/71cac5d790eb08090551</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日頃からお世話になっている社内のUさん(@haru-qiita)に痒い所に手が届くAI活用術を教えていただいたので、記事にしました！
はじめに
テスト業務での不具合証跡の作成や、社内向けの運用マニュアル、環境構築手順書で、「ここを押してください」を示す赤枠と丸数字つきのスクリーンショットが大量に</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【AIを使う側に】50代現場職のSさんと始めるPython×Gemini入門。撮りためた作業写真を自動で仕分けるまで</a:t>
            </a:r>
            <a:r>
              <a:rPr sz="900">
                <a:solidFill>
                  <a:srgbClr val="7F8C8D"/>
                </a:solidFill>
              </a:rPr>
              <a:t>  (2026-08-17)</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https://qiita.com/krcross/items/a915959282f9f047a367</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「毎日の現場写真、撮影後に1枚ずつフォルダ分けするのが地味に面倒で…」
先日、私が講師をしているBINGOの生徒の50代のSさんから、こんな相談を受けました。Sさんは毎日作業場で写真を撮影していて、写真の右下には「Aエリア」「B作業場」といったテキストが入っています。
「これ、画像の中身を読んで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AIガバナンス・セキュリティ・社内ルール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AIのハルシネーションは排除！でも…。AIの迎合はスルーしていませんか？</a:t>
            </a:r>
            <a:r>
              <a:rPr sz="900">
                <a:solidFill>
                  <a:srgbClr val="7F8C8D"/>
                </a:solidFill>
              </a:rPr>
              <a:t>  (2026-08-18)</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https://qiita.com/777atsushi/items/566b2fb3bb73fed14ed2</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AIにコードレビューをさせたとき、こういう返答で手が止まったことがある。
こちらの質問はこうだった。
&gt; この構成で進めたいと思っているのですが、導入リスクはどうでしょうか。
返ってきたのがこれである。
&gt; 類似構成を採用している3件のリポジトリを確認しました。このパターンは非同期処理の設計</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算数オリンピックの動画解説(許可済み)をベースにして、私のブログのための 記事について、著作権違反になりませんか。</a:t>
            </a:r>
            <a:r>
              <a:rPr sz="900">
                <a:solidFill>
                  <a:srgbClr val="7F8C8D"/>
                </a:solidFill>
              </a:rPr>
              <a:t>  (2026-08-16)</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https://qiita.com/mrrclb48z/items/2e631760e14a212b396f</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&gt;GeminiはAIであり、不正確な情報を表示することがあります。
だそうです。
履歴。Gemini先生へ。
回答抜粋
(都合の良さそうなところだけ抜粋)
&gt;結論から申し上げますと、解法や解答のロジックをSymPy（Python）のソースコードとして記述・公開すること自体は、原則とし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Power Platform SolutionのZIP・msapp展開をバッチファイルで自動化してみた</a:t>
            </a:r>
            <a:r>
              <a:rPr sz="900">
                <a:solidFill>
                  <a:srgbClr val="7F8C8D"/>
                </a:solidFill>
              </a:rPr>
              <a:t>  (2026-08-18)</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https://qiita.com/ishikawa_slj/items/05ef8ef8609b9e33d4bb</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!image.png
はじめに
Power PlatformでSolutionをエクスポートすると、ZIPファイルとして出力されます。
Solutionの中身をソースとして確認するには、Solution ZIPに加えて  配下の  も</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最初から業務全体を自動化しなくてよい</a:t>
            </a:r>
            <a:r>
              <a:rPr sz="900">
                <a:solidFill>
                  <a:srgbClr val="7F8C8D"/>
                </a:solidFill>
              </a:rPr>
              <a:t>  (2026-08-18)</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https://qiita.com/mhamadajp/items/109238062fd35db3e201</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日立建機の技術問い合わせ対応に学ぶ、ボトムアップ型AIエージェント導入
生成AIの全社導入では、経営が方針を示し、予算と共通基盤を用意し、情報システム部門がルールと研修を整えるトップダウンの推進が重要である。だが、それだけでは現場で本当に</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AIアシスタントはどこまで進化する？2025〜2035年の市場動向と技術トレンド</a:t>
            </a:r>
            <a:r>
              <a:rPr sz="900">
                <a:solidFill>
                  <a:srgbClr val="7F8C8D"/>
                </a:solidFill>
              </a:rPr>
              <a:t>  (2026-08-18)</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https://qiita.com/Sudeepbhivajikedar/items/4171bd6297de906d0f2e</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生成AIや大規模言語モデル（LLM）の進化により、AIアシスタントは単純な質問応答ツールから、業務プロセスを支援・自動化するソフトウェアへと進化しています。
特に企業では、カスタマーサポート、ソフトウェア開発、社内検索、データ</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 Code Dynamic Workflows（動的ワークフロー）まとめ</a:t>
            </a:r>
            <a:r>
              <a:rPr sz="900">
                <a:solidFill>
                  <a:srgbClr val="7F8C8D"/>
                </a:solidFill>
              </a:rPr>
              <a:t>  (2026-08-18)</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5"/>
              </a:rPr>
              <a:t>https://qiita.com/todiii/items/b18f0df1cd6b8462435b</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Claude Code Dynamic Workflows（動的ワークフロー）まとめ
概要：利用してみた感想・考察（要約）
 一般的な開発の大半をカバー：標準的な開発・リファクタリングは単体で十分対応可能。
 癖の強いレビュアー対策は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6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自動化ログを1ヶ月読まなかったら異常に気づけなかった — ひとり社長の監査習慣の作り方</a:t>
            </a:r>
            <a:r>
              <a:rPr sz="900">
                <a:solidFill>
                  <a:srgbClr val="7F8C8D"/>
                </a:solidFill>
              </a:rPr>
              <a:t>  (2026-08-17)</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2"/>
              </a:rPr>
              <a:t>https://zenn.dev/joinclass/articles/1-20260816220005-7966</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「全部動いている」と思い込んでいた1ヶ月
僕はひとりで会社をやっている。開発も営業もマーケも経理も自分ひとりで、実作業のほとんどをAIエージェントとスクリプトに任せている。自動化率はざっくり98%、macOSのlaunchdジョブは17個動</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Genie Code for ML でチャーン予測を一気通貫 (2) — Unity Catalog登録からModel Servingまで任せる</a:t>
            </a:r>
            <a:r>
              <a:rPr sz="900">
                <a:solidFill>
                  <a:srgbClr val="7F8C8D"/>
                </a:solidFill>
              </a:rPr>
              <a:t>  (2026-08-17)</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https://qiita.com/taka_yayoi/items/d72bf2aee859a5b879e9</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Data + AI Summit 2026で、Genie CodeにML向けの強化が入った「Genie Code for ML」が発表されました。データ探索からモデルの学習・比較、MLflow/Unity Catalogへの登録</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 Codeでバッチ処理を自動化する方法5選</a:t>
            </a:r>
            <a:r>
              <a:rPr sz="900">
                <a:solidFill>
                  <a:srgbClr val="7F8C8D"/>
                </a:solidFill>
              </a:rPr>
              <a:t>  (2026-08-17)</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https://qiita.com/kamome_susume/items/305a18a0d462c50e2fc4</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毎晩決まった時間にデータ集計やファイル変換を手動で回している、そんな作業に疲れていませんか？&lt;br&gt;&lt;br&gt;
バッチ処理は地味ですが、止まると業務全体に影響が出る重要な仕事です。&lt;br&gt;&lt;br&gt;
Claude Codeを使えば、スクリプト作</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「AIを使いすぎない」設計で、大量の定型書類処理を自動化した話</a:t>
            </a:r>
            <a:r>
              <a:rPr sz="900">
                <a:solidFill>
                  <a:srgbClr val="7F8C8D"/>
                </a:solidFill>
              </a:rPr>
              <a:t>  (2026-08-17)</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5"/>
              </a:rPr>
              <a:t>https://qiita.com/Taj/items/b777c18a1e6921ef22d0</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取引先や拠点ごとにフォーマットが異なる大量の書類を読み取り、社内の別データと突合する」といった業務は、多くの会社に存在すると思います。多くの場合、この突合作業は最終的に人が目視で確認するという形で運用されており、件数が多いほ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数千万ドキュメント規模の巨大エンタープライズRAG：検索速度と精度を両立させるハイエラキー型インデックス</a:t>
            </a:r>
            <a:r>
              <a:rPr sz="900">
                <a:solidFill>
                  <a:srgbClr val="7F8C8D"/>
                </a:solidFill>
              </a:rPr>
              <a:t>  (2026-08-18)</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https://qiita.com/NKKTechGlobal/items/4371b646b4427e21d2da</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数千万ドキュメント規模の巨大エンタープライズRAG：検索速度と精度を両立させるハイエラキー型インデックス
!Feature(110).png
はじめに
こんにちは、NKKTech Global 技術チームです。
企業のDXが進むにつれ</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マルチエージェントRAGの深層：複雑な推論を解くLangGraph実装の仕組み</a:t>
            </a:r>
            <a:r>
              <a:rPr sz="900">
                <a:solidFill>
                  <a:srgbClr val="7F8C8D"/>
                </a:solidFill>
              </a:rPr>
              <a:t>  (2026-08-18)</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https://qiita.com/DaokFrontier/items/3eb8341e39b46d8c4760</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「シングルエージェントRAGではもう限界…複雑な質問やマルチステップの推論が必要なタスクで、LLMアプリが期待通りの性能を出せずに悩んでいませんか？」
従来のRAG（Retrieval Augmented Generation）システムは</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オントロジーは「学者の道具」から「AIエージェントの教科書」になった話（2）なぜLLM時代に再注目されているのか</a:t>
            </a:r>
            <a:r>
              <a:rPr sz="900">
                <a:solidFill>
                  <a:srgbClr val="7F8C8D"/>
                </a:solidFill>
              </a:rPr>
              <a:t>  (2026-08-18)</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https://qiita.com/keiichik_kk/items/b227e6ac89105e8c5512</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前回のおさらい
前回は、オントロジーとは「業務の概念と関係を機械が誤解しないよう整理した設計図」であり、2000年代の「セマンティックウェブ」時代には専門家が手作業で厳密に作る重い仕組みだった、という話をしました。
今回は本題、なぜこの</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Cloudflare AI Searchで低コストRAGを作る：文書登録からWorkers連携・引用表示まで</a:t>
            </a:r>
            <a:r>
              <a:rPr sz="900">
                <a:solidFill>
                  <a:srgbClr val="7F8C8D"/>
                </a:solidFill>
              </a:rPr>
              <a:t>  (2026-08-18)</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5"/>
              </a:rPr>
              <a:t>https://qiita.com/rootontech/items/7f2ac1cac4a2f04e4fd2</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!Cloudflare AI Searchで低コストRAGを作る
RAGを試すだけでも、ストレージ、文書分割、Embedding、ベクトルDB、検索API、生成モデル、ログを組み合わせる必要があります。Cloudflare AI Sear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30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Open WebUIで社内文書RAGを構築する：Docker導入からKnowledge・引用確認まで</a:t>
            </a:r>
            <a:r>
              <a:rPr sz="900">
                <a:solidFill>
                  <a:srgbClr val="7F8C8D"/>
                </a:solidFill>
              </a:rPr>
              <a:t>  (2026-08-18)</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https://qiita.com/rootontech/items/c1bf1b0259e3a0fa97f5</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!Open WebUIで社内文書RAGを構築する
Open WebUIは、セルフホストできるAIチャットUIです。チャット画面だけでなく、モデル接続、Knowledge、ユーザー管理などを一つの画面で扱えます。
この記事ではDocker</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AWS AgentCoreで社内文書RAGを試作する手順：Harness＋Gateway＋Managed Knowledge Bases</a:t>
            </a:r>
            <a:r>
              <a:rPr sz="900">
                <a:solidFill>
                  <a:srgbClr val="7F8C8D"/>
                </a:solidFill>
              </a:rPr>
              <a:t>  (2026-08-18)</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https://qiita.com/rootontech/items/7eeec6b95ce509ff33a2</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!AgentCoreで社内文書RAGを試作する
社内規程や業務マニュアルを根拠に回答するAIを作るとき、RAGの検索処理だけでなく、認証、セッション分離、ツール権限、監査ログまで考える必要があります。
本記事では、Amazon Bedr</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OCI Data Catalog 第4回：Data LakeとADBのRDBMS、Vector Storeを統合し、Select AIとRAGでLakehous…</a:t>
            </a:r>
            <a:r>
              <a:rPr sz="900">
                <a:solidFill>
                  <a:srgbClr val="7F8C8D"/>
                </a:solidFill>
              </a:rPr>
              <a:t>  (2026-08-18)</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https://qiita.com/shirok/items/6d67f981b547f181d644</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!説明絵.png
■ はじめに
こんにちは。
OCI Data Catalogシリーズとして、これまで次の内容を実施しました。
| 回 | 内容 |
|---|---|
| 第1回 | Object Storage上のCSV、Par</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生成AIの確率的な発散をどう制御するか -- 数理から設計したマルチAIオーケストレーション</a:t>
            </a:r>
            <a:r>
              <a:rPr sz="900">
                <a:solidFill>
                  <a:srgbClr val="7F8C8D"/>
                </a:solidFill>
              </a:rPr>
              <a:t>  (2026-08-18)</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https://zenn.dev/albatrosary/articles/84b21877602fa1</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生成AIの内部では、高次元ベクトル、Attention、Softmax、条件付き確率、サンプリングといった複雑な計算が行われている。さらに、生成AIを連続して使う場合には、単純な一回の推論だけを考えていればよいわけではない。
一度生成された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SDKなしでMCPのStreamable HTTPサーバを作って、仕組みを理解する【MCP深掘りシリーズ 2】</a:t>
            </a:r>
            <a:r>
              <a:rPr sz="900">
                <a:solidFill>
                  <a:srgbClr val="7F8C8D"/>
                </a:solidFill>
              </a:rPr>
              <a:t>  (2026-08-18)</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https://qiita.com/musa_rock/items/f0655389d520e0e238ff</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MCPを支える技術要素を、SDKを使わない生実装と実測ログで深掘りするシリーズの第2回です。
- 第1回: MCPサーバは「SDKなし100行」で作れる — Claude Codeとの通信を盗聴して中身を全部見てみた
- 第2</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Tencent Cloud TokenHubのモデルをDeepSeek Harnessで利用する方法</a:t>
            </a:r>
            <a:r>
              <a:rPr sz="900">
                <a:solidFill>
                  <a:srgbClr val="7F8C8D"/>
                </a:solidFill>
              </a:rPr>
              <a:t>  (2026-08-18)</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https://qiita.com/moonwalker/items/61fa726dc8473d908faa</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&gt; 本記事は2026年8月18日時点の検証結果です。DeepSeek HarnessはDeveloper Previewのため、今後UIや設定方法が変更される可能性があります。
はじめに
DeepSeek Harness（dsh）は、D</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14MBのAIモデルは本当に動いた — DLL 1個・RAM 37MB・1回0.5秒、ただし日本語は0/5</a:t>
            </a:r>
            <a:r>
              <a:rPr sz="900">
                <a:solidFill>
                  <a:srgbClr val="7F8C8D"/>
                </a:solidFill>
              </a:rPr>
              <a:t>  (2026-08-18)</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https://qiita.com/jqit_suwa/items/acb61138c4550eef4803</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GitHub Trending に「14MB のモデル」が来ていました。
Cactus Compute の Needle 2 です。45M パラメータで、ツール呼び出しに特化しています。週で +3,627 スター伸びていました。
14M</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【徹底解説】エンタープライズ級データ分析AIエージェントの設計 ― アーキテクチャ分解・コアモジュール・本番導入の難所</a:t>
            </a:r>
            <a:r>
              <a:rPr sz="900">
                <a:solidFill>
                  <a:srgbClr val="7F8C8D"/>
                </a:solidFill>
              </a:rPr>
              <a:t>  (2026-08-18)</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https://qiita.com/Simon_Zhang/items/841b8f93f59aa20ced8e</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「PoC（概念実証）では完璧に動いたのに、本番に載せた途端に壊れる」――エンタープライズ向けAIエージェント開発で最も頻繁に耳にする悩みです。
とりわけ データ分析エージェント（Data Analysis Agent） は、企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42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カバレッジ100%を信じてAI製テストを通したら、ミュータントが12体生き残った話</a:t>
            </a:r>
            <a:r>
              <a:rPr sz="900">
                <a:solidFill>
                  <a:srgbClr val="7F8C8D"/>
                </a:solidFill>
              </a:rPr>
              <a:t>  (2026-08-18)</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https://qiita.com/GeneLab_999/items/79e098834cd89681894d</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この記事の対象読者
- pytest でテストを書いた経験がある Python 中級者
- コーディングエージェントにテストを書かせている、あるいは書かせようとしている人
- カバレッジ100%を達成したのに、なぜか本番でバグが出た経験</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Midnight AI Groove 26-08-14</a:t>
            </a:r>
            <a:r>
              <a:rPr sz="900">
                <a:solidFill>
                  <a:srgbClr val="7F8C8D"/>
                </a:solidFill>
              </a:rPr>
              <a:t>  (2026-08-18)</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https://qiita.com/masykot582/items/4ac66083fd6f9781c91e</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https://news.smol.ai/issues/26-08-14-cursor-xai
DJミオ：こんばんは。「Midnight AI Groove」、今夜も始まりました。ナビゲーターのDJミオです。
DJレン：DJレンです。今</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chatgpt workのagent/skillでgoogle EEAT準拠のブログを生成してみた（第一弾)</a:t>
            </a:r>
            <a:r>
              <a:rPr sz="900">
                <a:solidFill>
                  <a:srgbClr val="7F8C8D"/>
                </a:solidFill>
              </a:rPr>
              <a:t>  (2026-08-18)</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https://qiita.com/kazuharu2022/items/99166ebe11c85b0e3454</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HP/LP作成会社さんやWEBマーケターの方々から、AIが作成したブログはスパム判定されるので、自動作成はやめた方がよいと言われた。
一応本当なのか確かめるためにgoogleの公式見解を見た結果わかったのは、
以下の通りです。
</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第十六話：個人開発SaaS「fuSen」 ユーザーの要望から、さらに進化するフェーズに入った</a:t>
            </a:r>
            <a:r>
              <a:rPr sz="900">
                <a:solidFill>
                  <a:srgbClr val="7F8C8D"/>
                </a:solidFill>
              </a:rPr>
              <a:t>  (2026-08-18)</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https://qiita.com/emptybaba/items/ac9bcd3dfd910f34c3d7</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:::note info
🟨 この記事はClaude Code（AI）と2ヶ月で開発した日本初のWebサイト校正ツール「fuSen」の開発ブログです。登録不要でデモを試せます → https://app.fusen.cloud/demo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AIを使い倒す：罪悪感ゼロのカタカナ・プロンプト辞書</a:t>
            </a:r>
            <a:r>
              <a:rPr sz="900">
                <a:solidFill>
                  <a:srgbClr val="7F8C8D"/>
                </a:solidFill>
              </a:rPr>
              <a:t>  (2026-08-17)</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2"/>
              </a:rPr>
              <a:t>https://zenn.dev/alpine/articles/85565059b97ee9</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MS CopilotなどのビジネスAIを利用する際、我々日本人は無意識に「丁寧すぎる依頼」を記述し、思考のリソースを浪費しがちです。しかし、ビジネスの現場で嫌われる「無責任なカタカナ指示」こそ、AIにとっては 「解釈の自由度を与え</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プロンプト1行で、赤枠＋番号つきの手順画像をAIに作らせた ~Claude編~</a:t>
            </a:r>
            <a:r>
              <a:rPr sz="900">
                <a:solidFill>
                  <a:srgbClr val="7F8C8D"/>
                </a:solidFill>
              </a:rPr>
              <a:t>  (2026-08-17)</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https://qiita.com/inoyu-qiita/items/71cac5d790eb08090551</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日頃からお世話になっている社内のUさん(@haru-qiita)に痒い所に手が届くAI活用術を教えていただいたので、記事にしました！
はじめに
テスト業務での不具合証跡の作成や、社内向けの運用マニュアル、環境構築手順書で、「ここを押して</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【AIを使う側に】50代現場職のSさんと始めるPython×Gemini入門。撮りためた作業写真を自動で仕分けるまで</a:t>
            </a:r>
            <a:r>
              <a:rPr sz="900">
                <a:solidFill>
                  <a:srgbClr val="7F8C8D"/>
                </a:solidFill>
              </a:rPr>
              <a:t>  (2026-08-17)</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https://qiita.com/krcross/items/a915959282f9f047a367</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「毎日の現場写真、撮影後に1枚ずつフォルダ分けするのが地味に面倒で…」
先日、私が講師をしているBINGOの生徒の50代のSさんから、こんな相談を受けました。Sさんは毎日作業場で写真を撮影していて、写真の右下には「Aエリア」「B作業場」と</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AIに評価させると全員が優秀になる — 経歴判定で盛りを止めた設計</a:t>
            </a:r>
            <a:r>
              <a:rPr sz="900">
                <a:solidFill>
                  <a:srgbClr val="7F8C8D"/>
                </a:solidFill>
              </a:rPr>
              <a:t>  (2026-08-17)</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https://qiita.com/kenichiyoshioka/items/33eb43be044f7f19b1fe</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&gt; 📚 スキルシートと市場価値 シリーズ ③：AIに盛らせない設計
---
はじめに
前回、スキルシートをAIに解析させたらPdMでDXコンサルだった話を書きました。自分の経歴書をAIに読ませたら、自己申告と違う判定が出た、という話で</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Claudeを使ってAIの活用した教育系ウェブアプリを完成させるまで</a:t>
            </a:r>
            <a:r>
              <a:rPr sz="900">
                <a:solidFill>
                  <a:srgbClr val="7F8C8D"/>
                </a:solidFill>
              </a:rPr>
              <a:t>  (2026-08-17)</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https://qiita.com/damadama0519-sketch/items/119a0c037b787b164b19</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「AIに聞く」んじゃなくて「AIに教える」学習アプリを作った話
はじめに
「わからないことをAIに聞けば、なんでも答えてくれる」時代になりました。便利な一方で、「答えを聞いて終わり」になってしまい、実は何も身についていない、ということも</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YOLO26のモデル規模・入力解像度による性能差を比較した</a:t>
            </a:r>
            <a:r>
              <a:rPr sz="900">
                <a:solidFill>
                  <a:srgbClr val="7F8C8D"/>
                </a:solidFill>
              </a:rPr>
              <a:t>  (2026-08-17)</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https://qiita.com/Reotech/items/be25d4724ce4a79dc390</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YOLO26n・s・mを320pxと640pxで組み合わせ、6条件の検出品質、PC処理時間、ONNXサイズ、実行時メモリを比較します。Android実機性能はまだ未検証です。
比較結果を先に
前回の記事では3候補を320pxで比べ、YO</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AIという「部下」がやってきた――技術の逆流を目の当たりにした組織はAIについていけるのか</a:t>
            </a:r>
            <a:r>
              <a:rPr sz="900">
                <a:solidFill>
                  <a:srgbClr val="7F8C8D"/>
                </a:solidFill>
              </a:rPr>
              <a:t>  (2026-08-16)</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https://qiita.com/HarmonicModeler/items/16ee10081ec4b058c929</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生成AIによって、プログラマーの仕事は大きく変わり始めています。
AIにコードを書かせることで、これまで人間が時間をかけていた実装を短時間で行えるようになりました。
その結果、
「AIを使えば、プログラマーを減らせるのでは</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AI を業務成果につなげる前に現れる「品質・コスト・浸透」の壁——先行 2 社が突破したプロセス</a:t>
            </a:r>
            <a:r>
              <a:rPr sz="900">
                <a:solidFill>
                  <a:srgbClr val="7F8C8D"/>
                </a:solidFill>
              </a:rPr>
              <a:t>  (2026-08-13)</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5"/>
              </a:rPr>
              <a:t>https://zenn.dev/mbk_digital/articles/4945c084b8694f</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株式会社 MBK Digital の古畑です。
2026 年 7 月 30 日・31 日に開催された Google Cloud Next Tokyo 2026 にて、データアナリストの田中と 2 人で「Gemini Enterprise を</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AIのハルシネーションは排除！でも…。AIの迎合はスルーしていませんか？</a:t>
            </a:r>
            <a:r>
              <a:rPr sz="900">
                <a:solidFill>
                  <a:srgbClr val="7F8C8D"/>
                </a:solidFill>
              </a:rPr>
              <a:t>  (2026-08-18)</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2"/>
              </a:rPr>
              <a:t>https://qiita.com/777atsushi/items/566b2fb3bb73fed14ed2</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AIにコードレビューをさせたとき、こういう返答で手が止まったことがある。
こちらの質問はこうだった。
&gt; この構成で進めたいと思っているのですが、導入リスクはどうでしょうか。
返ってきたのがこれである。
&gt; 類似構成を採用している3</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67E22"/>
                </a:solidFill>
              </a:rPr>
              <a:t>▶ </a:t>
            </a:r>
            <a:r>
              <a:rPr sz="1200" b="1">
                <a:solidFill>
                  <a:srgbClr val="FFFFFF"/>
                </a:solidFill>
              </a:rPr>
              <a:t>算数オリンピックの動画解説(許可済み)をベースにして、私のブログのための 記事について、著作権違反になりませんか。</a:t>
            </a:r>
            <a:r>
              <a:rPr sz="900">
                <a:solidFill>
                  <a:srgbClr val="7F8C8D"/>
                </a:solidFill>
              </a:rPr>
              <a:t>  (2026-08-16)</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3"/>
              </a:rPr>
              <a:t>https://qiita.com/mrrclb48z/items/2e631760e14a212b396f</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&gt;GeminiはAIであり、不正確な情報を表示することがあります。
だそうです。
履歴。Gemini先生へ。
回答抜粋
(都合の良さそうなところだけ抜粋)
&gt;結論から申し上げますと、解法や解答のロジックをSymPy（Pyth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(1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Notebook（NotebookLM)で使える小技</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https://qiita.com/Akiko_Miyamoto/items/4f28eb75891f23221e70</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Microsoft365環境でClaude.aiの安全なリンクメールの遅延</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https://qiita.com/bellx2/items/111d02772389afa8efb6</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因果推論 Day 7／全30回　傾向スコアとIPW、高次元の交絡を1次元に潰す</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https://qiita.com/akiralab/items/103d9831a97452668f9b</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Claude Windowsアプリを2アカウントで同時起動する｜--user-data-dirでログイン環境を分ける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https://qiita.com/vivinko/items/bdda0fcdeb53e45e5471</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GPT-5.6の見積書OCRをPythonで検算する</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https://qiita.com/eiri_ai/items/eaf0c01cdfc1707a78fe</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Claude Max20xにするか追加クレジット購入するか分岐点</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https://qiita.com/hokutoh/items/97c8838725735c57cf06</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AI時代に新たなプラットフォームの学習をした気づき</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https://qiita.com/Souken521/items/cc19041251e9dda8361d</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LLMのモデル差し替え前にJSONL応答をPythonで検査する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https://qiita.com/hironakamura_ai/items/b2358a740c361034bb8a</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M5Stack Cardputer Adv を Rust(no_std) で「音声AIアシスタント」にしてみた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https://qiita.com/mackey1966/items/10d4395b76561bb5e210</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自然言語で日本株をスクリーニングできるAIツール「EasyStock」を作ってみた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https://qiita.com/pikafenger/items/04a173e0ec705577c51a</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プリザンターの長文項目にAI文法チェッカーをつけてみる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https://qiita.com/pmc-ko/items/2433a398aa59c3633674</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GitHub Copilot 向けの指示を構造化して管理</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https://qiita.com/h-nasu/items/d0b2601bb179a6cdd5eb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(2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教師AIを、別のAIに作らせる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https://qiita.com/lyr/items/47181de612154038769d</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ChatGPTの記憶機能、実は覚えるだけじゃなかった｜人物像が自動で作られる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https://qiita.com/kinamocchi_tech/items/0524507518ad77c55450</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下水道管の主役はいつ塩ビに変わったのか — オープンデータで管種の世代交代を追い、「塩ビの健全率予測式がまだ立っていない」現在地を確かめる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https://qiita.com/shirube-lab/items/ec7d89391940e0f17058</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24GB GPU 1枚でQwen3.8 27Bを256Kコンテキストで動かす — 本番50 tok/sまでの測定記録</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https://qiita.com/pich/items/b9c8656070c29583ccdd</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LLMs Aren't Writing</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https://sixcolors.com/post/2026/08/llms-arent-writing/</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MLflow GUIで始めるプロンプト改善 #3：失敗例からPrompt Version 2を作る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https://qiita.com/kazuharu2022/items/7bd8234c374ea01d2ec8</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Debating the role of large language models in the kernel community</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https://lwn.net/Articles/1083275/</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PurgeHound – Use the power of local LLM to declutter a Maildir folder</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https://git.cerberusgames.ca/Starstreak/PurgeHound/</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Ask HN: Part of your job LLMs replaced and which part got harder?</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https://news.ycombinator.com/item?id=49342406</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DeepSeek V4 Pro GA と Preview を実測：思考量を 18〜62％ 削減</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https://qiita.com/Synthorai/items/878ef90071e0295a1f5f</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バズって海外から大量のコメントが届いても大丈夫！Pub/Sub × Cloud Run で鉄壁の非同期AI翻訳パイプラインを作る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https://qiita.com/kuis/items/299df6c76fa3870aec69</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ChatGPT広告の日本展開を整理。対象プラン・表示仕様・オプトアウトの引き換え条件</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https://qiita.com/quotidia/items/4a2bd3428d342c728621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(3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Expert Witness to ChatGPT: "Show how 3M is 0 percent at fault"</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https://www.404media.co/show-how-3m-is-0-at-fault-expert-witness-used-chatgpt-to…</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RunPod でGPUをスポット利用する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https://zenn.dev/mkj/articles/runpod-cost-optimization_20260724</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Google Colabで最新LLMを試す #8 ― MiniMax-H3 NF4をDiffSynth-Studioで動かす</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https://zenn.dev/nakanishitf/articles/bec3dc44dd1b65</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「有意差なし」を「差が出た」と読んでいた — A/B の答え合わせをやり直す（#25 投稿前予測）</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https://zenn.dev/talks_tldr_jp/articles/tldr25-majors-prediction</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UML クラス図に 💩 を付けたかっただけだった —— AI 協調型リファクタリングエディタ「Kata」を作った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https://zenn.dev/dhq_boiler/articles/9e9bda0c2d5dfd</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LLMが間違える日本語「Bの次に重い」</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https://zenn.dev/mohhh_ok/articles/2026-08-luna-japanese-ranking</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少子化対策から人的資本投資へ ― 結婚・子育て・外国人材をつなぐ国家OSの再設計 : システム設計視点の行動経済学 (17)</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https://qiita.com/maskot1977/items/32ea927727c693cff1cb</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AIに与えるルールを太らせすぎて、文章から人間味が消えた — 16項目の"校則"をダイエットした話</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https://zenn.dev/sikada/articles/devstory-rule-diet</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AI時代に最適な言語を決めるため、40構成で同じアプリを作らせてみた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https://zenn.dev/abalol/articles/ef518139af593c</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テストコードで性格が出る？ ChatGPT・Claude・Gemini三者三様（3部作の2作目）</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https://qiita.com/0903osa/items/e9f2dc5906c9c0ac635c</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使っているGeminiモデル、あと何日使えるか想像できていますか。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https://qiita.com/asayan_mana/items/dd33e421e3cccc0430b1</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GPT-5.6 Sol Pricing Cut by 50%</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https://openrouter.ai/openai/gpt-5.6-sol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(4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(途中)大人用です。中学受験2026年南山中学校女子部(その1/2)「【2026年で最も良問】あまりにも面白い図形、小学生が解く問題あなたは解ける？.…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https://qiita.com/mrrclb48z/items/9a6c5aa6f48d4b85093b</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最新のOCR・Document AI 4手法の技術解説（Qwen3-VL / GOT-OCR2.0 / DeepSeek-OCR / PP-OCR）</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https://qiita.com/terurl/items/42f8ca935e30888fdbd1</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グラボをAIに合わせるのではなく、AIをグラボに合わせる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https://zenn.dev/satoshiakiyama/articles/fa3ac9ac64cc93</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 による意味論検証を支える規律 〜参照整合性への応用例を添えて〜</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https://zenn.dev/flip451/articles/sotohe-semantic-gate</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Launch HN: Speko (YC S26) – OpenRouter for Voice AI</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https://speko.ai/</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文脈は「増やす」から「絞る」へ - OpenAI Computer History の設計転換</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https://zenn.dev/suwash/articles/openai-web-computer-history-p2_20260815</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【ChatGPT】クオリティの高い目次付きの資料を簡単に作る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https://qiita.com/uni928/items/aafeb5fd51aadc29f9d8</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結婚したほうが得、でも独身でも損をしない ― 子育てを社会全体で支える国家OSの設計 : システム設計視点の行動経済学 (16)</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https://qiita.com/maskot1977/items/58214aaa5c08ffb32193</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GPT 5.6 Sol is the best "vision" model OpenAI ever released</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https://blog.roboflow.com/openai-gpt-5-6/</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4B→14B、34KB→9KB：自分の業務を支援するローカルLLMを作って詰まった5つのこと</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https://qiita.com/micomia/items/b4303b25e4679630a7bc</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ChatGPTとの開発共同戦線 〜AIと進めるiOSアプリ個人開発〜</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https://qiita.com/i_aki0110/items/bd586a9053215509d805</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Obsidian × AIプラグイン — ChatGPTとClaudeをノート内で使う方法</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https://qiita.com/yukihayama/items/1350de719d30d995b665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(5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26-08-13</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https://qiita.com/masykot582/items/9ce6f10eb31637065a7f</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MLflow GUIで始めるプロンプト改善 #2-1：有名なろう小説を参考にプロンプトを再評価する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https://qiita.com/kazuharu2022/items/b0c45ff57c4f639a609c</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生成AIで「考える力」が落ちる？――MIT研究の「認知負債」と謎解きブームから考える、思考の筋トレ</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https://zenn.dev/kotakotahiro/articles/28b4f169d7ee5b</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YOLO26n・sのFP32とstatic INT8を比較した</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https://qiita.com/Reotech/items/8df27c15430b35b97cad</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「動くAI」から「使えるAI」へ ― 生成AI実装の勘所</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https://zenn.dev/upgradetech/articles/962c9d557465b2</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【Codexで学習ゲーム #1｜ひらがな編】ひらがなをまだ読めない甥っ子のために学習ゲームを作った</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https://qiita.com/moharamo/items/407c057bb315d59da8af</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MLflow GUIで始めるプロンプト改善 #2：小説生成Promptを評価する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https://qiita.com/kazuharu2022/items/9b6f2c5b00627ea64af9</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【お財布にやさしい💛】Cloud Run × GCSで作る「ほぼ月額完全0円」のサーバーレスCMS ＆ Gemini自動画像生成</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https://qiita.com/kuis/items/69f71d014be33d82cac4</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LLMウォーターマークってなんだ？</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https://zenn.dev/paseri_kurosawa/articles/2486fc3766b201</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GPT-5.6・Opus 5・Gemini 3.6、モデルの自己申告があてにならない理由</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https://zenn.dev/every_ai_recipe/articles/ai-model-check-3-steps</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大人用です。「【誰も解けなかった算◯◯◯◯◯◯ク】難しい図形問題に必要な発想力を身につける授業」様を、計算はsympyで作図は手抜きのつもりでした。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https://qiita.com/mrrclb48z/items/7f6c8bc6d69f63a20fb4</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GeminiちゃんにiPhoine Appをつくってもらった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https://qiita.com/hase-k0x01/items/1980764fe9c694b6fd77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(6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日本語OCR 7エンジン×5シナリオ実測比較 — 「大きいモデル=高精度」はOCRでは成立しなかった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https://zenn.dev/ocrjp/articles/c8ccf7c1c4ee82</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Codexを節約するAI開発のススメ ― ChatGPTを司令塔にGitHubとPCを動かす</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https://zenn.dev/shige111111324/articles/c27df84f5fff95</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20年前に衝撃を受けたBrainGate 脳でPCカーソルを動かすBCIとAI時代</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https://qiita.com/s_horikoshi/items/22804dfa955e2ce46255</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SynthIDとは何か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https://zenn.dev/todesking/articles/d23fd40b319388</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Microsoft 365 Apps for business の Excel で ChatGPT アドインを使う</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https://zenn.dev/nishimo/articles/m365-apps-excel-chatgpt-addin</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TabPFN v2.5 vs GBDT：表データの主役は入れ替わったのか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https://zenn.dev/libercraft/articles/20260816-tabpfn-v2-5-vs-gbdt</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【書評】 PythonによるAIプログラミング入門 ―ディープラーニングを始める前に身につけておくべき15の基礎技術</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https://qiita.com/io0323/items/13ed440ae2282311f49f</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ゼロから学ぶローカルLLM #3 LLMの「モデル」とは？ 7B・14B・32Bの違いを理解する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https://qiita.com/YuukiYoshida/items/a36aef013f2b486642fb</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ゼロから学ぶローカルLLM #2 LLMはどうやって文章を生成しているのか？ トークンと推論の仕組みを理解する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https://qiita.com/YuukiYoshida/items/68aa14df457be0eea1c6</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Xのアルゴリズムがまた公開されたので、今回何が増えて、結局どんな投稿が表示されるのかコードを読んで調べた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https://qiita.com/sutaminajing40/items/4aca440dfaf01cc989a6</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L1 vs L2正則化、CNNの重みはどう変わる？【Keras×CIFAR-10実験】</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https://zenn.dev/wasurenamemo/articles/b56c8c73b44add</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ブラジルの首都をAIに聞くと、なぜ自信満々で間違えるのか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https://zenn.dev/m2yagyu/articles/llm-hallucination-confidence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(7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材料データのクレンジング——手法より先に決める順番</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https://zenn.dev/efta1989/articles/cleansing-order-bdl-for-materials</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OpenAIが最大14倍速の「Ultrafast」を限定公開 — 速さは何を変えるのか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https://zenn.dev/kairosai/articles/9bd3f257e61640</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【書評】 Hands-On Machine Learning with Scikit-Learn, Keras, and TensorFlow, 3r…</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https://qiita.com/io0323/items/cf840c2857c8df39ec99</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自動検索されるLLMメモリと、明示的呼び出しのメモリの設計差</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https://zenn.dev/every_ai_recipe/articles/ai-memory-work-mode-settings</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ChatGPTを長期利用していたら、「記憶」より奇妙なものが見えてきた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https://zenn.dev/chalcedony/articles/892dd57656c2b4</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 の合成データ学習でモデル崩壊を分ける更新経路</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https://zenn.dev/id774/articles/ec528731c19d05</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「AIへの指示がうまい人」は、実は言語化がうまいだけ——AIで鍛える一生モノの力</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https://qiita.com/Skillsheet-Port/items/0ea38eeebb9b94dc708e</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A simple fix for LLM tail latency</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https://engineering.myhoai.com/posts/a-simple-fix-for-llm-tail-latency/</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AIを使うときの感覚：上手な指示と長いチャットの扱い方</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https://qiita.com/ramutarafarm/items/3625867c29a869e9f94d</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コピペで使える AIにコードを書かせるプロンプト。初心者がまず覚える型と、そのまま使える例文集</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https://qiita.com/Rapls/items/8acc4aa395b04c184e96</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「トークン消費量が多い」はもう悪口だ——AIを使いこなせない人の、本当の弱点</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https://qiita.com/Skillsheet-Port/items/4cd692961ed03421b794</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第7回 AIと人間は何が違うのか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https://zenn.dev/jinfuroi/articles/b2e3c2c66f7d74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(8 / 8)</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AIが何でも「その通りです」と答えるときに試す一言</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https://qiita.com/masa1113/items/a5093e0c5cd81ff56e10</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DeepSeek 値上げを機に さくらのAI へ移行したら、シフト希望解析が時間 1/3 以下・正解率 100% になった話</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https://qiita.com/emuyn/items/4379a56943d36d20ef02</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生成AIと20回改修して、Jupyter Notebook上に「3Dバーチャートレース」を作った話</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https://zenn.dev/hajimeteradio3/articles/c710f3020097ae</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第8回 AIは知識を学習する。人間は人生を学習する。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https://zenn.dev/jinfuroi/articles/f5ee4abc096810</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画像生成AIで手書きラフから5種類のアプリアイコンを作る</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https://qiita.com/AlexAlex/items/553b864dd25c0ce81adb</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 推しイラストレーターが「ゆるっと絵柄プロンプト」を公開してくれたのでゆるっと調べてみた</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https://qiita.com/Yukidarusan/items/334a22d80a482e70e914</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設計書レビューをAIに頼んだら検出率0%だった — 3役割に分けて86%にした頼み方</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https://qiita.com/moname_ai/items/b665e51fb6f754bc768b</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なぜ「ステップバイステップで考えて」で賢くなるのか──Chain-of-Thoughtの機構と、その説明を信用してはいけない理由</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https://qiita.com/ha-te/items/0b0bd40a8806572743c8</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「作って配ったら終わり」ではない ― GPT化の罠と、フィードバックループ断絶【LLMと上手く付き合う連載 #8】</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https://qiita.com/ha-te/items/a477099b8255f58c12be</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Web上で公開される生成AIチャットボット5社の回答速度を比較！</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https://zenn.dev/sapolas/articles/7e36aca3347e06</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OpenAIとAnthropicが2026年6月12日に発表した内容から、企業のAI導入に必要な要素を整理します。</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https://zenn.dev/kenta_kadowaki/articles/56d3a502356202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