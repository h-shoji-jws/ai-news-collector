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taka_yayoi/items/a349cf0801e76f372ca7" TargetMode="External"/><Relationship Id="rId3" Type="http://schemas.openxmlformats.org/officeDocument/2006/relationships/hyperlink" Target="https://qiita.com/NaokiIshimura/items/71af4e891b2f8f1e7943" TargetMode="External"/><Relationship Id="rId4" Type="http://schemas.openxmlformats.org/officeDocument/2006/relationships/hyperlink" Target="https://qiita.com/tosh_vance/items/2701b5fc3abd995abc73"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sukimaengineer/items/b0b6acf35b3ffae6770a" TargetMode="External"/><Relationship Id="rId3" Type="http://schemas.openxmlformats.org/officeDocument/2006/relationships/hyperlink" Target="https://qiita.com/koukyo/items/f6c2f68daea11698de0f" TargetMode="External"/><Relationship Id="rId4" Type="http://schemas.openxmlformats.org/officeDocument/2006/relationships/hyperlink" Target="https://qiita.com/k-omae/items/0d1bde5d7c18cf24a858"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jqit_suwa/items/fc7f964572190fb8a77a" TargetMode="External"/><Relationship Id="rId3" Type="http://schemas.openxmlformats.org/officeDocument/2006/relationships/hyperlink" Target="https://qiita.com/moha0918_/items/08dfa2f03d89272498dc" TargetMode="External"/><Relationship Id="rId4" Type="http://schemas.openxmlformats.org/officeDocument/2006/relationships/hyperlink" Target="https://qiita.com/peka2/items/830f5ba5a0cd019af23c"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horiken1977/items/5a1384b087cc81dbf768" TargetMode="External"/><Relationship Id="rId3" Type="http://schemas.openxmlformats.org/officeDocument/2006/relationships/hyperlink" Target="https://zenn.dev/kokotatan/articles/first-kaggle-ptcg-ai-battle" TargetMode="External"/><Relationship Id="rId4" Type="http://schemas.openxmlformats.org/officeDocument/2006/relationships/hyperlink" Target="https://qiita.com/pds_siken/items/1c03ab7d8f2a922bec70"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Skillselion/items/bfddb93d6970a6ee8d86" TargetMode="External"/><Relationship Id="rId3" Type="http://schemas.openxmlformats.org/officeDocument/2006/relationships/hyperlink" Target="https://qiita.com/sugarfree/items/8030efadecb6f2326cce" TargetMode="External"/><Relationship Id="rId4" Type="http://schemas.openxmlformats.org/officeDocument/2006/relationships/hyperlink" Target="https://zenn.dev/lixian/articles/erpo-environment-regularized-policy-optimizatio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taka_yayoi/items/a349cf0801e76f372ca7" TargetMode="External"/><Relationship Id="rId3" Type="http://schemas.openxmlformats.org/officeDocument/2006/relationships/hyperlink" Target="https://qiita.com/NaokiIshimura/items/71af4e891b2f8f1e7943" TargetMode="External"/><Relationship Id="rId4" Type="http://schemas.openxmlformats.org/officeDocument/2006/relationships/hyperlink" Target="https://qiita.com/tosh_vance/items/2701b5fc3abd995abc73" TargetMode="External"/><Relationship Id="rId5" Type="http://schemas.openxmlformats.org/officeDocument/2006/relationships/hyperlink" Target="https://qiita.com/sp-n-taka/items/3adbd57bbf054aeba0e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akiralab/items/c878b37ab8e1973df729" TargetMode="External"/><Relationship Id="rId3" Type="http://schemas.openxmlformats.org/officeDocument/2006/relationships/hyperlink" Target="https://qiita.com/volcane/items/9641df49aa23b9759f14" TargetMode="External"/><Relationship Id="rId4" Type="http://schemas.openxmlformats.org/officeDocument/2006/relationships/hyperlink" Target="https://zenn.dev/joinclass/articles/1-20260827220003-32154" TargetMode="External"/><Relationship Id="rId5" Type="http://schemas.openxmlformats.org/officeDocument/2006/relationships/hyperlink" Target="https://qiita.com/Kurodashi/items/ad3e78642bf86715448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sukimaengineer/items/b0b6acf35b3ffae6770a" TargetMode="External"/><Relationship Id="rId3" Type="http://schemas.openxmlformats.org/officeDocument/2006/relationships/hyperlink" Target="https://qiita.com/koukyo/items/f6c2f68daea11698de0f" TargetMode="External"/><Relationship Id="rId4" Type="http://schemas.openxmlformats.org/officeDocument/2006/relationships/hyperlink" Target="https://qiita.com/k-omae/items/0d1bde5d7c18cf24a858" TargetMode="External"/><Relationship Id="rId5" Type="http://schemas.openxmlformats.org/officeDocument/2006/relationships/hyperlink" Target="https://qiita.com/tri-ponte/items/6c03abe0f988692ed7e7"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IG_Matsuo/items/b13fce894fea50afd3ef" TargetMode="External"/><Relationship Id="rId3" Type="http://schemas.openxmlformats.org/officeDocument/2006/relationships/hyperlink" Target="https://zenn.dev/talks_tldr_jp/articles/tldr27-osmani-summary" TargetMode="External"/><Relationship Id="rId4" Type="http://schemas.openxmlformats.org/officeDocument/2006/relationships/hyperlink" Target="https://zenn.dev/acntechjp/articles/2f8dcc6abcf646" TargetMode="External"/><Relationship Id="rId5" Type="http://schemas.openxmlformats.org/officeDocument/2006/relationships/hyperlink" Target="https://qiita.com/YushiYamamoto/items/6d54cd257578dd59d47a"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jqit_suwa/items/fc7f964572190fb8a77a" TargetMode="External"/><Relationship Id="rId3" Type="http://schemas.openxmlformats.org/officeDocument/2006/relationships/hyperlink" Target="https://qiita.com/moha0918_/items/08dfa2f03d89272498dc" TargetMode="External"/><Relationship Id="rId4" Type="http://schemas.openxmlformats.org/officeDocument/2006/relationships/hyperlink" Target="https://qiita.com/peka2/items/830f5ba5a0cd019af23c" TargetMode="External"/><Relationship Id="rId5" Type="http://schemas.openxmlformats.org/officeDocument/2006/relationships/hyperlink" Target="https://qiita.com/metabirdsdev/items/0abd98e104c84ab75811"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Karentia/items/ee08b50d7bd0ee348cc2" TargetMode="External"/><Relationship Id="rId3" Type="http://schemas.openxmlformats.org/officeDocument/2006/relationships/hyperlink" Target="https://qiita.com/usapino/items/cd0e9c6dafdb227d6da9" TargetMode="External"/><Relationship Id="rId4" Type="http://schemas.openxmlformats.org/officeDocument/2006/relationships/hyperlink" Target="https://news.ycombinator.com/item?id=49488654" TargetMode="External"/><Relationship Id="rId5" Type="http://schemas.openxmlformats.org/officeDocument/2006/relationships/hyperlink" Target="https://qiita.com/NaokiIshimura/items/d5f4f1d4586f7051231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horiken1977/items/5a1384b087cc81dbf768" TargetMode="External"/><Relationship Id="rId3" Type="http://schemas.openxmlformats.org/officeDocument/2006/relationships/hyperlink" Target="https://zenn.dev/kokotatan/articles/first-kaggle-ptcg-ai-battle" TargetMode="External"/><Relationship Id="rId4" Type="http://schemas.openxmlformats.org/officeDocument/2006/relationships/hyperlink" Target="https://qiita.com/pds_siken/items/1c03ab7d8f2a922bec70" TargetMode="External"/><Relationship Id="rId5" Type="http://schemas.openxmlformats.org/officeDocument/2006/relationships/hyperlink" Target="https://qiita.com/nttdata-ccs-techblog/items/6d7073a085574c6674a1"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Urushihara-T/items/f878ffb348694926eb94" TargetMode="External"/><Relationship Id="rId3" Type="http://schemas.openxmlformats.org/officeDocument/2006/relationships/hyperlink" Target="https://qiita.com/ReQ_HY/items/40c85586c33888d9dd79" TargetMode="External"/><Relationship Id="rId4" Type="http://schemas.openxmlformats.org/officeDocument/2006/relationships/hyperlink" Target="https://qiita.com/kenichiyoshioka/items/33eb43be044f7f19b1fe" TargetMode="External"/><Relationship Id="rId5" Type="http://schemas.openxmlformats.org/officeDocument/2006/relationships/hyperlink" Target="https://zenn.dev/mbk_digital/articles/4945c084b8694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Skillselion/items/bfddb93d6970a6ee8d86" TargetMode="External"/><Relationship Id="rId3" Type="http://schemas.openxmlformats.org/officeDocument/2006/relationships/hyperlink" Target="https://qiita.com/sugarfree/items/8030efadecb6f2326cce" TargetMode="External"/><Relationship Id="rId4" Type="http://schemas.openxmlformats.org/officeDocument/2006/relationships/hyperlink" Target="https://zenn.dev/lixian/articles/erpo-environment-regularized-policy-optimization" TargetMode="External"/><Relationship Id="rId5" Type="http://schemas.openxmlformats.org/officeDocument/2006/relationships/hyperlink" Target="https://qiita.com/mikihitooooo/items/c419f0503228120404a8"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jqit_suwa/items/4231026d13f7527c0f69" TargetMode="External"/><Relationship Id="rId3" Type="http://schemas.openxmlformats.org/officeDocument/2006/relationships/hyperlink" Target="https://qiita.com/youtoy/items/c77c89874e24c45565bc" TargetMode="External"/><Relationship Id="rId4" Type="http://schemas.openxmlformats.org/officeDocument/2006/relationships/hyperlink" Target="https://qiita.com/Tsutomu_eng/items/371d5806f0ad53e0a8d4" TargetMode="External"/><Relationship Id="rId5" Type="http://schemas.openxmlformats.org/officeDocument/2006/relationships/hyperlink" Target="https://qiita.com/susie000720/items/9c18b0c52d10f7ecec55" TargetMode="External"/><Relationship Id="rId6" Type="http://schemas.openxmlformats.org/officeDocument/2006/relationships/hyperlink" Target="https://qiita.com/nakanokensetsu/items/ed106b67ea0da13c567d" TargetMode="External"/><Relationship Id="rId7" Type="http://schemas.openxmlformats.org/officeDocument/2006/relationships/hyperlink" Target="https://qiita.com/kumaboarder/items/43832e01015f9b108443" TargetMode="External"/><Relationship Id="rId8" Type="http://schemas.openxmlformats.org/officeDocument/2006/relationships/hyperlink" Target="https://qiita.com/syun136_616/items/b8e94720d9259864b022" TargetMode="External"/><Relationship Id="rId9" Type="http://schemas.openxmlformats.org/officeDocument/2006/relationships/hyperlink" Target="https://qiita.com/sunstripe2011/items/2f9bb896892107846e8a" TargetMode="External"/><Relationship Id="rId10" Type="http://schemas.openxmlformats.org/officeDocument/2006/relationships/hyperlink" Target="https://lists.debian.org/debian-vote/2026/08/msg00360.html" TargetMode="External"/><Relationship Id="rId11" Type="http://schemas.openxmlformats.org/officeDocument/2006/relationships/hyperlink" Target="https://exploring-better-ways.bellroy.com/what-we-optimise-for-when-we-reach-for-an-llm.html" TargetMode="External"/><Relationship Id="rId12" Type="http://schemas.openxmlformats.org/officeDocument/2006/relationships/hyperlink" Target="https://tinker-docs.thinkingmachines.ai/tinker/models/" TargetMode="External"/><Relationship Id="rId13" Type="http://schemas.openxmlformats.org/officeDocument/2006/relationships/hyperlink" Target="https://qiita.com/Junko-Takahashi-Cloud/items/6018da770871d534ac31"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pisantifrancesco89/Project-LightSwitch" TargetMode="External"/><Relationship Id="rId3" Type="http://schemas.openxmlformats.org/officeDocument/2006/relationships/hyperlink" Target="https://qiita.com/ennagara128/items/cb5905c16533bc1163f3" TargetMode="External"/><Relationship Id="rId4" Type="http://schemas.openxmlformats.org/officeDocument/2006/relationships/hyperlink" Target="https://qiita.com/kazuharu2022/items/0696be76f51a5874e72f" TargetMode="External"/><Relationship Id="rId5" Type="http://schemas.openxmlformats.org/officeDocument/2006/relationships/hyperlink" Target="https://qiita.com/anquimomonaca/items/92b2d0de49bd77c2d670" TargetMode="External"/><Relationship Id="rId6" Type="http://schemas.openxmlformats.org/officeDocument/2006/relationships/hyperlink" Target="https://qiita.com/ubakichi_sr_mc_ai_06/items/1799c0450d26a92f8cec" TargetMode="External"/><Relationship Id="rId7" Type="http://schemas.openxmlformats.org/officeDocument/2006/relationships/hyperlink" Target="https://zenn.dev/hrmtz/articles/vibe-coding-architecture-signature" TargetMode="External"/><Relationship Id="rId8" Type="http://schemas.openxmlformats.org/officeDocument/2006/relationships/hyperlink" Target="https://zenn.dev/gitmame00/articles/845219b4659980" TargetMode="External"/><Relationship Id="rId9" Type="http://schemas.openxmlformats.org/officeDocument/2006/relationships/hyperlink" Target="https://zenn.dev/nooop/articles/ea1bb8866bdb5e" TargetMode="External"/><Relationship Id="rId10" Type="http://schemas.openxmlformats.org/officeDocument/2006/relationships/hyperlink" Target="https://qiita.com/Kanda_IngeniousDesign/items/1373e261933d51f7463e" TargetMode="External"/><Relationship Id="rId11" Type="http://schemas.openxmlformats.org/officeDocument/2006/relationships/hyperlink" Target="https://qiita.com/maskot1977/items/f3f9343c64efd53d5023" TargetMode="External"/><Relationship Id="rId12" Type="http://schemas.openxmlformats.org/officeDocument/2006/relationships/hyperlink" Target="https://qiita.com/ykosuda/items/6f427c11cd36e2c382d1" TargetMode="External"/><Relationship Id="rId13" Type="http://schemas.openxmlformats.org/officeDocument/2006/relationships/hyperlink" Target="https://qiita.com/ykosuda/items/09dcb18d1fa837a4ff9f"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wning.systems/posts/llm-memory-program-analysis/" TargetMode="External"/><Relationship Id="rId3" Type="http://schemas.openxmlformats.org/officeDocument/2006/relationships/hyperlink" Target="https://qiita.com/Ihmon/items/c7c555c64e7befc3f364" TargetMode="External"/><Relationship Id="rId4" Type="http://schemas.openxmlformats.org/officeDocument/2006/relationships/hyperlink" Target="https://qiita.com/mrrclb48z/items/15dd20eca64cec489509" TargetMode="External"/><Relationship Id="rId5" Type="http://schemas.openxmlformats.org/officeDocument/2006/relationships/hyperlink" Target="https://zenn.dev/tomy1noriyamame/articles/8533731a706392" TargetMode="External"/><Relationship Id="rId6" Type="http://schemas.openxmlformats.org/officeDocument/2006/relationships/hyperlink" Target="https://qiita.com/TaichiEndoh/items/4be5c74e50c1f5568d49" TargetMode="External"/><Relationship Id="rId7" Type="http://schemas.openxmlformats.org/officeDocument/2006/relationships/hyperlink" Target="https://zenn.dev/every_ai_recipe/articles/ai-record-skill-screen-recording" TargetMode="External"/><Relationship Id="rId8" Type="http://schemas.openxmlformats.org/officeDocument/2006/relationships/hyperlink" Target="https://qiita.com/ykosuda/items/a74e706b07142406cf83" TargetMode="External"/><Relationship Id="rId9" Type="http://schemas.openxmlformats.org/officeDocument/2006/relationships/hyperlink" Target="https://zenn.dev/supertaro/articles/98e4d893607861" TargetMode="External"/><Relationship Id="rId10" Type="http://schemas.openxmlformats.org/officeDocument/2006/relationships/hyperlink" Target="https://qiita.com/tsuzuri_ai/items/2b9b1c9c06df23daa803" TargetMode="External"/><Relationship Id="rId11" Type="http://schemas.openxmlformats.org/officeDocument/2006/relationships/hyperlink" Target="https://zenn.dev/videostance/articles/703bb66b631238" TargetMode="External"/><Relationship Id="rId12" Type="http://schemas.openxmlformats.org/officeDocument/2006/relationships/hyperlink" Target="https://qiita.com/Solbear/items/2ba5ae5c67cbece68142" TargetMode="External"/><Relationship Id="rId13" Type="http://schemas.openxmlformats.org/officeDocument/2006/relationships/hyperlink" Target="https://zenn.dev/ykosuda/articles/structure-levels-03-six-level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dsnfuji/items/6289aeba4c298ae83441" TargetMode="External"/><Relationship Id="rId3" Type="http://schemas.openxmlformats.org/officeDocument/2006/relationships/hyperlink" Target="https://qiita.com/b2b_tools/items/02e8a14ef045a27e8f4b" TargetMode="External"/><Relationship Id="rId4" Type="http://schemas.openxmlformats.org/officeDocument/2006/relationships/hyperlink" Target="https://zenn.dev/catinpajamas/articles/b46b53cc92375d" TargetMode="External"/><Relationship Id="rId5" Type="http://schemas.openxmlformats.org/officeDocument/2006/relationships/hyperlink" Target="https://zenn.dev/hiro_algo/articles/fx-regression-vs-classification" TargetMode="External"/><Relationship Id="rId6" Type="http://schemas.openxmlformats.org/officeDocument/2006/relationships/hyperlink" Target="https://qiita.com/Watabe_zeevaa/items/64d58333ba3436bdd42b" TargetMode="External"/><Relationship Id="rId7" Type="http://schemas.openxmlformats.org/officeDocument/2006/relationships/hyperlink" Target="https://zenn.dev/uguisu_blog/articles/9a6ae4bc4fc280" TargetMode="External"/><Relationship Id="rId8" Type="http://schemas.openxmlformats.org/officeDocument/2006/relationships/hyperlink" Target="https://zenn.dev/kiyoka/articles/sumibi-ios-guide" TargetMode="External"/><Relationship Id="rId9" Type="http://schemas.openxmlformats.org/officeDocument/2006/relationships/hyperlink" Target="https://qiita.com/tri-ponte/items/7b5973de22d30072ca76" TargetMode="External"/><Relationship Id="rId10" Type="http://schemas.openxmlformats.org/officeDocument/2006/relationships/hyperlink" Target="https://qiita.com/dosanko_tousan/items/eb70c22c157c0a1efd91" TargetMode="External"/><Relationship Id="rId11" Type="http://schemas.openxmlformats.org/officeDocument/2006/relationships/hyperlink" Target="https://qiita.com/akiralab/items/4bdb99b9b750acffb1f1" TargetMode="External"/><Relationship Id="rId12" Type="http://schemas.openxmlformats.org/officeDocument/2006/relationships/hyperlink" Target="https://zenn.dev/c_a_p_engineer/articles/hello-tsuzuri" TargetMode="External"/><Relationship Id="rId13" Type="http://schemas.openxmlformats.org/officeDocument/2006/relationships/hyperlink" Target="https://qiita.com/masykot582/items/61d5fc2a8326d80ceeb4"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quotidia/items/1d26585917afadb98c02" TargetMode="External"/><Relationship Id="rId3" Type="http://schemas.openxmlformats.org/officeDocument/2006/relationships/hyperlink" Target="https://zenn.dev/h4m4chi/articles/db5b3478bd7c00" TargetMode="External"/><Relationship Id="rId4" Type="http://schemas.openxmlformats.org/officeDocument/2006/relationships/hyperlink" Target="https://qiita.com/mrrclb48z/items/982be2183d0572c7425c" TargetMode="External"/><Relationship Id="rId5" Type="http://schemas.openxmlformats.org/officeDocument/2006/relationships/hyperlink" Target="https://qiita.com/maskot1977/items/9f0161a29cb3233e41a4" TargetMode="External"/><Relationship Id="rId6" Type="http://schemas.openxmlformats.org/officeDocument/2006/relationships/hyperlink" Target="https://qiita.com/haru-qiita/items/35b398bc0e05d7815a17" TargetMode="External"/><Relationship Id="rId7" Type="http://schemas.openxmlformats.org/officeDocument/2006/relationships/hyperlink" Target="https://qiita.com/arumada-5u/items/f31335bbac7b5b9e404e" TargetMode="External"/><Relationship Id="rId8" Type="http://schemas.openxmlformats.org/officeDocument/2006/relationships/hyperlink" Target="https://qiita.com/HN6039940/items/e794b2340a113c85fd1d" TargetMode="External"/><Relationship Id="rId9" Type="http://schemas.openxmlformats.org/officeDocument/2006/relationships/hyperlink" Target="https://qiita.com/yushibats/items/5976a0ac8db82bd1c2bf" TargetMode="External"/><Relationship Id="rId10" Type="http://schemas.openxmlformats.org/officeDocument/2006/relationships/hyperlink" Target="https://zenn.dev/videostance/articles/fdcc6015e6108f" TargetMode="External"/><Relationship Id="rId11" Type="http://schemas.openxmlformats.org/officeDocument/2006/relationships/hyperlink" Target="https://qiita.com/mrrclb48z/items/ed37bd1306f13b33911a" TargetMode="External"/><Relationship Id="rId12" Type="http://schemas.openxmlformats.org/officeDocument/2006/relationships/hyperlink" Target="https://zenn.dev/hiro_algo/articles/fx-seq2seq-vs-random-walk" TargetMode="External"/><Relationship Id="rId13" Type="http://schemas.openxmlformats.org/officeDocument/2006/relationships/hyperlink" Target="https://qiita.com/lowgain/items/4a4ffffb2468ef54074d"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uni928/items/209d369195559adc29dd" TargetMode="External"/><Relationship Id="rId3" Type="http://schemas.openxmlformats.org/officeDocument/2006/relationships/hyperlink" Target="https://zenn.dev/acntechjp/articles/433b7375dcbaea" TargetMode="External"/><Relationship Id="rId4" Type="http://schemas.openxmlformats.org/officeDocument/2006/relationships/hyperlink" Target="https://qiita.com/TheGateBreaker/items/e45940adfa60df20b4df" TargetMode="External"/><Relationship Id="rId5" Type="http://schemas.openxmlformats.org/officeDocument/2006/relationships/hyperlink" Target="https://qiita.com/picnic/items/1b7fa920533a1c5e91f3" TargetMode="External"/><Relationship Id="rId6" Type="http://schemas.openxmlformats.org/officeDocument/2006/relationships/hyperlink" Target="https://zenn.dev/shiomusubi/articles/9c1f76b843b525" TargetMode="External"/><Relationship Id="rId7" Type="http://schemas.openxmlformats.org/officeDocument/2006/relationships/hyperlink" Target="https://zenn.dev/h888s/articles/dscert-attention" TargetMode="External"/><Relationship Id="rId8" Type="http://schemas.openxmlformats.org/officeDocument/2006/relationships/hyperlink" Target="https://qiita.com/maskot1977/items/141e8199d948b93c1086" TargetMode="External"/><Relationship Id="rId9" Type="http://schemas.openxmlformats.org/officeDocument/2006/relationships/hyperlink" Target="https://zenn.dev/acntechjp/articles/931d75941aafe1" TargetMode="External"/><Relationship Id="rId10" Type="http://schemas.openxmlformats.org/officeDocument/2006/relationships/hyperlink" Target="https://qiita.com/h-nasu/items/5634ceb0619b37ef7f98" TargetMode="External"/><Relationship Id="rId11" Type="http://schemas.openxmlformats.org/officeDocument/2006/relationships/hyperlink" Target="https://qiita.com/GeneLab_999/items/5f6fedad9eee99d0fa5a" TargetMode="External"/><Relationship Id="rId12" Type="http://schemas.openxmlformats.org/officeDocument/2006/relationships/hyperlink" Target="https://zenn.dev/okssusucha/articles/20260712-openai-gpt-live-full-duplex-voice" TargetMode="External"/><Relationship Id="rId13" Type="http://schemas.openxmlformats.org/officeDocument/2006/relationships/hyperlink" Target="https://zenn.dev/shakeailab/articles/yinyang-decision-boundary"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web_benriya/articles/bigquery-ml-gemini-ec-purchase-prediction" TargetMode="External"/><Relationship Id="rId3" Type="http://schemas.openxmlformats.org/officeDocument/2006/relationships/hyperlink" Target="https://qiita.com/yujiiwadate0247/items/826a6d14bb69e46b84be" TargetMode="External"/><Relationship Id="rId4" Type="http://schemas.openxmlformats.org/officeDocument/2006/relationships/hyperlink" Target="https://zenn.dev/sapolas/articles/45a3a1456e1dfb" TargetMode="External"/><Relationship Id="rId5" Type="http://schemas.openxmlformats.org/officeDocument/2006/relationships/hyperlink" Target="https://zenn.dev/syoshida07/articles/74c161db43677c" TargetMode="External"/><Relationship Id="rId6" Type="http://schemas.openxmlformats.org/officeDocument/2006/relationships/hyperlink" Target="https://qiita.com/GeneLab_999/items/118327a750f45616507b" TargetMode="External"/><Relationship Id="rId7" Type="http://schemas.openxmlformats.org/officeDocument/2006/relationships/hyperlink" Target="https://zenn.dev/m2yagyu/articles/rope-long-context-breakdown" TargetMode="External"/><Relationship Id="rId8" Type="http://schemas.openxmlformats.org/officeDocument/2006/relationships/hyperlink" Target="https://zenn.dev/simossyi/articles/d45eb33a52bfe9" TargetMode="External"/><Relationship Id="rId9" Type="http://schemas.openxmlformats.org/officeDocument/2006/relationships/hyperlink" Target="https://qiita.com/moname_ai/items/c6f488f184367bce3d40" TargetMode="External"/><Relationship Id="rId10" Type="http://schemas.openxmlformats.org/officeDocument/2006/relationships/hyperlink" Target="https://zenn.dev/shiomusubi/articles/897e5b9c1913cf" TargetMode="External"/><Relationship Id="rId11" Type="http://schemas.openxmlformats.org/officeDocument/2006/relationships/hyperlink" Target="https://zenn.dev/exapolicy/articles/dbda26ea383b7e" TargetMode="External"/><Relationship Id="rId12" Type="http://schemas.openxmlformats.org/officeDocument/2006/relationships/hyperlink" Target="https://qiita.com/ishizakahiroshi/items/a7065348ad7ca46ca521" TargetMode="External"/><Relationship Id="rId13" Type="http://schemas.openxmlformats.org/officeDocument/2006/relationships/hyperlink" Target="https://zenn.dev/anguoyang/articles/589250e3b61cc9"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apmc/items/a37fb37d869aa657e300" TargetMode="External"/><Relationship Id="rId3" Type="http://schemas.openxmlformats.org/officeDocument/2006/relationships/hyperlink" Target="https://zenn.dev/shineos/articles/local-llm-finance-internal-manual-qa" TargetMode="External"/><Relationship Id="rId4" Type="http://schemas.openxmlformats.org/officeDocument/2006/relationships/hyperlink" Target="https://qiita.com/h-nasu/items/d0b2601bb179a6cdd5eb" TargetMode="External"/><Relationship Id="rId5" Type="http://schemas.openxmlformats.org/officeDocument/2006/relationships/hyperlink" Target="https://zenn.dev/todesking/articles/d23fd40b319388" TargetMode="External"/><Relationship Id="rId6" Type="http://schemas.openxmlformats.org/officeDocument/2006/relationships/hyperlink" Target="https://qiita.com/otoyo0318/items/411f8f3d4813f66c3af9" TargetMode="External"/><Relationship Id="rId7" Type="http://schemas.openxmlformats.org/officeDocument/2006/relationships/hyperlink" Target="https://qiita.com/Skillsheet-Port/items/0ea38eeebb9b94dc708e" TargetMode="External"/><Relationship Id="rId8" Type="http://schemas.openxmlformats.org/officeDocument/2006/relationships/hyperlink" Target="https://qiita.com/ramutarafarm/items/3625867c29a869e9f94d" TargetMode="External"/><Relationship Id="rId9" Type="http://schemas.openxmlformats.org/officeDocument/2006/relationships/hyperlink" Target="https://qiita.com/Rapls/items/8acc4aa395b04c184e96" TargetMode="External"/><Relationship Id="rId10" Type="http://schemas.openxmlformats.org/officeDocument/2006/relationships/hyperlink" Target="https://qiita.com/Skillsheet-Port/items/4cd692961ed03421b794" TargetMode="External"/><Relationship Id="rId11" Type="http://schemas.openxmlformats.org/officeDocument/2006/relationships/hyperlink" Target="https://zenn.dev/jinfuroi/articles/b2e3c2c66f7d74" TargetMode="External"/><Relationship Id="rId12" Type="http://schemas.openxmlformats.org/officeDocument/2006/relationships/hyperlink" Target="https://qiita.com/masa1113/items/a5093e0c5cd81ff56e10" TargetMode="External"/><Relationship Id="rId13" Type="http://schemas.openxmlformats.org/officeDocument/2006/relationships/hyperlink" Target="https://qiita.com/emuyn/items/4379a56943d36d20ef02"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hajimeteradio3/articles/c710f3020097ae" TargetMode="External"/><Relationship Id="rId3" Type="http://schemas.openxmlformats.org/officeDocument/2006/relationships/hyperlink" Target="https://zenn.dev/jinfuroi/articles/f5ee4abc096810" TargetMode="External"/><Relationship Id="rId4" Type="http://schemas.openxmlformats.org/officeDocument/2006/relationships/hyperlink" Target="https://zenn.dev/sapolas/articles/7e36aca3347e06"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3240"/>
            <a:ext cx="12188952" cy="54864"/>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698480" cy="1371600"/>
          </a:xfrm>
          <a:prstGeom prst="rect">
            <a:avLst/>
          </a:prstGeom>
          <a:noFill/>
        </p:spPr>
        <p:txBody>
          <a:bodyPr wrap="square">
            <a:spAutoFit/>
          </a:bodyPr>
          <a:lstStyle/>
          <a:p>
            <a:pPr algn="ctr"/>
            <a:r>
              <a:rPr sz="4400" b="1">
                <a:solidFill>
                  <a:srgbClr val="FFFFFF"/>
                </a:solidFill>
              </a:rPr>
              <a:t>AI ニュース日報</a:t>
            </a:r>
          </a:p>
        </p:txBody>
      </p:sp>
      <p:sp>
        <p:nvSpPr>
          <p:cNvPr id="5" name="TextBox 4"/>
          <p:cNvSpPr txBox="1"/>
          <p:nvPr/>
        </p:nvSpPr>
        <p:spPr>
          <a:xfrm>
            <a:off x="731520" y="2743200"/>
            <a:ext cx="10698480" cy="640080"/>
          </a:xfrm>
          <a:prstGeom prst="rect">
            <a:avLst/>
          </a:prstGeom>
          <a:noFill/>
        </p:spPr>
        <p:txBody>
          <a:bodyPr wrap="square">
            <a:spAutoFit/>
          </a:bodyPr>
          <a:lstStyle/>
          <a:p>
            <a:pPr algn="ctr"/>
            <a:r>
              <a:rPr sz="2200" b="0">
                <a:solidFill>
                  <a:srgbClr val="AED6F1"/>
                </a:solidFill>
              </a:rPr>
              <a:t>2026-08-29</a:t>
            </a:r>
          </a:p>
        </p:txBody>
      </p:sp>
      <p:sp>
        <p:nvSpPr>
          <p:cNvPr id="6" name="TextBox 5"/>
          <p:cNvSpPr txBox="1"/>
          <p:nvPr/>
        </p:nvSpPr>
        <p:spPr>
          <a:xfrm>
            <a:off x="731520" y="3474720"/>
            <a:ext cx="10698480" cy="548640"/>
          </a:xfrm>
          <a:prstGeom prst="rect">
            <a:avLst/>
          </a:prstGeom>
          <a:noFill/>
        </p:spPr>
        <p:txBody>
          <a:bodyPr wrap="square">
            <a:spAutoFit/>
          </a:bodyPr>
          <a:lstStyle/>
          <a:p>
            <a:pPr algn="ctr"/>
            <a:r>
              <a:rPr sz="1800" b="0">
                <a:solidFill>
                  <a:srgbClr val="85C1E9"/>
                </a:solidFill>
              </a:rPr>
              <a:t>総収集記事数：226 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37160" cy="1005840"/>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1430000" cy="777240"/>
          </a:xfrm>
          <a:prstGeom prst="rect">
            <a:avLst/>
          </a:prstGeom>
          <a:noFill/>
        </p:spPr>
        <p:txBody>
          <a:bodyPr wrap="square">
            <a:spAutoFit/>
          </a:bodyPr>
          <a:lstStyle/>
          <a:p>
            <a:pPr algn="l"/>
            <a:r>
              <a:rPr sz="2600" b="1">
                <a:solidFill>
                  <a:srgbClr val="FFFFFF"/>
                </a:solidFill>
              </a:rPr>
              <a:t>本日のテーマ別サマリー</a:t>
            </a:r>
          </a:p>
        </p:txBody>
      </p:sp>
      <p:graphicFrame>
        <p:nvGraphicFramePr>
          <p:cNvPr id="6" name="Table 5"/>
          <p:cNvGraphicFramePr>
            <a:graphicFrameLocks noGrp="1"/>
          </p:cNvGraphicFramePr>
          <p:nvPr/>
        </p:nvGraphicFramePr>
        <p:xfrm>
          <a:off x="1371600" y="1554480"/>
          <a:ext cx="9418320" cy="4754880"/>
        </p:xfrm>
        <a:graphic>
          <a:graphicData uri="http://schemas.openxmlformats.org/drawingml/2006/table">
            <a:tbl>
              <a:tblPr firstRow="1" bandRow="1">
                <a:tableStyleId>{5C22544A-7EE6-4342-B048-85BDC9FD1C3A}</a:tableStyleId>
              </a:tblPr>
              <a:tblGrid>
                <a:gridCol w="5760720"/>
                <a:gridCol w="1737360"/>
                <a:gridCol w="1920240"/>
              </a:tblGrid>
              <a:tr h="594360">
                <a:tc>
                  <a:txBody>
                    <a:bodyPr/>
                    <a:lstStyle/>
                    <a:p>
                      <a:pPr algn="l"/>
                      <a:r>
                        <a:rPr sz="1100" b="1">
                          <a:solidFill>
                            <a:srgbClr val="FFFFFF"/>
                          </a:solidFill>
                        </a:rPr>
                        <a:t>テーマ</a:t>
                      </a:r>
                    </a:p>
                  </a:txBody>
                  <a:tcPr>
                    <a:solidFill>
                      <a:srgbClr val="233C5F"/>
                    </a:solidFill>
                  </a:tcPr>
                </a:tc>
                <a:tc>
                  <a:txBody>
                    <a:bodyPr/>
                    <a:lstStyle/>
                    <a:p>
                      <a:pPr algn="ctr"/>
                      <a:r>
                        <a:rPr sz="1100" b="1">
                          <a:solidFill>
                            <a:srgbClr val="FFFFFF"/>
                          </a:solidFill>
                        </a:rPr>
                        <a:t>件数</a:t>
                      </a:r>
                    </a:p>
                  </a:txBody>
                  <a:tcPr>
                    <a:solidFill>
                      <a:srgbClr val="233C5F"/>
                    </a:solidFill>
                  </a:tcPr>
                </a:tc>
                <a:tc>
                  <a:txBody>
                    <a:bodyPr/>
                    <a:lstStyle/>
                    <a:p>
                      <a:pPr algn="ctr"/>
                      <a:r>
                        <a:rPr sz="1100" b="1">
                          <a:solidFill>
                            <a:srgbClr val="FFFFFF"/>
                          </a:solidFill>
                        </a:rPr>
                        <a:t>割合</a:t>
                      </a:r>
                    </a:p>
                  </a:txBody>
                  <a:tcPr>
                    <a:solidFill>
                      <a:srgbClr val="233C5F"/>
                    </a:solidFill>
                  </a:tcPr>
                </a:tc>
              </a:tr>
              <a:tr h="594360">
                <a:tc>
                  <a:txBody>
                    <a:bodyPr/>
                    <a:lstStyle/>
                    <a:p>
                      <a:pPr algn="l"/>
                      <a:r>
                        <a:rPr sz="1200" b="0">
                          <a:solidFill>
                            <a:srgbClr val="D0E4F7"/>
                          </a:solidFill>
                        </a:rPr>
                        <a:t>● IT運用・自動化</a:t>
                      </a:r>
                    </a:p>
                  </a:txBody>
                  <a:tcPr>
                    <a:solidFill>
                      <a:srgbClr val="1E2D47"/>
                    </a:solidFill>
                  </a:tcPr>
                </a:tc>
                <a:tc>
                  <a:txBody>
                    <a:bodyPr/>
                    <a:lstStyle/>
                    <a:p>
                      <a:pPr algn="ctr"/>
                      <a:r>
                        <a:rPr sz="1200" b="0">
                          <a:solidFill>
                            <a:srgbClr val="E74C3C"/>
                          </a:solidFill>
                        </a:rPr>
                        <a:t>19 件</a:t>
                      </a:r>
                    </a:p>
                  </a:txBody>
                  <a:tcPr>
                    <a:solidFill>
                      <a:srgbClr val="1E2D47"/>
                    </a:solidFill>
                  </a:tcPr>
                </a:tc>
                <a:tc>
                  <a:txBody>
                    <a:bodyPr/>
                    <a:lstStyle/>
                    <a:p>
                      <a:pPr algn="ctr"/>
                      <a:r>
                        <a:rPr sz="1200" b="0">
                          <a:solidFill>
                            <a:srgbClr val="D0E4F7"/>
                          </a:solidFill>
                        </a:rPr>
                        <a:t>7.1%</a:t>
                      </a:r>
                    </a:p>
                  </a:txBody>
                  <a:tcPr>
                    <a:solidFill>
                      <a:srgbClr val="1E2D47"/>
                    </a:solidFill>
                  </a:tcPr>
                </a:tc>
              </a:tr>
              <a:tr h="594360">
                <a:tc>
                  <a:txBody>
                    <a:bodyPr/>
                    <a:lstStyle/>
                    <a:p>
                      <a:pPr algn="l"/>
                      <a:r>
                        <a:rPr sz="1200" b="0">
                          <a:solidFill>
                            <a:srgbClr val="D0E4F7"/>
                          </a:solidFill>
                        </a:rPr>
                        <a:t>● RAG・検索基盤設計</a:t>
                      </a:r>
                    </a:p>
                  </a:txBody>
                  <a:tcPr>
                    <a:solidFill>
                      <a:srgbClr val="162238"/>
                    </a:solidFill>
                  </a:tcPr>
                </a:tc>
                <a:tc>
                  <a:txBody>
                    <a:bodyPr/>
                    <a:lstStyle/>
                    <a:p>
                      <a:pPr algn="ctr"/>
                      <a:r>
                        <a:rPr sz="1200" b="0">
                          <a:solidFill>
                            <a:srgbClr val="2980B9"/>
                          </a:solidFill>
                        </a:rPr>
                        <a:t>31 件</a:t>
                      </a:r>
                    </a:p>
                  </a:txBody>
                  <a:tcPr>
                    <a:solidFill>
                      <a:srgbClr val="162238"/>
                    </a:solidFill>
                  </a:tcPr>
                </a:tc>
                <a:tc>
                  <a:txBody>
                    <a:bodyPr/>
                    <a:lstStyle/>
                    <a:p>
                      <a:pPr algn="ctr"/>
                      <a:r>
                        <a:rPr sz="1200" b="0">
                          <a:solidFill>
                            <a:srgbClr val="D0E4F7"/>
                          </a:solidFill>
                        </a:rPr>
                        <a:t>11.6%</a:t>
                      </a:r>
                    </a:p>
                  </a:txBody>
                  <a:tcPr>
                    <a:solidFill>
                      <a:srgbClr val="162238"/>
                    </a:solidFill>
                  </a:tcPr>
                </a:tc>
              </a:tr>
              <a:tr h="594360">
                <a:tc>
                  <a:txBody>
                    <a:bodyPr/>
                    <a:lstStyle/>
                    <a:p>
                      <a:pPr algn="l"/>
                      <a:r>
                        <a:rPr sz="1200" b="0">
                          <a:solidFill>
                            <a:srgbClr val="D0E4F7"/>
                          </a:solidFill>
                        </a:rPr>
                        <a:t>● AIエージェント開発・運用</a:t>
                      </a:r>
                    </a:p>
                  </a:txBody>
                  <a:tcPr>
                    <a:solidFill>
                      <a:srgbClr val="1E2D47"/>
                    </a:solidFill>
                  </a:tcPr>
                </a:tc>
                <a:tc>
                  <a:txBody>
                    <a:bodyPr/>
                    <a:lstStyle/>
                    <a:p>
                      <a:pPr algn="ctr"/>
                      <a:r>
                        <a:rPr sz="1200" b="0">
                          <a:solidFill>
                            <a:srgbClr val="8439AD"/>
                          </a:solidFill>
                        </a:rPr>
                        <a:t>80 件</a:t>
                      </a:r>
                    </a:p>
                  </a:txBody>
                  <a:tcPr>
                    <a:solidFill>
                      <a:srgbClr val="1E2D47"/>
                    </a:solidFill>
                  </a:tcPr>
                </a:tc>
                <a:tc>
                  <a:txBody>
                    <a:bodyPr/>
                    <a:lstStyle/>
                    <a:p>
                      <a:pPr algn="ctr"/>
                      <a:r>
                        <a:rPr sz="1200" b="0">
                          <a:solidFill>
                            <a:srgbClr val="D0E4F7"/>
                          </a:solidFill>
                        </a:rPr>
                        <a:t>30.0%</a:t>
                      </a:r>
                    </a:p>
                  </a:txBody>
                  <a:tcPr>
                    <a:solidFill>
                      <a:srgbClr val="1E2D47"/>
                    </a:solidFill>
                  </a:tcPr>
                </a:tc>
              </a:tr>
              <a:tr h="594360">
                <a:tc>
                  <a:txBody>
                    <a:bodyPr/>
                    <a:lstStyle/>
                    <a:p>
                      <a:pPr algn="l"/>
                      <a:r>
                        <a:rPr sz="1200" b="0">
                          <a:solidFill>
                            <a:srgbClr val="D0E4F7"/>
                          </a:solidFill>
                        </a:rPr>
                        <a:t>● 生成AI活用の現場実践・他社事例</a:t>
                      </a:r>
                    </a:p>
                  </a:txBody>
                  <a:tcPr>
                    <a:solidFill>
                      <a:srgbClr val="162238"/>
                    </a:solidFill>
                  </a:tcPr>
                </a:tc>
                <a:tc>
                  <a:txBody>
                    <a:bodyPr/>
                    <a:lstStyle/>
                    <a:p>
                      <a:pPr algn="ctr"/>
                      <a:r>
                        <a:rPr sz="1200" b="0">
                          <a:solidFill>
                            <a:srgbClr val="27AE60"/>
                          </a:solidFill>
                        </a:rPr>
                        <a:t>25 件</a:t>
                      </a:r>
                    </a:p>
                  </a:txBody>
                  <a:tcPr>
                    <a:solidFill>
                      <a:srgbClr val="162238"/>
                    </a:solidFill>
                  </a:tcPr>
                </a:tc>
                <a:tc>
                  <a:txBody>
                    <a:bodyPr/>
                    <a:lstStyle/>
                    <a:p>
                      <a:pPr algn="ctr"/>
                      <a:r>
                        <a:rPr sz="1200" b="0">
                          <a:solidFill>
                            <a:srgbClr val="D0E4F7"/>
                          </a:solidFill>
                        </a:rPr>
                        <a:t>9.4%</a:t>
                      </a:r>
                    </a:p>
                  </a:txBody>
                  <a:tcPr>
                    <a:solidFill>
                      <a:srgbClr val="162238"/>
                    </a:solidFill>
                  </a:tcPr>
                </a:tc>
              </a:tr>
              <a:tr h="594360">
                <a:tc>
                  <a:txBody>
                    <a:bodyPr/>
                    <a:lstStyle/>
                    <a:p>
                      <a:pPr algn="l"/>
                      <a:r>
                        <a:rPr sz="1200" b="0">
                          <a:solidFill>
                            <a:srgbClr val="D0E4F7"/>
                          </a:solidFill>
                        </a:rPr>
                        <a:t>● AIガバナンス・セキュリティ・社内ルール</a:t>
                      </a:r>
                    </a:p>
                  </a:txBody>
                  <a:tcPr>
                    <a:solidFill>
                      <a:srgbClr val="1E2D47"/>
                    </a:solidFill>
                  </a:tcPr>
                </a:tc>
                <a:tc>
                  <a:txBody>
                    <a:bodyPr/>
                    <a:lstStyle/>
                    <a:p>
                      <a:pPr algn="ctr"/>
                      <a:r>
                        <a:rPr sz="1200" b="0">
                          <a:solidFill>
                            <a:srgbClr val="E67E22"/>
                          </a:solidFill>
                        </a:rPr>
                        <a:t>13 件</a:t>
                      </a:r>
                    </a:p>
                  </a:txBody>
                  <a:tcPr>
                    <a:solidFill>
                      <a:srgbClr val="1E2D47"/>
                    </a:solidFill>
                  </a:tcPr>
                </a:tc>
                <a:tc>
                  <a:txBody>
                    <a:bodyPr/>
                    <a:lstStyle/>
                    <a:p>
                      <a:pPr algn="ctr"/>
                      <a:r>
                        <a:rPr sz="1200" b="0">
                          <a:solidFill>
                            <a:srgbClr val="D0E4F7"/>
                          </a:solidFill>
                        </a:rPr>
                        <a:t>4.9%</a:t>
                      </a:r>
                    </a:p>
                  </a:txBody>
                  <a:tcPr>
                    <a:solidFill>
                      <a:srgbClr val="1E2D47"/>
                    </a:solidFill>
                  </a:tcPr>
                </a:tc>
              </a:tr>
              <a:tr h="594360">
                <a:tc>
                  <a:txBody>
                    <a:bodyPr/>
                    <a:lstStyle/>
                    <a:p>
                      <a:pPr algn="l"/>
                      <a:r>
                        <a:rPr sz="1200" b="0">
                          <a:solidFill>
                            <a:srgbClr val="D0E4F7"/>
                          </a:solidFill>
                        </a:rPr>
                        <a:t>● その他</a:t>
                      </a:r>
                    </a:p>
                  </a:txBody>
                  <a:tcPr>
                    <a:solidFill>
                      <a:srgbClr val="162238"/>
                    </a:solidFill>
                  </a:tcPr>
                </a:tc>
                <a:tc>
                  <a:txBody>
                    <a:bodyPr/>
                    <a:lstStyle/>
                    <a:p>
                      <a:pPr algn="ctr"/>
                      <a:r>
                        <a:rPr sz="1200" b="0">
                          <a:solidFill>
                            <a:srgbClr val="7F8C8D"/>
                          </a:solidFill>
                        </a:rPr>
                        <a:t>99 件</a:t>
                      </a:r>
                    </a:p>
                  </a:txBody>
                  <a:tcPr>
                    <a:solidFill>
                      <a:srgbClr val="162238"/>
                    </a:solidFill>
                  </a:tcPr>
                </a:tc>
                <a:tc>
                  <a:txBody>
                    <a:bodyPr/>
                    <a:lstStyle/>
                    <a:p>
                      <a:pPr algn="ctr"/>
                      <a:r>
                        <a:rPr sz="1200" b="0">
                          <a:solidFill>
                            <a:srgbClr val="D0E4F7"/>
                          </a:solidFill>
                        </a:rPr>
                        <a:t>37.1%</a:t>
                      </a:r>
                    </a:p>
                  </a:txBody>
                  <a:tcPr>
                    <a:solidFill>
                      <a:srgbClr val="162238"/>
                    </a:solidFill>
                  </a:tcPr>
                </a:tc>
              </a:tr>
              <a:tr h="594360">
                <a:tc>
                  <a:txBody>
                    <a:bodyPr/>
                    <a:lstStyle/>
                    <a:p>
                      <a:pPr algn="l"/>
                      <a:r>
                        <a:rPr sz="1200" b="1">
                          <a:solidFill>
                            <a:srgbClr val="FFFFFF"/>
                          </a:solidFill>
                        </a:rPr>
                        <a:t>合計</a:t>
                      </a:r>
                    </a:p>
                  </a:txBody>
                  <a:tcPr>
                    <a:solidFill>
                      <a:srgbClr val="2D405C"/>
                    </a:solidFill>
                  </a:tcPr>
                </a:tc>
                <a:tc>
                  <a:txBody>
                    <a:bodyPr/>
                    <a:lstStyle/>
                    <a:p>
                      <a:pPr algn="ctr"/>
                      <a:r>
                        <a:rPr sz="1200" b="1">
                          <a:solidFill>
                            <a:srgbClr val="FFFFFF"/>
                          </a:solidFill>
                        </a:rPr>
                        <a:t>267 件</a:t>
                      </a:r>
                    </a:p>
                  </a:txBody>
                  <a:tcPr>
                    <a:solidFill>
                      <a:srgbClr val="2D405C"/>
                    </a:solidFill>
                  </a:tcPr>
                </a:tc>
                <a:tc>
                  <a:txBody>
                    <a:bodyPr/>
                    <a:lstStyle/>
                    <a:p>
                      <a:pPr algn="ctr"/>
                      <a:r>
                        <a:rPr sz="1200" b="1">
                          <a:solidFill>
                            <a:srgbClr val="FFFFFF"/>
                          </a:solidFill>
                        </a:rPr>
                        <a:t>100.0%</a:t>
                      </a:r>
                    </a:p>
                  </a:txBody>
                  <a:tcPr>
                    <a:solidFill>
                      <a:srgbClr val="2D405C"/>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IT運用・自動化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LLMアプリ、雰囲気で運用してませんか? 〜2026年のLLMOpsの現在地〜</a:t>
            </a:r>
            <a:r>
              <a:rPr sz="900">
                <a:solidFill>
                  <a:srgbClr val="7F8C8D"/>
                </a:solidFill>
              </a:rPr>
              <a:t>  (2026-08-29)</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https://qiita.com/taka_yayoi/items/a349cf0801e76f372ca7</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はじめに
2026年8月29日に開催された Machine Learning 15minutes! で、「LLMアプリ、雰囲気で運用してませんか? 〜LLMOpsの現在地〜」というタイトルで15分お話ししました。
2026年4月に共著で『MLflowで実践するLLMOps』を出したのですが、この</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Claude Codeを「自走」させる4つの道具 — /goal・/loop・Cron・Workflow の使い分け</a:t>
            </a:r>
            <a:r>
              <a:rPr sz="900">
                <a:solidFill>
                  <a:srgbClr val="7F8C8D"/>
                </a:solidFill>
              </a:rPr>
              <a:t>  (2026-08-29)</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https://qiita.com/NaokiIshimura/items/71af4e891b2f8f1e7943</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 はじめに
「Claude Code に指示を出す → 終わる → また指示を出す」の往復に疲れていませんか。
v2.1.55（2026-02-25）から v2.1.251（2026-08-28）までの半年で、Claude Code を人間の入力なしに動かし続けるための道具が4つ揃いました。
</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AIチェッカーの反証テストを自動化する無料ツール「Guardrail Red-Team」を作った</a:t>
            </a:r>
            <a:r>
              <a:rPr sz="900">
                <a:solidFill>
                  <a:srgbClr val="7F8C8D"/>
                </a:solidFill>
              </a:rPr>
              <a:t>  (2026-08-29)</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https://qiita.com/tosh_vance/items/2701b5fc3abd995abc73</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背景
自分が開発しているAI戦略分析ツール(AnchorStrategy)には、AIの主張が元ソースに実在するかを機械的にチェックするcitation-fidelityガードレールがあります。このガードレールに対して反証テスト(意図的に破ろうとするテスト)を行ったところ、8パターンの攻撃のうち6パ</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RAG・検索基盤設計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ローカルLLMで自社専用の「AI税務担当」を作る ─ QLoRAとRAGで税務知識を追加する</a:t>
            </a:r>
            <a:r>
              <a:rPr sz="900">
                <a:solidFill>
                  <a:srgbClr val="7F8C8D"/>
                </a:solidFill>
              </a:rPr>
              <a:t>  (2026-08-29)</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https://qiita.com/sukimaengineer/items/b0b6acf35b3ffae6770a</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&gt; 本記事の執筆と調査には Anthropic の Claude とそのリサーチ機能を使用しています。
---
はじめに
2026年8月下旬に、X（旧Twitter）で税理士とAIに関する投稿を見かけました。要約すると次のような流れです。
- 税理士を名乗るアカウントが、生成AIの普及を理由</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RAG・LLM本番開発に効く技術書3選</a:t>
            </a:r>
            <a:r>
              <a:rPr sz="900">
                <a:solidFill>
                  <a:srgbClr val="7F8C8D"/>
                </a:solidFill>
              </a:rPr>
              <a:t>  (2026-08-29)</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https://qiita.com/koukyo/items/f6c2f68daea11698de0f</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はじめに
自分はここ半年ほど、RAGパイプラインを組んで社内ドキュメント検索を改善するプロジェクトに関わっている。最初はLangChainのチュートリアルを写経して動かしていたが、いざ本番に載せようとすると壁だらけだった。検索精度が安定しない、データの前処理が属人化する、モデルの評価基準が曖昧——</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埋め込みモデルのEmbedding vectorsのばらつきをどう比較するか考えてみた</a:t>
            </a:r>
            <a:r>
              <a:rPr sz="900">
                <a:solidFill>
                  <a:srgbClr val="7F8C8D"/>
                </a:solidFill>
              </a:rPr>
              <a:t>  (2026-08-29)</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https://qiita.com/k-omae/items/0d1bde5d7c18cf24a858</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RAGにおける検索をはじめとして、埋め込みモデルはAI開発の至るところで活躍しています。このメモは、異なる埋め込みモデルを統計的に評価したいと思った際に整理したものです（間違いに気づいた方がいらっしゃったら、ぜひ教えてください）。
散らばりの指標
記号の準備
埋め込みモデルを$m$、入力対象(文な</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AIエージェント開発・運用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環境変数でサブエージェントのモデルを固定できなくなった</a:t>
            </a:r>
            <a:r>
              <a:rPr sz="900">
                <a:solidFill>
                  <a:srgbClr val="7F8C8D"/>
                </a:solidFill>
              </a:rPr>
              <a:t>  (2026-08-29)</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https://qiita.com/jqit_suwa/items/fc7f964572190fb8a77a</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は、サブエージェントのモデルを指定する環境変数です。
これまでは全部を上書きしていました。 Claude Code 2.1.251 で、エージェント定義側が勝つように変わりました。
手元で4通り試したら、はっきり分かれました。
&gt; 検証環境: Windows 10 / Claude Cod</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Claude Code v2.1.251｜権限チェック後の symlink 差し替えを塞ぐ｜毎日Changelog解説</a:t>
            </a:r>
            <a:r>
              <a:rPr sz="900">
                <a:solidFill>
                  <a:srgbClr val="7F8C8D"/>
                </a:solidFill>
              </a:rPr>
              <a:t>  (2026-08-29)</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https://qiita.com/moha0918_/items/08dfa2f03d89272498dc</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:::note info
Claude Codeの公式Changelogをリリースから最速で翻訳・解説しています。
:::
v2.1.251 で、権限チェックを通った後に差し替えられた symlink を Read / Write / Edit が追ってしまう問題が直りました。承認した場所の外を読</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AIチャットボットの設計をちょっと変えただけで、LLM API費用が 1/10 に下がった話</a:t>
            </a:r>
            <a:r>
              <a:rPr sz="900">
                <a:solidFill>
                  <a:srgbClr val="7F8C8D"/>
                </a:solidFill>
              </a:rPr>
              <a:t>  (2026-08-29)</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https://qiita.com/peka2/items/830f5ba5a0cd019af23c</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3行まとめ
- 適当にClaude Codeでチャットボットを作ると、非効率な設計にされコスト爆増しがち。適切な設計でLLMのコストはざっくり10分の1になる 💰
- 方法: AIエージェントは宣言的に定義し、エンジン（実行部分）は LLM呼び出しの ループを回すだけにする
- 理由: プロンプト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生成AI活用の現場実践・他社事例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サルでもわかるバイブコーディング！ 実践編 #1 たった一文から始まった</a:t>
            </a:r>
            <a:r>
              <a:rPr sz="900">
                <a:solidFill>
                  <a:srgbClr val="7F8C8D"/>
                </a:solidFill>
              </a:rPr>
              <a:t>  (2026-08-29)</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https://qiita.com/horiken1977/items/5a1384b087cc81dbf768</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〜"作りたい"をAIに要件定義してもらう〜
前回までのおさらい
みなさん、こんにちは！ お待たせしました。
基礎編では、1で「開発環境を整える（＝道具の準備）」、2で「とりあえず作ってみる（＝作る感覚をつかむ）」をやりました。ここまでで、AIに話しかければ、なんとなくアプリらしきものが動く——</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7AE60"/>
                </a:solidFill>
              </a:rPr>
              <a:t>[Zenn]  </a:t>
            </a:r>
            <a:r>
              <a:rPr sz="1200" b="1">
                <a:solidFill>
                  <a:srgbClr val="FFFFFF"/>
                </a:solidFill>
              </a:rPr>
              <a:t>初めてKaggleに参戦してみた — ポケカ対戦AIで一時9位まで行って、落ちた話</a:t>
            </a:r>
            <a:r>
              <a:rPr sz="900">
                <a:solidFill>
                  <a:srgbClr val="7F8C8D"/>
                </a:solidFill>
              </a:rPr>
              <a:t>  (2026-08-29)</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https://zenn.dev/kokotatan/articles/first-kaggle-ptcg-ai-battle</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初めてKaggleのコンペに出ました。題材はポケモンカードゲームの対戦AI。約2ヶ月、ランダム打ちのスコア431から始めて、最高で9位(7月上旬、当時約4,200チーム)まで上がり、月末に一度12位まで戻し、そして540位まで落ちました。
この記事は「初参戦でここまでやれた」という自慢ではなく(落ち</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ChatGPT・Claudeで情報処理技術者試験の勉強効率を上げる｜現役ITコンサルが使う実践プロンプト集</a:t>
            </a:r>
            <a:r>
              <a:rPr sz="900">
                <a:solidFill>
                  <a:srgbClr val="7F8C8D"/>
                </a:solidFill>
              </a:rPr>
              <a:t>  (2026-08-28)</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https://qiita.com/pds_siken/items/1c03ab7d8f2a922bec70</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はじめに
「生成AIで勉強効率は上がりますか？」
結論から言います。正しく使えば劇的に上がります。
現役外資系ITコンサルタントとして、IPA試験の準備経験とIT資格情報の発信経験をもとに、生成AI（Claude / ChatGPT）を使った実践的な学習法をプロンプト付きで解説します。
対象</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AIガバナンス・セキュリティ・社内ルール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67E22"/>
                </a:solidFill>
              </a:rPr>
              <a:t>[Qiita]  </a:t>
            </a:r>
            <a:r>
              <a:rPr sz="1200" b="1">
                <a:solidFill>
                  <a:srgbClr val="FFFFFF"/>
                </a:solidFill>
              </a:rPr>
              <a:t>58万インストールのVercel製UIレビュースキル、中身は39行でルールが1件もない</a:t>
            </a:r>
            <a:r>
              <a:rPr sz="900">
                <a:solidFill>
                  <a:srgbClr val="7F8C8D"/>
                </a:solidFill>
              </a:rPr>
              <a:t>  (2026-08-29)</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https://qiita.com/Skillselion/items/bfddb93d6970a6ee8d86</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インストール数587,920件(2026年8月29日時点、Skillselionカタログ)のVercel製UIレビュースキルには、アクセシビリティのルールが1件も入っていません。Vercelのweb-design-guidelinesスキルとしてインストールされるファイルはフロントマター込みで39行</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E67E22"/>
                </a:solidFill>
              </a:rPr>
              <a:t>[Qiita]  </a:t>
            </a:r>
            <a:r>
              <a:rPr sz="1200" b="1">
                <a:solidFill>
                  <a:srgbClr val="FFFFFF"/>
                </a:solidFill>
              </a:rPr>
              <a:t>【技術解説】【完全ガイド】SBI証券でPythonによる自動売買システムを構築する方法</a:t>
            </a:r>
            <a:r>
              <a:rPr sz="900">
                <a:solidFill>
                  <a:srgbClr val="7F8C8D"/>
                </a:solidFill>
              </a:rPr>
              <a:t>  (2026-08-29)</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https://qiita.com/sugarfree/items/8030efadecb6f2326cce</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SBI証券での自動売買システム構築ガイド
この記事では、Pythonを使用してSBI証券で自動売買システムを構築する方法を解説します。具体的には、APIの利用方法、株価情報の取得、売買ロジックの実装、及びリスク管理のポイントに焦点を当てます。使用するライブラリとしては、およびを取り上げます。
S</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E67E22"/>
                </a:solidFill>
              </a:rPr>
              <a:t>[Zenn]  </a:t>
            </a:r>
            <a:r>
              <a:rPr sz="1200" b="1">
                <a:solidFill>
                  <a:srgbClr val="FFFFFF"/>
                </a:solidFill>
              </a:rPr>
              <a:t>ERPO: 安定性と探索のジレンマを入力側正則化で打破</a:t>
            </a:r>
            <a:r>
              <a:rPr sz="900">
                <a:solidFill>
                  <a:srgbClr val="7F8C8D"/>
                </a:solidFill>
              </a:rPr>
              <a:t>  (2026-08-29)</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https://zenn.dev/lixian/articles/erpo-environment-regularized-policy-optimization</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TL;DR
LLMのポリシー最適化（GRPO/PPO等）は、Policy-KL正則化という「応答側」の制約で安定性と探索のトレードオフを制御してきた。残念ながら、残すと探索が阻害され、外すとドリフト制御がなくなるというジレンマに陥る。AlibabaのZhouらがEMNLP 2026に採択された論文「</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LLMアプリ、雰囲気で運用してませんか? 〜2026年のLLMOpsの現在地〜</a:t>
            </a:r>
            <a:r>
              <a:rPr sz="900">
                <a:solidFill>
                  <a:srgbClr val="7F8C8D"/>
                </a:solidFill>
              </a:rPr>
              <a:t>  (2026-08-29)</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2"/>
              </a:rPr>
              <a:t>https://qiita.com/taka_yayoi/items/a349cf0801e76f372ca7</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はじめに
2026年8月29日に開催された Machine Learning 15minutes! で、「LLMアプリ、雰囲気で運用してませんか? 〜LLMOpsの現在地〜」というタイトルで15分お話ししました。
2026年4月に共著で</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Claude Codeを「自走」させる4つの道具 — /goal・/loop・Cron・Workflow の使い分け</a:t>
            </a:r>
            <a:r>
              <a:rPr sz="900">
                <a:solidFill>
                  <a:srgbClr val="7F8C8D"/>
                </a:solidFill>
              </a:rPr>
              <a:t>  (2026-08-29)</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3"/>
              </a:rPr>
              <a:t>https://qiita.com/NaokiIshimura/items/71af4e891b2f8f1e7943</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 はじめに
「Claude Code に指示を出す → 終わる → また指示を出す」の往復に疲れていませんか。
v2.1.55（2026-02-25）から v2.1.251（2026-08-28）までの半年で、Claude Code </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AIチェッカーの反証テストを自動化する無料ツール「Guardrail Red-Team」を作った</a:t>
            </a:r>
            <a:r>
              <a:rPr sz="900">
                <a:solidFill>
                  <a:srgbClr val="7F8C8D"/>
                </a:solidFill>
              </a:rPr>
              <a:t>  (2026-08-29)</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4"/>
              </a:rPr>
              <a:t>https://qiita.com/tosh_vance/items/2701b5fc3abd995abc73</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背景
自分が開発しているAI戦略分析ツール(AnchorStrategy)には、AIの主張が元ソースに実在するかを機械的にチェックするcitation-fidelityガードレールがあります。このガードレールに対して反証テスト(意図的に破</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E74C3C"/>
                </a:solidFill>
              </a:rPr>
              <a:t>▶ </a:t>
            </a:r>
            <a:r>
              <a:rPr sz="1200" b="1">
                <a:solidFill>
                  <a:srgbClr val="FFFFFF"/>
                </a:solidFill>
              </a:rPr>
              <a:t>AIエージェントに EDR は必要か -- コーディングエージェントのランタイムセキュリティを考える</a:t>
            </a:r>
            <a:r>
              <a:rPr sz="900">
                <a:solidFill>
                  <a:srgbClr val="7F8C8D"/>
                </a:solidFill>
              </a:rPr>
              <a:t>  (2026-08-29)</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5"/>
              </a:rPr>
              <a:t>https://qiita.com/sp-n-taka/items/3adbd57bbf054aeba0ef</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前回の記事で、ClaudeCode の hooks を使ったセキュリティ監視ダッシュボード「CC Pipeline」を作りました。ツール呼び出しを可視化し、致命的な操作をブロックし、危険な操作を警告します。個人ツールとしては役立っています。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11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因果推論 Day 16／全30回　回帰は主力、線形回帰の不合理な有効性</a:t>
            </a:r>
            <a:r>
              <a:rPr sz="900">
                <a:solidFill>
                  <a:srgbClr val="7F8C8D"/>
                </a:solidFill>
              </a:rPr>
              <a:t>  (2026-08-29)</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2"/>
              </a:rPr>
              <a:t>https://qiita.com/akiralab/items/c878b37ab8e1973df729</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この連載について
因果推論を「本を読んだ」で終わらせず、自分の言葉で説明でき、コードで再現できる状態まで落とす30日連載です。直前のDay 15では、DoWhyの4ステップで「仮定→識別→推定→反証」を1本のワークフローに束ねました。今日</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ローカルモデルのファインチューニングを完全自動化する方法</a:t>
            </a:r>
            <a:r>
              <a:rPr sz="900">
                <a:solidFill>
                  <a:srgbClr val="7F8C8D"/>
                </a:solidFill>
              </a:rPr>
              <a:t>  (2026-08-28)</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3"/>
              </a:rPr>
              <a:t>https://qiita.com/volcane/items/9641df49aa23b9759f14</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!d28bda4f-31e7-46f8-aeb2-75b3ac3cf245.png
はじめに
私は現在、というIDEを開発中です。
IDE自体はほぼ完成していますが、このIDEのコンセプトとする「非GPU、あるいは低VRAMでもローカルモ</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自動化ログを1ヶ月読まなかったら異常に気づけなかった — ひとり社長の監査習慣の作り方</a:t>
            </a:r>
            <a:r>
              <a:rPr sz="900">
                <a:solidFill>
                  <a:srgbClr val="7F8C8D"/>
                </a:solidFill>
              </a:rPr>
              <a:t>  (2026-08-28)</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4"/>
              </a:rPr>
              <a:t>https://zenn.dev/joinclass/articles/1-20260827220003-32154</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「動いている」と「正しく動いている」は別物だった
僕はひとり社長として、AIエージェントに会社の業務の98%を任せている。macOSのlaunchdジョブが17個動いていて、SNSは1日27件自動配信され、Zenn・Qiita・noteに毎</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E74C3C"/>
                </a:solidFill>
              </a:rPr>
              <a:t>▶ </a:t>
            </a:r>
            <a:r>
              <a:rPr sz="1200" b="1">
                <a:solidFill>
                  <a:srgbClr val="FFFFFF"/>
                </a:solidFill>
              </a:rPr>
              <a:t>GAS × Vertex AI（現 Gemini Enterprise Agent Platform）で始める生成AI活用</a:t>
            </a:r>
            <a:r>
              <a:rPr sz="900">
                <a:solidFill>
                  <a:srgbClr val="7F8C8D"/>
                </a:solidFill>
              </a:rPr>
              <a:t>  (2026-08-28)</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5"/>
              </a:rPr>
              <a:t>https://qiita.com/Kurodashi/items/ad3e78642bf867154480</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スプレッドシート連携・カスタム関数から、Gmail 要約 → Slack 通知の自動化まで。GAS から Gemini を安全に呼び出して業務に組み込む手順をまとめてみました。
なぜ Vertex AI（現 Gemini Enterpri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ローカルLLMで自社専用の「AI税務担当」を作る ─ QLoRAとRAGで税務知識を追加する</a:t>
            </a:r>
            <a:r>
              <a:rPr sz="900">
                <a:solidFill>
                  <a:srgbClr val="7F8C8D"/>
                </a:solidFill>
              </a:rPr>
              <a:t>  (2026-08-29)</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2"/>
              </a:rPr>
              <a:t>https://qiita.com/sukimaengineer/items/b0b6acf35b3ffae6770a</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&gt; 本記事の執筆と調査には Anthropic の Claude とそのリサーチ機能を使用しています。
---
はじめに
2026年8月下旬に、X（旧Twitter）で税理士とAIに関する投稿を見かけました。要約すると次のような流れで</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RAG・LLM本番開発に効く技術書3選</a:t>
            </a:r>
            <a:r>
              <a:rPr sz="900">
                <a:solidFill>
                  <a:srgbClr val="7F8C8D"/>
                </a:solidFill>
              </a:rPr>
              <a:t>  (2026-08-29)</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3"/>
              </a:rPr>
              <a:t>https://qiita.com/koukyo/items/f6c2f68daea11698de0f</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はじめに
自分はここ半年ほど、RAGパイプラインを組んで社内ドキュメント検索を改善するプロジェクトに関わっている。最初はLangChainのチュートリアルを写経して動かしていたが、いざ本番に載せようとすると壁だらけだった。検索精度が安定し</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埋め込みモデルのEmbedding vectorsのばらつきをどう比較するか考えてみた</a:t>
            </a:r>
            <a:r>
              <a:rPr sz="900">
                <a:solidFill>
                  <a:srgbClr val="7F8C8D"/>
                </a:solidFill>
              </a:rPr>
              <a:t>  (2026-08-29)</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4"/>
              </a:rPr>
              <a:t>https://qiita.com/k-omae/items/0d1bde5d7c18cf24a858</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RAGにおける検索をはじめとして、埋め込みモデルはAI開発の至るところで活躍しています。このメモは、異なる埋め込みモデルを統計的に評価したいと思った際に整理したものです（間違いに気づいた方がいらっしゃったら、ぜひ教えてください）。
散らば</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ミニチュア版Gemini NoteBookの構築(v0.2)——画面からソースを追加・削除する</a:t>
            </a:r>
            <a:r>
              <a:rPr sz="900">
                <a:solidFill>
                  <a:srgbClr val="7F8C8D"/>
                </a:solidFill>
              </a:rPr>
              <a:t>  (2026-08-28)</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5"/>
              </a:rPr>
              <a:t>https://qiita.com/tri-ponte/items/6c03abe0f988692ed7e7</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この記事でできること
前回組んだ RAG アプリに、ブラウザ画面からのソース追加（Markdown と PDF）と、1本ずつの削除機能を足せるようになります。
前回（v0.1）は、レンタルGPUサーバーの上に「日本語で質問すると出典つき</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23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セル結合だらけの表を watsonx Orchestrate の RAG に載せる — スクリーンショットから CSV を作る</a:t>
            </a:r>
            <a:r>
              <a:rPr sz="900">
                <a:solidFill>
                  <a:srgbClr val="7F8C8D"/>
                </a:solidFill>
              </a:rPr>
              <a:t>  (2026-08-28)</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2"/>
              </a:rPr>
              <a:t>https://qiita.com/IG_Matsuo/items/b13fce894fea50afd3ef</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はじめに
業務資料で重要なデータは、たいてい表に入っています。しかも PDF です。
単純な表なら、PDF のまま入れても引けます。ただ、セル結合が入り組んだ表になると、文書は検索で見つかるのに、中の数値だけが出てこない。
表なら、行</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「認知的負債」と「認知的降伏」— Addy Osmani が語る、AIに任せて失うもの</a:t>
            </a:r>
            <a:r>
              <a:rPr sz="900">
                <a:solidFill>
                  <a:srgbClr val="7F8C8D"/>
                </a:solidFill>
              </a:rPr>
              <a:t>  (2026-08-28)</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3"/>
              </a:rPr>
              <a:t>https://zenn.dev/talks_tldr_jp/articles/tldr27-osmani-summary</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この記事について
!
本記事は Addy Osmani が The Pragmatic Engineer に出演した回の紹介と論評です。発言の要点を筆者が抽出・整理したもので、対談の網羅でも代替でもありません。全体の文脈は必ず元動画でご確認</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LLMって何なんだと思って調べたら、高校数学だった</a:t>
            </a:r>
            <a:r>
              <a:rPr sz="900">
                <a:solidFill>
                  <a:srgbClr val="7F8C8D"/>
                </a:solidFill>
              </a:rPr>
              <a:t>  (2026-08-28)</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4"/>
              </a:rPr>
              <a:t>https://zenn.dev/acntechjp/articles/2f8dcc6abcf646</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AIがもてはやされて久しく、「LLM」「RAG」といった言葉が当たり前のように飛び交うようになりました。ただ、どれもキラキラネームがついた何かで、やってることも、すごさもよくわからなかったので、掘り下げてみました。
ちゃんとした説明はほかに</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Azure OpenAI Serviceとデータ基盤をつなぐ一般的なパターン — RAGで社内データを回答に使う</a:t>
            </a:r>
            <a:r>
              <a:rPr sz="900">
                <a:solidFill>
                  <a:srgbClr val="7F8C8D"/>
                </a:solidFill>
              </a:rPr>
              <a:t>  (2026-08-28)</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5"/>
              </a:rPr>
              <a:t>https://qiita.com/YushiYamamoto/items/6d54cd257578dd59d47a</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!Azure OpenAI data platform RAG patterns
Azure OpenAI Serviceは、チャットや要約に強い生成AIモデルをAzure上で使えるサービスです。一方で、モデル単体は「学習時点の一般知識」</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環境変数でサブエージェントのモデルを固定できなくなった</a:t>
            </a:r>
            <a:r>
              <a:rPr sz="900">
                <a:solidFill>
                  <a:srgbClr val="7F8C8D"/>
                </a:solidFill>
              </a:rPr>
              <a:t>  (2026-08-29)</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2"/>
              </a:rPr>
              <a:t>https://qiita.com/jqit_suwa/items/fc7f964572190fb8a77a</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は、サブエージェントのモデルを指定する環境変数です。
これまでは全部を上書きしていました。 Claude Code 2.1.251 で、エージェント定義側が勝つように変わりました。
手元で4通り試したら、はっきり分かれました。
&gt;</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Code v2.1.251｜権限チェック後の symlink 差し替えを塞ぐ｜毎日Changelog解説</a:t>
            </a:r>
            <a:r>
              <a:rPr sz="900">
                <a:solidFill>
                  <a:srgbClr val="7F8C8D"/>
                </a:solidFill>
              </a:rPr>
              <a:t>  (2026-08-29)</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3"/>
              </a:rPr>
              <a:t>https://qiita.com/moha0918_/items/08dfa2f03d89272498dc</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:::note info
Claude Codeの公式Changelogをリリースから最速で翻訳・解説しています。
:::
v2.1.251 で、権限チェックを通った後に差し替えられた symlink を Read / Write / E</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AIチャットボットの設計をちょっと変えただけで、LLM API費用が 1/10 に下がった話</a:t>
            </a:r>
            <a:r>
              <a:rPr sz="900">
                <a:solidFill>
                  <a:srgbClr val="7F8C8D"/>
                </a:solidFill>
              </a:rPr>
              <a:t>  (2026-08-29)</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4"/>
              </a:rPr>
              <a:t>https://qiita.com/peka2/items/830f5ba5a0cd019af23c</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3行まとめ
- 適当にClaude Codeでチャットボットを作ると、非効率な設計にされコスト爆増しがち。適切な設計でLLMのコストはざっくり10分の1になる 💰
- 方法: AIエージェントは宣言的に定義し、エンジン（実行部分）は LL</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Blender初心者でも大丈夫！Claude Desktop + Blender公式MCPで3Dモデルを作成、Threedive AIで公開する</a:t>
            </a:r>
            <a:r>
              <a:rPr sz="900">
                <a:solidFill>
                  <a:srgbClr val="7F8C8D"/>
                </a:solidFill>
              </a:rPr>
              <a:t>  (2026-08-29)</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5"/>
              </a:rPr>
              <a:t>https://qiita.com/metabirdsdev/items/0abd98e104c84ab75811</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Blender のバージョン 5.1 以降で公式の MCP サーバが利用できるようになりました。
これを利用してテクスチャとアニメーションのついた3Dモデルを作成し、Threedive AI で公開するまでの手順を紹介します。
Blen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57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文字列内の括弧は数えない：LLMストリームの途中JSONを仮閉じする</a:t>
            </a:r>
            <a:r>
              <a:rPr sz="900">
                <a:solidFill>
                  <a:srgbClr val="7F8C8D"/>
                </a:solidFill>
              </a:rPr>
              <a:t>  (2026-08-29)</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2"/>
              </a:rPr>
              <a:t>https://qiita.com/Karentia/items/ee08b50d7bd0ee348cc2</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!途中のJSONを括弧スタックで仮閉じする
問題の背景は、ストリーミング中の Structured Output を途中で  したい、という話です。Python 側の整理はこちらの記事が詳しいです。
https://blog.gener</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AI駆動開発は「答え」を外部に求めてはいけない</a:t>
            </a:r>
            <a:r>
              <a:rPr sz="900">
                <a:solidFill>
                  <a:srgbClr val="7F8C8D"/>
                </a:solidFill>
              </a:rPr>
              <a:t>  (2026-08-29)</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3"/>
              </a:rPr>
              <a:t>https://qiita.com/usapino/items/cd0e9c6dafdb227d6da9</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AI駆動開発について調べると、今は本当にいろいろな手法が出てくる。
Claude Code、Codex、Cursor、GitHub Copilot、AIエージェント、Vibe Coding。
ツールの話だけではなく、
 AIに仕様書を</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Ask HN: Why do we need MCP?</a:t>
            </a:r>
            <a:r>
              <a:rPr sz="900">
                <a:solidFill>
                  <a:srgbClr val="7F8C8D"/>
                </a:solidFill>
              </a:rPr>
              <a:t>  (2026-08-29)</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8439AD"/>
                </a:solidFill>
              </a:rPr>
              <a:t>[HackerNews]  </a:t>
            </a:r>
            <a:r>
              <a:rPr sz="800">
                <a:solidFill>
                  <a:srgbClr val="5DADE8"/>
                </a:solidFill>
                <a:hlinkClick r:id="rId4"/>
              </a:rPr>
              <a:t>https://news.ycombinator.com/item?id=49488654</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Why not just publish your API docs and let the client's bot chain together what calls need to be made. You could even re</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Codeのフックがこの半年で別物になった — 追加された13イベントと新しい書き方</a:t>
            </a:r>
            <a:r>
              <a:rPr sz="900">
                <a:solidFill>
                  <a:srgbClr val="7F8C8D"/>
                </a:solidFill>
              </a:rPr>
              <a:t>  (2026-08-29)</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5"/>
              </a:rPr>
              <a:t>https://qiita.com/NaokiIshimura/items/d5f4f1d4586f70512310</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 はじめに
Claude Code のフック（hooks） は、 と  くらいしか使っていない人が多いのではないでしょうか。
しかし v2.1.55（2026-02-25）から v2.1.251（2026-08-28）までの半年で、1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サルでもわかるバイブコーディング！ 実践編 #1 たった一文から始まった</a:t>
            </a:r>
            <a:r>
              <a:rPr sz="900">
                <a:solidFill>
                  <a:srgbClr val="7F8C8D"/>
                </a:solidFill>
              </a:rPr>
              <a:t>  (2026-08-29)</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2"/>
              </a:rPr>
              <a:t>https://qiita.com/horiken1977/items/5a1384b087cc81dbf768</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〜"作りたい"をAIに要件定義してもらう〜
前回までのおさらい
みなさん、こんにちは！ お待たせしました。
基礎編では、1で「開発環境を整える（＝道具の準備）」、2で「とりあえず作ってみる（＝作る感覚をつかむ）」をやりました。ここまで</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初めてKaggleに参戦してみた — ポケカ対戦AIで一時9位まで行って、落ちた話</a:t>
            </a:r>
            <a:r>
              <a:rPr sz="900">
                <a:solidFill>
                  <a:srgbClr val="7F8C8D"/>
                </a:solidFill>
              </a:rPr>
              <a:t>  (2026-08-29)</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7AE60"/>
                </a:solidFill>
              </a:rPr>
              <a:t>[Zenn]  </a:t>
            </a:r>
            <a:r>
              <a:rPr sz="800">
                <a:solidFill>
                  <a:srgbClr val="5DADE8"/>
                </a:solidFill>
                <a:hlinkClick r:id="rId3"/>
              </a:rPr>
              <a:t>https://zenn.dev/kokotatan/articles/first-kaggle-ptcg-ai-battle</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初めてKaggleのコンペに出ました。題材はポケモンカードゲームの対戦AI。約2ヶ月、ランダム打ちのスコア431から始めて、最高で9位(7月上旬、当時約4,200チーム)まで上がり、月末に一度12位まで戻し、そして540位まで落ちました。
</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ChatGPT・Claudeで情報処理技術者試験の勉強効率を上げる｜現役ITコンサルが使う実践プロンプト集</a:t>
            </a:r>
            <a:r>
              <a:rPr sz="900">
                <a:solidFill>
                  <a:srgbClr val="7F8C8D"/>
                </a:solidFill>
              </a:rPr>
              <a:t>  (2026-08-28)</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4"/>
              </a:rPr>
              <a:t>https://qiita.com/pds_siken/items/1c03ab7d8f2a922bec70</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「生成AIで勉強効率は上がりますか？」
結論から言います。正しく使えば劇的に上がります。
現役外資系ITコンサルタントとして、IPA試験の準備経験とIT資格情報の発信経験をもとに、生成AI（Claude / ChatGPT）</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GPT-5.6 Luna に全部賭けろ: コスト 1/10 を最大限活用してみる</a:t>
            </a:r>
            <a:r>
              <a:rPr sz="900">
                <a:solidFill>
                  <a:srgbClr val="7F8C8D"/>
                </a:solidFill>
              </a:rPr>
              <a:t>  (2026-08-28)</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5"/>
              </a:rPr>
              <a:t>https://qiita.com/nttdata-ccs-techblog/items/6d7073a085574c6674a1</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NTTデータCCS で部門横断での技術支援を担当している riue です。普段は Codex でコードを書いています。
さて、GPT-5.6 系列を Codex で使う場合、普通に考えればモデルの使い分けは単純です。軽い仕事は Luna、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(2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生成AI（Gemini）使いこなしの技術（序章）</a:t>
            </a:r>
            <a:r>
              <a:rPr sz="900">
                <a:solidFill>
                  <a:srgbClr val="7F8C8D"/>
                </a:solidFill>
              </a:rPr>
              <a:t>  (2026-08-26)</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2"/>
              </a:rPr>
              <a:t>https://qiita.com/Urushihara-T/items/f878ffb348694926eb94</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 ゼロスタートからAI名人をめざす全10回連載 』
本連載では、生成AIの基本操作から業務効率化、コンテンツ生成、そしてデータ処理や分析まで、毎回1テーマずつのステップアップ形式で生成AIを学べる情報を提供していきます。
Google</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Gemini Enterpriseを活用したGoogle Drive連携について</a:t>
            </a:r>
            <a:r>
              <a:rPr sz="900">
                <a:solidFill>
                  <a:srgbClr val="7F8C8D"/>
                </a:solidFill>
              </a:rPr>
              <a:t>  (2026-08-26)</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3"/>
              </a:rPr>
              <a:t>https://qiita.com/ReQ_HY/items/40c85586c33888d9dd79</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みなさん、こんにちは！
はじめに
Google Workspace に標準搭載されている Gemini (NotebookLM含む)や、Webブラウザで手軽に使えるGeminiのチャット画面を利用していると、「個人レベルの業務補助AIとし</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AIに評価させると全員が優秀になる — 経歴判定で盛りを止めた設計</a:t>
            </a:r>
            <a:r>
              <a:rPr sz="900">
                <a:solidFill>
                  <a:srgbClr val="7F8C8D"/>
                </a:solidFill>
              </a:rPr>
              <a:t>  (2026-08-17)</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4"/>
              </a:rPr>
              <a:t>https://qiita.com/kenichiyoshioka/items/33eb43be044f7f19b1fe</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&gt; 📚 スキルシートと市場価値 シリーズ ③：AIに盛らせない設計
---
はじめに
前回、スキルシートをAIに解析させたらPdMでDXコンサルだった話を書きました。自分の経歴書をAIに読ませたら、自己申告と違う判定が出た、という話で</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AI を業務成果につなげる前に現れる「品質・コスト・浸透」の壁——先行 2 社が突破したプロセス</a:t>
            </a:r>
            <a:r>
              <a:rPr sz="900">
                <a:solidFill>
                  <a:srgbClr val="7F8C8D"/>
                </a:solidFill>
              </a:rPr>
              <a:t>  (2026-08-13)</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7AE60"/>
                </a:solidFill>
              </a:rPr>
              <a:t>[Zenn]  </a:t>
            </a:r>
            <a:r>
              <a:rPr sz="800">
                <a:solidFill>
                  <a:srgbClr val="5DADE8"/>
                </a:solidFill>
                <a:hlinkClick r:id="rId5"/>
              </a:rPr>
              <a:t>https://zenn.dev/mbk_digital/articles/4945c084b8694f</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株式会社 MBK Digital の古畑です。
2026 年 7 月 30 日・31 日に開催された Google Cloud Next Tokyo 2026 にて、データアナリストの田中と 2 人で「Gemini Enterprise を</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AIガバナンス・セキュリティ・社内ルール　記事一覧</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67E22"/>
                </a:solidFill>
              </a:rPr>
              <a:t>▶ </a:t>
            </a:r>
            <a:r>
              <a:rPr sz="1200" b="1">
                <a:solidFill>
                  <a:srgbClr val="FFFFFF"/>
                </a:solidFill>
              </a:rPr>
              <a:t>58万インストールのVercel製UIレビュースキル、中身は39行でルールが1件もない</a:t>
            </a:r>
            <a:r>
              <a:rPr sz="900">
                <a:solidFill>
                  <a:srgbClr val="7F8C8D"/>
                </a:solidFill>
              </a:rPr>
              <a:t>  (2026-08-29)</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2"/>
              </a:rPr>
              <a:t>https://qiita.com/Skillselion/items/bfddb93d6970a6ee8d86</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インストール数587,920件(2026年8月29日時点、Skillselionカタログ)のVercel製UIレビュースキルには、アクセシビリティのルールが1件も入っていません。Vercelのweb-design-guidelinesスキル</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67E22"/>
                </a:solidFill>
              </a:rPr>
              <a:t>▶ </a:t>
            </a:r>
            <a:r>
              <a:rPr sz="1200" b="1">
                <a:solidFill>
                  <a:srgbClr val="FFFFFF"/>
                </a:solidFill>
              </a:rPr>
              <a:t>【技術解説】【完全ガイド】SBI証券でPythonによる自動売買システムを構築する方法</a:t>
            </a:r>
            <a:r>
              <a:rPr sz="900">
                <a:solidFill>
                  <a:srgbClr val="7F8C8D"/>
                </a:solidFill>
              </a:rPr>
              <a:t>  (2026-08-29)</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3"/>
              </a:rPr>
              <a:t>https://qiita.com/sugarfree/items/8030efadecb6f2326cce</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SBI証券での自動売買システム構築ガイド
この記事では、Pythonを使用してSBI証券で自動売買システムを構築する方法を解説します。具体的には、APIの利用方法、株価情報の取得、売買ロジックの実装、及びリスク管理のポイントに焦点を当てま</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E67E22"/>
                </a:solidFill>
              </a:rPr>
              <a:t>▶ </a:t>
            </a:r>
            <a:r>
              <a:rPr sz="1200" b="1">
                <a:solidFill>
                  <a:srgbClr val="FFFFFF"/>
                </a:solidFill>
              </a:rPr>
              <a:t>ERPO: 安定性と探索のジレンマを入力側正則化で打破</a:t>
            </a:r>
            <a:r>
              <a:rPr sz="900">
                <a:solidFill>
                  <a:srgbClr val="7F8C8D"/>
                </a:solidFill>
              </a:rPr>
              <a:t>  (2026-08-29)</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E67E22"/>
                </a:solidFill>
              </a:rPr>
              <a:t>[Zenn]  </a:t>
            </a:r>
            <a:r>
              <a:rPr sz="800">
                <a:solidFill>
                  <a:srgbClr val="5DADE8"/>
                </a:solidFill>
                <a:hlinkClick r:id="rId4"/>
              </a:rPr>
              <a:t>https://zenn.dev/lixian/articles/erpo-environment-regularized-policy-optimization</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TL;DR
LLMのポリシー最適化（GRPO/PPO等）は、Policy-KL正則化という「応答側」の制約で安定性と探索のトレードオフを制御してきた。残念ながら、残すと探索が阻害され、外すとドリフト制御がなくなるというジレンマに陥る。Ali</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E67E22"/>
                </a:solidFill>
              </a:rPr>
              <a:t>▶ </a:t>
            </a:r>
            <a:r>
              <a:rPr sz="1200" b="1">
                <a:solidFill>
                  <a:srgbClr val="FFFFFF"/>
                </a:solidFill>
              </a:rPr>
              <a:t>AIセキュリティ何から勉強すりゃええの？その3</a:t>
            </a:r>
            <a:r>
              <a:rPr sz="900">
                <a:solidFill>
                  <a:srgbClr val="7F8C8D"/>
                </a:solidFill>
              </a:rPr>
              <a:t>  (2026-08-24)</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5"/>
              </a:rPr>
              <a:t>https://qiita.com/mikihitooooo/items/c419f0503228120404a8</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はじめに
中途半端ですが、脳みそがパンクしたので、ここら辺で一度まとめておきます。
攻撃手法を理解しようとすると、当然のように「そもそもLLMってどうやって学習してるの？」という話まで出てきます。
今回も論文を読みながら「よく分からなくて調</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(1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AIの口癖を日本語記事で測ろうとして、3回とも失敗した</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https://qiita.com/jqit_suwa/items/4231026d13f7527c0f69</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【超小ネタ】デスクトップ版ChatGPTアプリの Codex で今のフォルダを対象にアプリを開くコマンド（Mac で試したもの）</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https://qiita.com/youtoy/items/c77c89874e24c45565bc</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スキルを129種類インストールして、実際に呼ばれたのは4種類だった</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https://qiita.com/Tsutomu_eng/items/371d5806f0ad53e0a8d4</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音声AIのプロンプト変更を本番へ直結しない：JSONLをpipeして割り込み・復旧を回帰テストする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https://qiita.com/susie000720/items/9c18b0c52d10f7ecec55</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 Ornith-1.5-35B(EXL3 2.75bpw)をSonar(旧Aphrodite Engine)で動かす</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https://qiita.com/nakanokensetsu/items/ed106b67ea0da13c567d</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画面の次は Service ― 詳細設計 Excel から業務ロジックを組み立てる全体設計</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https://qiita.com/kumaboarder/items/43832e01015f9b108443</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AIにテストを書かせると毎回同じ場所が抜ける理由と対策</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https://qiita.com/syun136_616/items/b8e94720d9259864b022</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今さら聞けないChatGPT――いつの間にか増えている機能を、もう一度ちゃんと調べてみる</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https://qiita.com/sunstripe2011/items/2f9bb896892107846e8a</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Results for LLM usage in Debian (vote)</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https://lists.debian.org/debian-vote/2026/08/msg00360.html</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What we optimise for when we reach for an LLM</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https://exploring-better-ways.bellroy.com/what-we-optimise-for-when-we-reach-for…</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Tinker: GLM 5.3 Fine-Tuning</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https://tinker-docs.thinkingmachines.ai/tinker/models/</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事務職からAIエンジニアを目指して:スポーツボウリング場構想・第三弾⑤</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https://qiita.com/Junko-Takahashi-Cloud/items/6018da770871d534ac31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(2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LightSwitch – In-Network and Photonic LLM Inference in Transit</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https://github.com/pisantifrancesco89/Project-LightSwitch</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2026年8月29日 今日のQiitaトレンド記事をポッドキャストで聴こう！</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https://qiita.com/ennagara128/items/cb5905c16533bc1163f3</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Apple SiliconでLlama 3.2 3BをSFTする：MLX-LM＋LoRA＋MLflow実機チュートリアル</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https://qiita.com/kazuharu2022/items/0696be76f51a5874e72f</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PowerShellでカクヨムのPV・通知・フォロワーなどを定期取得して、AIで分析できるようにした</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https://qiita.com/anquimomonaca/items/92b2d0de49bd77c2d670</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【Salesforce】スプレッドシートに書き溜めた改修メモをGeminiで顧客向け文面に変換する運用</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https://qiita.com/ubakichi_sr_mc_ai_06/items/1799c0450d26a92f8cec</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コードを書いたのはClaude、Codex、Kimi。それでも全repoが「自分の設計」になる</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https://zenn.dev/hrmtz/articles/vibe-coding-architecture-signature</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Exa-Vision ProにGemma 4 E4Bを載せたい。ChatGPTと一緒にハマり続けている備忘録</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https://zenn.dev/gitmame00/articles/845219b4659980</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DGX SparkでQwen3.8-Flash-Next をサクッと動かしてみる</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https://zenn.dev/nooop/articles/ea1bb8866bdb5e</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LLMへの指示にコンテキストを含めるかどうかで、テストのカバレッジが倍以上変わった</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https://qiita.com/Kanda_IngeniousDesign/items/1373e261933d51f7463e</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「誰が悪い」から「どう直す」へ ― 政策を改善し続ける政治の仕組み : システム設計視点の行動経済学 (22)</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https://qiita.com/maskot1977/items/f3f9343c64efd53d5023</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 の出力の縛り方を6段階に並べたら、強い順になっていなかった</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https://qiita.com/ykosuda/items/6f427c11cd36e2c382d1</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「オントロジー」を原典4件で読み比べたら、実行を含むのは1件だけだった</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https://qiita.com/ykosuda/items/09dcb18d1fa837a4ff9f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(3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I accidentally turned LLM memory into program analysis</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https://pwning.systems/posts/llm-memory-program-analysis/</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FreeToken Docker環境構築 備忘録</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https://qiita.com/Ihmon/items/c7c555c64e7befc3f364</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大人用です。2つの三角形の連結「高校入試チャレンジ問題 △ABCの面積は？（中学生の知識で）」様を、計算はsympyで作図は手抜きのつもりでした。</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https://qiita.com/mrrclb48z/items/15dd20eca64cec489509</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2026/08/29 LLM開発における構造的欠陥と「動的文脈制御」による高次階層可変の工学的実証</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https://zenn.dev/tomy1noriyamame/articles/8533731a706392</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ループエンジニアリング - 公式は「このログを直接パースするな」と言っている</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https://qiita.com/TaichiEndoh/items/4be5c74e50c1f5568d49</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Claude「Record a Skill」を programming by demonstration として読む</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https://zenn.dev/every_ai_recipe/articles/ai-record-skill-screen-recording</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 の分類ラベルは誰も読んでいなかった。実害は縛ってあるほうから出た</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https://qiita.com/ykosuda/items/a74e706b07142406cf83</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DGX Spark 2台環境に DeepSeek-V4-Flash-0731 構築</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https://zenn.dev/supertaro/articles/98e4d893607861</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はじめまして、AIの綴理です。GitHubから自分を読み直して働いています</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https://qiita.com/tsuzuri_ai/items/2b9b1c9c06df23daa803</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 Go と Plus のどちらを払うべきか：4本のレビューを突き合わせて分かったこと</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https://zenn.dev/videostance/articles/703bb66b631238</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Claude Certified Architect – Professional（CCAR-P）に満点合格したので勉強法の振り返りをしてみる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https://qiita.com/Solbear/items/2ba5ae5c67cbece68142</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LLM の出力の縛り方を6段階に並べたら、強い順になっていなかった</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https://zenn.dev/ykosuda/articles/structure-levels-03-six-levels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(4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 AIに大量のスクリーンショットを渡すときのトークン節約術</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https://qiita.com/dsnfuji/items/6289aeba4c298ae83441</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【JavaScript】AI出力・レポートをFact / Opinion / Assumptionに自動トリアージする単一HTMLツール</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https://qiita.com/b2b_tools/items/02e8a14ef045a27e8f4b</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KV Cache はなぜ K と V だけをキャッシュするのか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https://zenn.dev/catinpajamas/articles/b46b53cc92375d</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価格回帰より方向分類の方が有利なのか？ | 第3回：AIで為替の未来予測は本当にできるのか？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https://zenn.dev/hiro_algo/articles/fx-regression-vs-classification</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AIにエラー調査を丸投げするとどこまで原因を特定できるのか検証してみた</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https://qiita.com/Watabe_zeevaa/items/64d58333ba3436bdd42b</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Gemini 3.5 Transcribeの話者分離を実測：diarization_mode単独では返らず、タイムスタンプ併用で動いた</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https://zenn.dev/uguisu_blog/articles/9a6ae4bc4fc280</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iPhone版Sumibi(AI日本語キーボード)まとめ</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https://zenn.dev/kiyoka/articles/sumibi-ios-guide</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ミニチュア版Gemini NoteBookの構築(v0.1)</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https://qiita.com/tri-ponte/items/7b5973de22d30072ca76</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プロンプトの手前で二回落ちている ── AI利用の入口を、利用者が自力で実装している話</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https://qiita.com/dosanko_tousan/items/eb70c22c157c0a1efd91</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因果推論 Day 15／全30回　DoWhyの4ステップ、仮定を書き推定し反証する</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https://qiita.com/akiralab/items/4bdb99b9b750acffb1f1</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GitHubから自分を読み直すAI「綴理」です</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https://zenn.dev/c_a_p_engineer/articles/hello-tsuzuri</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Midnight AI Groove 26-08-25</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https://qiita.com/masykot582/items/61d5fc2a8326d80ceeb4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(5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Adobe Fireflyの音声生成3機能が試験段階からGAへ。発表で確定したことと、Adobeの主張の区別</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https://qiita.com/quotidia/items/1d26585917afadb98c02</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ChatGPTの「カスタム指示」に要注意？  Web版／デスクトップ版、Chat／Work／Codexで検証</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https://zenn.dev/h4m4chi/articles/db5b3478bd7c00</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大人用です。３つの三角形の連結。2026年「【算◯◯◯◯◯◯クの難問】大人も解けない図形問題」様を、計算はsympyで作図は手抜きのつもりでした。</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https://qiita.com/mrrclb48z/items/982be2183d0572c7425c</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耳で聞く！Python で学ぶ マクロ経済学 入門 4</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https://qiita.com/maskot1977/items/9f0161a29cb3233e41a4</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なぜAIは、専門家でなくても使えるようになったのか</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https://qiita.com/haru-qiita/items/35b398bc0e05d7815a17</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階層型言語モデル PHOTON を論文から実装し、RTX4090で再現できたこと・できなかったこと</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https://qiita.com/arumada-5u/items/f31335bbac7b5b9e404e</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AI文章を整えるSkill「teire」を作ってみた</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https://qiita.com/HN6039940/items/e794b2340a113c85fd1d</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【2026年版】目的別で選ぶ おすすめUIコンポーネントライブラリ12選</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https://qiita.com/yushibats/items/5976a0ac8db82bd1c2bf</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Claude vs ChatGPT 2026：深い文章と万能ツールキット、どちらを選ぶか</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https://zenn.dev/videostance/articles/fdcc6015e6108f</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Chickens and Rabbits Problem「鶴亀算を教えて下さい。」</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https://qiita.com/mrrclb48z/items/ed37bd1306f13b33911a</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Seq2Seq LSTMはランダムウォークを超えられるか | 第2回：AIで為替の未来予測は本当にできるのか？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https://zenn.dev/hiro_algo/articles/fx-seq2seq-vs-random-walk</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LLMのTrainingとInferenceを「検量線を引く・使う」で理解する</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https://qiita.com/lowgain/items/4a4ffffb2468ef54074d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(6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【簡単に作れてネット上に少ないサイト紹介】フリー対戦募集用の用紙作成に特化したサイトを作るという選択肢</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https://qiita.com/uni928/items/209d369195559adc29dd</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Enterprise環境でChatGPTの音声モードをTeams会議に「召喚」して会議に参加してもらう方法</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https://zenn.dev/acntechjp/articles/433b7375dcbaea</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AIモデルの「できる／できない」を、ベンダー単位のラベルだけで判断すると危ういかもしれない</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https://qiita.com/TheGateBreaker/items/e45940adfa60df20b4df</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 3.5 Transcribe GA開始、話者分離・タイムスタンプ対応の音声認識2モデル</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https://qiita.com/picnic/items/1b7fa920533a1c5e91f3</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プロンプト設計はもう不要か？ Claude・GPT・Geminiに「目的を言わずに」要約させてみた</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https://zenn.dev/shiomusubi/articles/9c1f76b843b525</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Attention機構とは？注目箇所を重み付けする仕組み</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https://zenn.dev/h888s/articles/dscert-attention</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政府批判も「財源幻想」に支配される ― 批判のOSをリファクタリングする : システム設計視点の行動経済学 (21)</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https://qiita.com/maskot1977/items/141e8199d948b93c1086</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fit_predictで体で覚えた、異常検知の定石</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https://zenn.dev/acntechjp/articles/931d75941aafe1</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AI用ドキュメントと開発者用ドキュメントの混在問題を解決する — copilot-instructions 導入時の課題と段階的な運用開始方法</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https://qiita.com/h-nasu/items/5634ceb0619b37ef7f98</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Attentionってなんだ？ ── Q/K/Vの出どころで決まる名前</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https://qiita.com/GeneLab_999/items/5f6fedad9eee99d0fa5a</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聞きながら話すGPT-Live、重い思考をGPT-5.5に回す2層構成</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https://zenn.dev/okssusucha/articles/20260712-openai-gpt-live-full-duplex-voice</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ニューラルネットは陰陽を学べるか。450エポックの間、目玉の正解率は0%だった</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https://zenn.dev/shakeailab/articles/yinyang-decision-boundary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(7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BigQuery ML × Gemini でEC顧客の購買予測モデルを構築する</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https://zenn.dev/web_benriya/articles/bigquery-ml-gemini-ec-purchase-prediction</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「ダークマターの領域に食い込みたい」─ 会場特徴×補正値の相関検証ラインを新設した3週間の記録　=== darkmatter新設3本＋V5py/V58…</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https://qiita.com/yujiiwadate0247/items/826a6d14bb69e46b84be</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ファインチューニング比較検証　--ジャンルの異なる学習データを使った時、モデル応答に違いが見られるか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https://zenn.dev/sapolas/articles/45a3a1456e1dfb</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同じプロンプトなのに世界が変わる、ChatGPT・Gemini・(M365)Copilotで画像生成おけるAIの解釈差を検証</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https://zenn.dev/syoshida07/articles/74c161db43677c</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Jambaってなんだ？ ── KVキャッシュを128GBから4GBに減らした設計</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https://qiita.com/GeneLab_999/items/118327a750f45616507b</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長い文章を貼るとAIが急に馬鹿になるのは結局なぜなのか</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https://zenn.dev/m2yagyu/articles/rope-long-context-breakdown</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vibe codingは祈りである</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https://zenn.dev/simossyi/articles/d45eb33a52bfe9</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生成AIの精度が社内文書で落ちる4つの原因と、文書を直さない対処法</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https://qiita.com/moname_ai/items/c6f488f184367bce3d40</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「とりあえず要約して」と「目的を伝えて要約して」で、AIの出力はどれだけ変わるか"</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https://zenn.dev/shiomusubi/articles/897e5b9c1913cf</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弁護士・士業が守秘義務の中で ChatGPT・生成 AI を使うには — 「禁止」と「黙認」のあいだ</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https://zenn.dev/exapolicy/articles/dbda26ea383b7e</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監査プロンプトをAIツール別に持つのをやめた。10本を対象別3本へ統合した設計</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https://qiita.com/ishizakahiroshi/items/a7065348ad7ca46ca521</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LLMを安いモデルに変えたとき、「品質は落ちていない」とどう確認するか</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https://zenn.dev/anguoyang/articles/589250e3b61cc9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(8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画像生成・動画生成のプロンプトを再現可能にする設計</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https://qiita.com/mapmc/items/a37fb37d869aa657e300</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社外APIが使えない金融業で、社内マニュアル問い合わせAIをローカルLLM(Qwen3)で作った話</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https://zenn.dev/shineos/articles/local-llm-finance-internal-manual-qa</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GitHub Copilot 向けの指示を構造化して管理</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https://qiita.com/h-nasu/items/d0b2601bb179a6cdd5eb</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SynthIDとは何か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https://zenn.dev/todesking/articles/d23fd40b319388</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コラム：ペルソナプロンプトの箱庭設計とは</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https://qiita.com/otoyo0318/items/411f8f3d4813f66c3af9</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「AIへの指示がうまい人」は、実は言語化がうまいだけ——AIで鍛える一生モノの力</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https://qiita.com/Skillsheet-Port/items/0ea38eeebb9b94dc708e</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AIを使うときの感覚：上手な指示と長いチャットの扱い方</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https://qiita.com/ramutarafarm/items/3625867c29a869e9f94d</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コピペで使える AIにコードを書かせるプロンプト。初心者がまず覚える型と、そのまま使える例文集</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https://qiita.com/Rapls/items/8acc4aa395b04c184e96</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「トークン消費量が多い」はもう悪口だ——AIを使いこなせない人の、本当の弱点</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https://qiita.com/Skillsheet-Port/items/4cd692961ed03421b794</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AI時代のキャリア戦略　第7回 AIと人間は何が違うのか</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https://zenn.dev/jinfuroi/articles/b2e3c2c66f7d74</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AIが何でも「その通りです」と答えるときに試す一言</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https://qiita.com/masa1113/items/a5093e0c5cd81ff56e10</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DeepSeek 値上げを機に さくらのAI へ移行したら、シフト希望解析が時間 1/3 以下・正解率 100% になった話</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https://qiita.com/emuyn/items/4379a56943d36d20ef02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(9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生成AIと20回改修して、Jupyter Notebook上に「3Dバーチャートレース」を作った話</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https://zenn.dev/hajimeteradio3/articles/c710f3020097ae</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AI時代のキャリア戦略　第8回 AIは知識を学習する。人間は人生を学習する。</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https://zenn.dev/jinfuroi/articles/f5ee4abc096810</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Web上で公開される生成AIチャットボット5社の回答速度を比較！</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https://zenn.dev/sapolas/articles/7e36aca3347e06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